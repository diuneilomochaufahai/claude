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9f66d12-c34e-8c1e-cf32-227f4c1b1044}">
          <p14:sldIdLst>
            <p14:sldId id="256"/>
          </p14:sldIdLst>
        </p14:section>
        <p14:section name="Time" id="{d0ec059e-5b69-565e-d27c-27dc9dbb4397}">
          <p14:sldIdLst>
            <p14:sldId id="257"/>
          </p14:sldIdLst>
        </p14:section>
        <p14:section name="Engineering" id="{83597e64-714b-aa77-8ae6-e6cfb0960d7b}">
          <p14:sldIdLst>
            <p14:sldId id="258"/>
            <p14:sldId id="259"/>
            <p14:sldId id="260"/>
            <p14:sldId id="261"/>
          </p14:sldIdLst>
        </p14:section>
        <p14:section name="Experience" id="{d86e11e2-2762-b02e-6da9-63d1386036dd}">
          <p14:sldIdLst>
            <p14:sldId id="262"/>
          </p14:sldIdLst>
        </p14:section>
        <p14:section name="Business" id="{2650c9e5-d9d4-6782-f09f-bb68e99310e4}">
          <p14:sldIdLst>
            <p14:sldId id="263"/>
            <p14:sldId id="264"/>
          </p14:sldIdLst>
        </p14:section>
        <p14:section name="History" id="{7ad5f970-15ee-fe46-98a2-c830cc66087c}">
          <p14:sldIdLst>
            <p14:sldId id="265"/>
            <p14:sldId id="266"/>
            <p14:sldId id="267"/>
            <p14:sldId id="268"/>
            <p14:sldId id="269"/>
          </p14:sldIdLst>
        </p14:section>
        <p14:section name="Closing" id="{ba6cbec0-36a3-9c84-9a5e-3bdf6c9f3041}">
          <p14:sldIdLst>
            <p14:sldId id="270"/>
          </p14:sldIdLst>
        </p14:section>
        <p14:section name="Backup" id="{088f91ca-f07d-0d64-d78f-71e54ba26b91}">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Constellation
Suggested timing: 0:00–0:20
If a long journey were something worth looking forward to in itself, what kind of aircraft would you choose? Today I'd like to introduce the Lockheed Constellation, known to everyone as Connie. We'll start with what passengers feel most directly, time, and then look more closely at the engineering behind it, the business deployment, and the history.
Delivery cue: pause for two seconds at the opening, then reveal Connie.
Diagram point: the value of the aircraft is that it makes a long journey something to look forward to.
Sources (checked 2026-10-05): none on this slide.
Image credit: TWA Super Constellation photo carried over from the original deck; diagrams are editable native slide objects.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Coast to coast: a day and a half, then eight hours
Suggested timing: 0:20–0:52
These two bars represent TWA service in two different eras. In 1930, crossing the United States took thirty-six hours, including an overnight stop in Kansas City. By 1953, the Super Constellation's eastbound nonstop from Los Angeles to New York took just eight hours. Think of it as a journey of a day and a half shrinking to roughly a working day. This is a comparison of route services from different eras; the time saved also reflects nonstop scheduling and operational progress.
Delivery cue: point to the long bar first, then the short one. Both bars share the same zero; don't attribute the whole improvement to aircraft speed.
Diagram point: fitting a long journey inside a single day changes how passengers feel about distance.
Sources (checked 2026-10-05):
https://twamuseum.org/history
Image credit: none; the diagram is an editable native slide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Four engines: how much power together?
Suggested timing: 0:52–1:22
So how does this aircraft family manage long-haul flight? Look at these four circles; each represents one engine. Taking the later Lufthansa Super Star as the example, each Wright R-3350 produced about three thousand four hundred horsepower. Four together make about thirteen thousand six hundred. Each is an eighteen-cylinder, twin-row radial. That much power pushed propeller-airliner performance very high, and it also brought complex maintenance demands.
Delivery cue: point to the four engines one by one, then to the total. The slide specifies the L-1649A; don't apply the figure to every early Connie.
Diagram point: about 3,400 hp each, about 13,600 hp in total.
Sources (checked 2026-10-05):
https://www.lufthansa.com/ba/en/100-years/fleet
https://www.f35.com/en-us/news/features/history/constellation.html
Image credit: none; the diagram is an editable native slide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One minute, about eight kilometres
Suggested timing: 1:22–1:48
Four hundred and eighty to five hundred kilometres an hour still sounds a bit abstract. Try it another way: in the time it takes you to say about a minute's worth of words, the aircraft has moved roughly eight kilometres through the air. This is a still-air illustration converted from cruise speed. Top speed and cruise speed are two different things, so we won't treat the fastest number as a speed held for the whole flight.
Delivery cue: each segment in the diagram is one kilometre; the speaker only stresses "about eight kilometres a minute".
Diagram point: converting cruise speed into distance per minute makes it tangible.
Sources (checked 2026-10-05):
https://www.lufthansa.com/ba/en/100-years/fleet
Image credit: none; the diagram is an editable native slide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One wingspan is longer than the first flight
Suggested timing: 1:48–2:18
Now look at this comparison. The Wright brothers' first successful flight in 1903 covered one hundred and twenty feet. This Super Constellation example has a full wingspan of one hundred and twenty-three feet. Both lines are drawn at the same scale, and they differ by only three feet. The entire distance of humanity's first flight later became roughly the width of one airliner, wingtip to wingtip. That is the scale of aviation's progress in a few decades.
Delivery cue: always say "full wingspan"; the two scale lines differ by only 2.5 percent, so don't exaggerate the gap.
Diagram point: full wingspan of 123 ft, slightly longer than the 120 ft of the 1903 first flight.
Sources (checked 2026-10-05):
https://www.superconstellation.ch/index.php/en/flugzeuge-en/l-1049-hb-rsc-en/technische-daten-en
https://www.nps.gov/places/000/first-flight-landing.htm
Image credit: none; the diagram is an editable native slide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Behind the comfort, an engineering system
Suggested timing: 2:18–2:50
Flying far also means sitting comfortably. The pressurization system keeps the high-altitude cabin at a more suitable pressure, and together with a higher cruising altitude it helps avoid some of the weather found lower down. On the other side, hydraulic boost amplifies the pilot's control inputs, making a large aircraft easier to handle. Pressurization does not mean no turbulence, and this was not the first pressurized airliner. Connie's appeal was in integrating these technologies into a long-haul travel experience.
Delivery cue: the left panel is about passengers, the right panel about pilots. The pressure diagram is a schematic, not actual cabin pressure values.
Diagram point: pressurization looks after passengers; hydraulic boost helps pilots control a large aircraft.
Sources (checked 2026-10-05):
https://www.f35.com/en-us/news/features/history/constellation.html
https://www.si.edu/object/lockheed-1049f-55-96-constellation%3Anasm_A19880371000
https://www.sfomuseum.org/exhibitions/queen-skies-legacy-lockheed-constellation
Image credit: none; the diagram is an editable native slide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One more thing… the journey itself is something to look forward to
Suggested timing: 2:50–3:26
But there's one more thing. The best part of the experience waits until you step into the cabin. Take a Lufthansa Super Star transatlantic trip as an example: the flight could last up to seventeen hours. Some premium configurations offered a lounge and overnight sleeper berths, so you could dine, talk, and then rest. Imagine putting down your book, settling in for a night's sleep, and waking up to a different city. The long hours gain a different use.
Delivery cue: pause two seconds before pointing to the dine-talk-rest sequence. Service varied by airline and configuration; the diagram is a concept of the journey and does not invent meal or sleep durations.
Diagram point: some premium configurations turned a long night flight into time for rest and conversation.
Sources (checked 2026-10-05):
https://www.f35.com/en-us/news/features/history/constellation.html
https://www.lufthansa.com/ba/en/100-years/fleet
https://cdn0.scrvt.com/fcc1c913dc63063c259fa05200249ccd/0b731d3206c7515e/bf1389bccf84/The-history-of-Lufthansa-Technik.pdf
Image credit: https://www.f35.com/content/dam/lockheed-martin/eo/photo/historical-programs/constellation/constellation-interior.jpg.pc-adaptive.full.medium.jpg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What Hughes was buying was a head start
Suggested timing: 3:26–4:04
Now let's look at the business deployment behind it. In 1939, Howard Hughes asked for secret development and set a key condition. According to Lockheed's historical account, only after TWA had received thirty-five aircraft could Lockheed sell to other U.S. transcontinental airlines. The gate in the diagram represents that delivery threshold. Hughes wanted the new aircraft first, to establish the impression in passengers' minds first. We can call it a first-mover advantage; the clause had specific counterparties and conditions, and it was not a permanent monopoly.
Delivery cue: the 35 squares, one per aircraft, show the agreement threshold, not a claim that 35 were delivered before the war. The restriction applied to other transcontinental airlines.
Diagram point: the priority-delivery condition gave TWA a chance to launch the new product earlier.
Sources (checked 2026-10-05):
https://www.f35.com/en-us/news/features/history/constellation.html
Image credit: none; the diagram is an editable native slide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From secret development to postwar airline service
Suggested timing: 4:04–4:36
But business plans had to face history. From left to right: in 1939, Hughes pushed development forward; in 1941, the United States entered the war; in 1942 the military took over production, and the prototype first flew in 1943 as the C-69. Only in February 1946 did TWA begin transatlantic airline service with the Constellation. The middle stretch of this timeline explains why the product's commercial launch was far more winding than first imagined.
Delivery cue: follow the timeline left to right. The main axis is proportional to year; 1942 is noted within the wartime span.
Diagram point: 1939, 1941, 1943 and 1946 form a path rewritten by the war.
Sources (checked 2026-10-05):
https://www.f35.com/en-us/news/features/history/constellation.html
https://twamuseum.org/history
https://www.si.edu/object/lockheed-1049f-55-96-constellation%3Anasm_A19880371000
Image credit: none; the diagram is an editable native slide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Connie is a family that kept evolving
Suggested timing: 4:36–5:06
So when we talk about the Constellation, we have to be clear about models. The early L-049 entered airline service after the war. The L-1049 Super Constellation, in service from 1951, stretched the fuselage for more passengers and capability. The L-1649A Starliner of 1957 used a new wing to push ultra-long-range flying further. Lufthansa called it the Super Star. The horsepower and speed figures we discussed earlier are each labelled with the example they come from.
Delivery cue: the three nodes are representative models and years entering service, not a complete family tree of every sub-variant.
Diagram point: early airliner, stretched fuselage, longer range: the evolution of different models.
Sources (checked 2026-10-05):
https://www.si.edu/object/lockheed-1049f-55-96-constellation%3Anasm_A19880371000
https://www.lufthansa.com/ba/en/100-years/fleet
Image credit: https://www.f35.com/content/dam/lockheed-martin/eo/photo/historical-programs/constellation/constellation-in-flight-3.jpg.pc-adaptive.full.medium.jpg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856 aircraft: how big is that?
Suggested timing: 5:06–5:34
The whole family totalled eight hundred and fifty-six aircraft. You don't need to memorise the number; just look at this chart: each cell represents ten aircraft, eight full rows of one hundred, plus fifty-six. That includes both civil and military versions. The Starliner, the last development, had a run of forty-four, about five percent of the whole family. The proportion is a reminder that a successful family doesn't mean every generation gets an equally long market opportunity.
Delivery cue: the final partial cell represents exactly 6 aircraft; the Starliner share is 44 ÷ 856, about 5.1%.
Diagram point: eight groups of one hundred plus fifty-six; the late Starliner is only about 5% of it.
Sources (checked 2026-10-05):
https://www.superconstellation.ch/index.php/en/flugzeuge-en/l-1049-hb-rsc-en/171-geschichte-l-1049-en
Image credit: none; the diagram is an editable native slide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One family, several roles in history
Suggested timing: 5:34–6:06
The family's influence also went beyond airline service. Orville Wright's last flight, in 1944, was aboard a Constellation. In 1953, Eisenhower's Columbine II used the Air Force One call sign. The EC-121 derivative carried radar for airborne early-warning missions. Different configurations answered different needs, writing one design family into several chapters of history.
Delivery cue: the three branches represent roles, not three functions fitted to the same aircraft at once.
Diagram point: passengers, a president and the military used different derivatives of the same family.
Sources (checked 2026-10-05):
https://www.f35.com/en-us/news/features/history/constellation.html
https://www.airmanmagazine.af.mil/Features/Display/Article/2592502/original-air-force-one/
https://www.nationalmuseum.af.mil/Visit/Museum-Exhibits/Fact-Sheets/Display/Article/196058/lockheed-ec-121d-constellation/
Image credit: none; the diagram is an editable native slide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The next era arrived quickly
Suggested timing: 6:06–6:36
But by the end of the 1950s, another era had already arrived. Comparing Lufthansa's historical data: the Super Star cruised at about four hundred and eighty to five hundred kilometres an hour, while the Boeing 707 cruised at eight hundred and eighty to nine hundred. The two bars use the same scale, and the speed roughly doubles. The Super Star joined Lufthansa in 1957; by 1960 Lufthansa had entered the 707 jet age. Technology and passenger expectations kept moving forward, and the classic had to face the next generation.
Delivery cue: the solid bands show cruise ranges; don't pair the extremes to inflate the ratio. This compares speed; don't present it directly as flight times halving.
Diagram point: the jet's speed advantage squeezed the last Connie's market window.
Sources (checked 2026-10-05):
https://www.lufthansa.com/ba/en/100-years/fleet
Image credit: none; the diagram is an editable native slide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€150 million: the real cost of preserving a legend
Suggested timing: 6:36–7:12
Let's come closer to the present. In 2007, a Lufthansa-affiliated organisation bought the airframe and began a programme to preserve the Super Star. In 2018, the return-to-flight project was halted; in 2019 the aircraft was shipped back to Germany. Reports quoting Lufthansa's CEO put the total cost for that period at one hundred and fifty million euros, including external donations and sponsorship. In 2025, Lufthansa announced the completion of a non-airworthy restoration. The figure represents the investment in preserving history, and it also tells how a dream had to adjust its goal.
Delivery cue: €150m covers only the 2007–2019 project cost; don't extend it to a 2025 total, and it is not the aircraft's market valuation.
Diagram point: the restoration investment was huge, but the original goal of returning to the sky was finally changed to display.
Sources (checked 2026-10-05):
https://www.aerotelegraph.com/galerie/gescheiterte-restaurierung-kostete-150-millionen/5c3fy6k
https://newsroom.lufthansagroup.com/en/lufthansa-celebrates-roll-out-of-the-legendary-lockheed-super-star/
Image credit: none; the diagram is an editable native slide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What kind of journey would you choose?
Suggested timing: 7:12–7:37
Back to the opening question: what kind of aircraft would you choose? Connie shows us that technology can change how long a journey takes, that design can make the journey something to look forward to, and that an aircraft's story can outlast its commercial life. If we could go back to that era, I'd invite you to board Connie and experience it for yourself. Thank you.
Delivery cue: the three threads converge here. Say thank you only on this slide.
Diagram point: design, experience and history together explain why Connie is worth remembering.
Sources (checked 2026-10-05): none on this slide.
Image credit: none; diagrams are editable native slide objects.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backup; not counted in the main talk time.
https://www.lufthansa.com/ba/en/100-years/fleet
https://www.superconstellation.ch/index.php/en/flugzeuge-en/l-1049-hb-rsc-en/technische-daten-en
The speed slide uses the L-1649A; the wingspan slide uses HB-RSC. The two are not treated as the same aircraft.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backup; not counted in the main talk time.
https://www.sfomuseum.org/exhibitions/queen-skies-legacy-lockheed-constellation
https://www.f35.com/en-us/news/features/history/constellation.html
https://www.superconstellation.ch/index.php/en/flugzeuge-en/l-1049-hb-rsc-en/technische-daten-en
https://www.aerotelegraph.com/galerie/gescheiterte-restaurierung-kostete-150-millionen/5c3fy6k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https://www.lufthansa.com/ba/en/100-years/fleet
https://www.f35.com/en-us/news/features/history/constellation.html
https://twamuseum.org/history
https://www.superconstellation.ch/index.php/en/flugzeuge-en/l-1049-hb-rsc-en/technische-daten-en
https://www.superconstellation.ch/index.php/en/flugzeuge-en/l-1049-hb-rsc-en/171-geschichte-l-1049-en
https://www.sfomuseum.org/exhibitions/queen-skies-legacy-lockheed-constellation
https://www.nps.gov/places/000/first-flight-landing.htm
https://www.si.edu/object/lockheed-1049f-55-96-constellation%3Anasm_A19880371000
https://www.airmanmagazine.af.mil/Features/Display/Article/2592502/original-air-force-one/
https://www.nationalmuseum.af.mil/Visit/Museum-Exhibits/Fact-Sheets/Display/Article/196058/lockheed-ec-121d-constellation/
https://newsroom.lufthansagroup.com/en/lufthansa-celebrates-roll-out-of-the-legendary-lockheed-super-star/
https://www.aerotelegraph.com/galerie/gescheiterte-restaurierung-kostete-150-millionen/5c3fy6k
https://cdn0.scrvt.com/fcc1c913dc63063c259fa05200249ccd/0b731d3206c7515e/bf1389bccf84/The-history-of-Lufthansa-Technik.pdf
https://www.f35.com/content/dam/lockheed-martin/eo/photo/historical-programs/constellation/constellation-interior.jpg.pc-adaptive.full.medium.jpg
https://www.f35.com/content/dam/lockheed-martin/eo/photo/historical-programs/constellation/constellation-in-flight-3.jpg.pc-adaptive.full.medium.jpg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75488"/>
            <a:ext cx="10728655" cy="731520"/>
          </a:xfrm>
          <a:prstGeom prst="rect">
            <a:avLst/>
          </a:prstGeom>
          <a:noFill/>
          <a:ln/>
        </p:spPr>
        <p:txBody>
          <a:bodyPr wrap="square" rtlCol="0"/>
          <a:lstStyle>
            <a:lvl1pPr algn="ctr" indent="0" marL="0">
              <a:buNone/>
              <a:defRPr lang="en-US" sz="3600" b="1" dirty="0">
                <a:solidFill>
                  <a:schemeClr val="tx1"/>
                </a:solidFill>
              </a:defRPr>
            </a:lvl1pPr>
          </a:lstStyle>
          <a:p>
            <a:pPr algn="ctr" indent="0" marL="0">
              <a:buNone/>
            </a:pPr>
            <a:endParaRPr lang="en-US" sz="3600" dirty="0"/>
          </a:p>
        </p:txBody>
      </p:sp>
      <p:sp>
        <p:nvSpPr>
          <p:cNvPr id="3" name="Text 0"/>
          <p:cNvSpPr/>
          <p:nvPr>
            <p:ph idx="101" type="body" hasCustomPrompt="1"/>
          </p:nvPr>
        </p:nvSpPr>
        <p:spPr>
          <a:xfrm>
            <a:off x="1280160" y="1225296"/>
            <a:ext cx="9631375" cy="411480"/>
          </a:xfrm>
          <a:prstGeom prst="rect">
            <a:avLst/>
          </a:prstGeom>
          <a:noFill/>
          <a:ln/>
        </p:spPr>
        <p:txBody>
          <a:bodyPr wrap="square" rtlCol="0"/>
          <a:lstStyle>
            <a:lvl1pPr algn="ctr" indent="0" marL="0">
              <a:buNone/>
              <a:defRPr lang="en-US" sz="1800" dirty="0">
                <a:solidFill>
                  <a:schemeClr val="tx2"/>
                </a:solidFill>
              </a:defRPr>
            </a:lvl1pPr>
          </a:lstStyle>
          <a:p>
            <a:pPr algn="ctr" indent="0" marL="0">
              <a:buNone/>
            </a:pPr>
            <a:endParaRPr lang="en-US" sz="1800" dirty="0"/>
          </a:p>
        </p:txBody>
      </p:sp>
      <p:sp>
        <p:nvSpPr>
          <p:cNvPr id="4" name="Text 0"/>
          <p:cNvSpPr/>
          <p:nvPr>
            <p:ph idx="102" type="body" hasCustomPrompt="1"/>
          </p:nvPr>
        </p:nvSpPr>
        <p:spPr>
          <a:xfrm>
            <a:off x="1280160" y="5413248"/>
            <a:ext cx="9631375" cy="457200"/>
          </a:xfrm>
          <a:prstGeom prst="rect">
            <a:avLst/>
          </a:prstGeom>
          <a:noFill/>
          <a:ln/>
        </p:spPr>
        <p:txBody>
          <a:bodyPr wrap="square" rtlCol="0"/>
          <a:lstStyle>
            <a:lvl1pPr algn="ctr" indent="0" marL="0">
              <a:buNone/>
              <a:defRPr lang="en-US" sz="2000" dirty="0">
                <a:solidFill>
                  <a:schemeClr val="tx1"/>
                </a:solidFill>
              </a:defRPr>
            </a:lvl1pPr>
          </a:lstStyle>
          <a:p>
            <a:pPr algn="ctr" indent="0" marL="0">
              <a:buNone/>
            </a:pPr>
            <a:endParaRPr lang="en-US" sz="2000" dirty="0"/>
          </a:p>
        </p:txBody>
      </p:sp>
      <p:sp>
        <p:nvSpPr>
          <p:cNvPr id="5" name="Text 0"/>
          <p:cNvSpPr/>
          <p:nvPr>
            <p:ph idx="103" type="body" hasCustomPrompt="1"/>
          </p:nvPr>
        </p:nvSpPr>
        <p:spPr>
          <a:xfrm>
            <a:off x="1280160" y="5961888"/>
            <a:ext cx="9631375" cy="502920"/>
          </a:xfrm>
          <a:prstGeom prst="rect">
            <a:avLst/>
          </a:prstGeom>
          <a:noFill/>
          <a:ln/>
        </p:spPr>
        <p:txBody>
          <a:bodyPr wrap="square" rtlCol="0"/>
          <a:lstStyle>
            <a:lvl1pPr algn="ctr" indent="0" marL="0">
              <a:buNone/>
              <a:defRPr lang="en-US" sz="1100" dirty="0">
                <a:solidFill>
                  <a:schemeClr val="tx2"/>
                </a:solidFill>
              </a:defRPr>
            </a:lvl1pPr>
          </a:lstStyle>
          <a:p>
            <a:pPr algn="ctr" indent="0" marL="0">
              <a:buNone/>
            </a:pPr>
            <a:endParaRPr lang="en-US" sz="1100" dirty="0"/>
          </a:p>
        </p:txBody>
      </p:sp>
      <p:sp>
        <p:nvSpPr>
          <p:cNvPr id="25" name="Slide Number Placeholder 0"/>
          <p:cNvSpPr>
            <a:spLocks noGrp="1"/>
          </p:cNvSpPr>
          <p:nvPr>
            <p:ph type="sldNum" sz="quarter" idx="4294967295"/>
          </p:nvPr>
        </p:nvSpPr>
        <p:spPr>
          <a:xfrm>
            <a:off x="1127455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36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ACKUP">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75488"/>
            <a:ext cx="10728655" cy="731520"/>
          </a:xfrm>
          <a:prstGeom prst="rect">
            <a:avLst/>
          </a:prstGeom>
          <a:noFill/>
          <a:ln/>
        </p:spPr>
        <p:txBody>
          <a:bodyPr wrap="square" rtlCol="0"/>
          <a:lstStyle>
            <a:lvl1pPr algn="ctr" indent="0" marL="0">
              <a:buNone/>
              <a:defRPr lang="en-US" sz="3600" b="1" dirty="0">
                <a:solidFill>
                  <a:schemeClr val="tx1"/>
                </a:solidFill>
              </a:defRPr>
            </a:lvl1pPr>
          </a:lstStyle>
          <a:p>
            <a:pPr algn="ctr" indent="0" marL="0">
              <a:buNone/>
            </a:pPr>
            <a:endParaRPr lang="en-US" sz="3600" dirty="0"/>
          </a:p>
        </p:txBody>
      </p:sp>
      <p:sp>
        <p:nvSpPr>
          <p:cNvPr id="3" name="Text 0"/>
          <p:cNvSpPr/>
          <p:nvPr>
            <p:ph idx="101" type="body" hasCustomPrompt="1"/>
          </p:nvPr>
        </p:nvSpPr>
        <p:spPr>
          <a:xfrm>
            <a:off x="1280160" y="1225296"/>
            <a:ext cx="9631375" cy="411480"/>
          </a:xfrm>
          <a:prstGeom prst="rect">
            <a:avLst/>
          </a:prstGeom>
          <a:noFill/>
          <a:ln/>
        </p:spPr>
        <p:txBody>
          <a:bodyPr wrap="square" rtlCol="0"/>
          <a:lstStyle>
            <a:lvl1pPr algn="ctr" indent="0" marL="0">
              <a:buNone/>
              <a:defRPr lang="en-US" sz="1800" dirty="0">
                <a:solidFill>
                  <a:schemeClr val="tx2"/>
                </a:solidFill>
              </a:defRPr>
            </a:lvl1pPr>
          </a:lstStyle>
          <a:p>
            <a:pPr algn="ctr" indent="0" marL="0">
              <a:buNone/>
            </a:pPr>
            <a:endParaRPr lang="en-US" sz="1800" dirty="0"/>
          </a:p>
        </p:txBody>
      </p:sp>
      <p:sp>
        <p:nvSpPr>
          <p:cNvPr id="4" name="Text 0"/>
          <p:cNvSpPr/>
          <p:nvPr>
            <p:ph idx="102" type="body" hasCustomPrompt="1"/>
          </p:nvPr>
        </p:nvSpPr>
        <p:spPr>
          <a:xfrm>
            <a:off x="1280160" y="5961888"/>
            <a:ext cx="9631375" cy="502920"/>
          </a:xfrm>
          <a:prstGeom prst="rect">
            <a:avLst/>
          </a:prstGeom>
          <a:noFill/>
          <a:ln/>
        </p:spPr>
        <p:txBody>
          <a:bodyPr wrap="square" rtlCol="0"/>
          <a:lstStyle>
            <a:lvl1pPr algn="ctr" indent="0" marL="0">
              <a:buNone/>
              <a:defRPr lang="en-US" sz="1100" dirty="0">
                <a:solidFill>
                  <a:schemeClr val="tx2"/>
                </a:solidFill>
              </a:defRPr>
            </a:lvl1pPr>
          </a:lstStyle>
          <a:p>
            <a:pPr algn="ctr" indent="0" marL="0">
              <a:buNone/>
            </a:pPr>
            <a:endParaRPr lang="en-US" sz="1100" dirty="0"/>
          </a:p>
        </p:txBody>
      </p:sp>
      <p:sp>
        <p:nvSpPr>
          <p:cNvPr id="25" name="Slide Number Placeholder 0"/>
          <p:cNvSpPr>
            <a:spLocks noGrp="1"/>
          </p:cNvSpPr>
          <p:nvPr>
            <p:ph type="sldNum" sz="quarter" idx="4294967295"/>
          </p:nvPr>
        </p:nvSpPr>
        <p:spPr>
          <a:xfrm>
            <a:off x="1127455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36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
    <p:bg>
      <p:bgPr>
        <a:solidFill>
          <a:srgbClr val="00000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36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36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4.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4.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1"/>
          <p:cNvSpPr txBox="1"/>
          <p:nvPr/>
        </p:nvSpPr>
        <p:spPr>
          <a:xfrm>
            <a:off x="822960" y="868680"/>
            <a:ext cx="5486400" cy="274320"/>
          </a:xfrm>
          <a:prstGeom prst="rect">
            <a:avLst/>
          </a:prstGeom>
          <a:noFill/>
          <a:ln/>
        </p:spPr>
        <p:txBody>
          <a:bodyPr wrap="square" lIns="0" tIns="0" rIns="0" bIns="0" rtlCol="0" anchor="ctr"/>
          <a:lstStyle/>
          <a:p>
            <a:pPr algn="l" indent="0" marL="0">
              <a:buNone/>
            </a:pPr>
            <a:r>
              <a:rPr lang="en-US" sz="1100" b="1" spc="300" kern="0" dirty="0">
                <a:solidFill>
                  <a:schemeClr val="accent1"/>
                </a:solidFill>
              </a:rPr>
              <a:t>LOCKHEED CONSTELLATION</a:t>
            </a:r>
            <a:endParaRPr lang="en-US" sz="1100" dirty="0"/>
          </a:p>
        </p:txBody>
      </p:sp>
      <p:sp>
        <p:nvSpPr>
          <p:cNvPr id="3" name="Text 2"/>
          <p:cNvSpPr txBox="1"/>
          <p:nvPr/>
        </p:nvSpPr>
        <p:spPr>
          <a:xfrm>
            <a:off x="822960" y="1234440"/>
            <a:ext cx="9326880" cy="1554480"/>
          </a:xfrm>
          <a:prstGeom prst="rect">
            <a:avLst/>
          </a:prstGeom>
          <a:noFill/>
          <a:ln/>
        </p:spPr>
        <p:txBody>
          <a:bodyPr wrap="square" lIns="0" tIns="0" rIns="0" bIns="0" rtlCol="0" anchor="t"/>
          <a:lstStyle/>
          <a:p>
            <a:pPr indent="0" marL="0">
              <a:lnSpc>
                <a:spcPct val="100000"/>
              </a:lnSpc>
              <a:buNone/>
            </a:pPr>
            <a:r>
              <a:rPr lang="en-US" sz="4600" b="1" spc="-150" kern="0" dirty="0">
                <a:solidFill>
                  <a:schemeClr val="tx1"/>
                </a:solidFill>
              </a:rPr>
              <a:t>Making the long journey</a:t>
            </a:r>
            <a:endParaRPr lang="en-US" sz="4600" dirty="0"/>
          </a:p>
          <a:p>
            <a:pPr indent="0" marL="0">
              <a:lnSpc>
                <a:spcPct val="100000"/>
              </a:lnSpc>
              <a:buNone/>
            </a:pPr>
            <a:r>
              <a:rPr lang="en-US" sz="4600" b="1" spc="-150" kern="0" dirty="0">
                <a:solidFill>
                  <a:schemeClr val="tx1"/>
                </a:solidFill>
              </a:rPr>
              <a:t>something to look forward to</a:t>
            </a:r>
            <a:endParaRPr lang="en-US" sz="4600" dirty="0"/>
          </a:p>
        </p:txBody>
      </p:sp>
      <p:sp>
        <p:nvSpPr>
          <p:cNvPr id="4" name="Text 3"/>
          <p:cNvSpPr txBox="1"/>
          <p:nvPr/>
        </p:nvSpPr>
        <p:spPr>
          <a:xfrm>
            <a:off x="822960" y="2880360"/>
            <a:ext cx="7315200" cy="411480"/>
          </a:xfrm>
          <a:prstGeom prst="rect">
            <a:avLst/>
          </a:prstGeom>
          <a:noFill/>
          <a:ln/>
        </p:spPr>
        <p:txBody>
          <a:bodyPr wrap="square" lIns="0" tIns="0" rIns="0" bIns="0" rtlCol="0" anchor="t"/>
          <a:lstStyle/>
          <a:p>
            <a:pPr indent="0" marL="0">
              <a:buNone/>
            </a:pPr>
            <a:r>
              <a:rPr lang="en-US" sz="2000" dirty="0">
                <a:solidFill>
                  <a:schemeClr val="tx2"/>
                </a:solidFill>
              </a:rPr>
              <a:t>Engineering, business and aviation history</a:t>
            </a:r>
            <a:endParaRPr lang="en-US" sz="2000" dirty="0"/>
          </a:p>
        </p:txBody>
      </p:sp>
      <p:sp>
        <p:nvSpPr>
          <p:cNvPr id="25" name="Slide Number Placeholder 0"/>
          <p:cNvSpPr>
            <a:spLocks noGrp="1"/>
          </p:cNvSpPr>
          <p:nvPr>
            <p:ph type="sldNum" sz="quarter" idx="4294967295"/>
          </p:nvPr>
        </p:nvSpPr>
        <p:spPr>
          <a:xfrm>
            <a:off x="1127455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366"/>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731520" y="475488"/>
            <a:ext cx="10728655" cy="731520"/>
          </a:xfrm>
          <a:prstGeom prst="rect">
            <a:avLst/>
          </a:prstGeom>
          <a:noFill/>
          <a:ln/>
        </p:spPr>
        <p:txBody>
          <a:bodyPr wrap="square" lIns="0" tIns="0" rIns="0" bIns="0" rtlCol="0" anchor="ctr"/>
          <a:lstStyle/>
          <a:p>
            <a:pPr algn="ctr" indent="0" marL="0">
              <a:buNone/>
            </a:pPr>
            <a:r>
              <a:rPr lang="en-US" sz="3600" b="1" spc="-100" kern="0" dirty="0">
                <a:solidFill>
                  <a:schemeClr val="tx1"/>
                </a:solidFill>
              </a:rPr>
              <a:t>Coast to coast: a day and a half, then eight hours</a:t>
            </a:r>
            <a:endParaRPr lang="en-US" sz="3600" dirty="0"/>
          </a:p>
        </p:txBody>
      </p:sp>
      <p:sp>
        <p:nvSpPr>
          <p:cNvPr id="3" name="Text 0"/>
          <p:cNvSpPr/>
          <p:nvPr>
            <p:ph idx="101" type="body" hasCustomPrompt="1"/>
          </p:nvPr>
        </p:nvSpPr>
        <p:spPr>
          <a:xfrm>
            <a:off x="1280160" y="1225296"/>
            <a:ext cx="9631375" cy="411480"/>
          </a:xfrm>
          <a:prstGeom prst="rect">
            <a:avLst/>
          </a:prstGeom>
          <a:noFill/>
          <a:ln/>
        </p:spPr>
        <p:txBody>
          <a:bodyPr wrap="square" lIns="0" tIns="0" rIns="0" bIns="0" rtlCol="0" anchor="t"/>
          <a:lstStyle/>
          <a:p>
            <a:pPr algn="ctr" indent="0" marL="0">
              <a:buNone/>
            </a:pPr>
            <a:r>
              <a:rPr lang="en-US" sz="1800" dirty="0">
                <a:solidFill>
                  <a:schemeClr val="tx2"/>
                </a:solidFill>
              </a:rPr>
              <a:t>Two eras of TWA service on one time scale</a:t>
            </a:r>
            <a:endParaRPr lang="en-US" sz="1800" dirty="0"/>
          </a:p>
        </p:txBody>
      </p:sp>
      <p:sp>
        <p:nvSpPr>
          <p:cNvPr id="4" name="Text 0"/>
          <p:cNvSpPr/>
          <p:nvPr>
            <p:ph idx="102" type="body" hasCustomPrompt="1"/>
          </p:nvPr>
        </p:nvSpPr>
        <p:spPr>
          <a:xfrm>
            <a:off x="1280160" y="5413248"/>
            <a:ext cx="9631375" cy="457200"/>
          </a:xfrm>
          <a:prstGeom prst="rect">
            <a:avLst/>
          </a:prstGeom>
          <a:noFill/>
          <a:ln/>
        </p:spPr>
        <p:txBody>
          <a:bodyPr wrap="square" lIns="0" tIns="0" rIns="0" bIns="0" rtlCol="0" anchor="ctr"/>
          <a:lstStyle/>
          <a:p>
            <a:pPr algn="ctr" indent="0" marL="0">
              <a:buNone/>
            </a:pPr>
            <a:r>
              <a:rPr lang="en-US" sz="2000" dirty="0">
                <a:solidFill>
                  <a:schemeClr val="tx1"/>
                </a:solidFill>
              </a:rPr>
              <a:t>A journey of a day and a half shrinks to roughly a working day</a:t>
            </a:r>
            <a:endParaRPr lang="en-US" sz="2000" dirty="0"/>
          </a:p>
        </p:txBody>
      </p:sp>
      <p:sp>
        <p:nvSpPr>
          <p:cNvPr id="5" name="Text 0"/>
          <p:cNvSpPr/>
          <p:nvPr>
            <p:ph idx="103" type="body" hasCustomPrompt="1"/>
          </p:nvPr>
        </p:nvSpPr>
        <p:spPr>
          <a:xfrm>
            <a:off x="1280160" y="5961888"/>
            <a:ext cx="9631375" cy="502920"/>
          </a:xfrm>
          <a:prstGeom prst="rect">
            <a:avLst/>
          </a:prstGeom>
          <a:noFill/>
          <a:ln/>
        </p:spPr>
        <p:txBody>
          <a:bodyPr wrap="square" lIns="0" tIns="0" rIns="0" bIns="0" rtlCol="0" anchor="t"/>
          <a:lstStyle/>
          <a:p>
            <a:pPr algn="ctr" indent="0" marL="0">
              <a:buNone/>
            </a:pPr>
            <a:r>
              <a:rPr lang="en-US" sz="1100" dirty="0">
                <a:solidFill>
                  <a:schemeClr val="tx2"/>
                </a:solidFill>
              </a:rPr>
              <a:t>Source: TWA Museum. A comparison of route services from different eras, not a speed test of a single aircraft.</a:t>
            </a:r>
            <a:endParaRPr lang="en-US" sz="1100" dirty="0"/>
          </a:p>
        </p:txBody>
      </p:sp>
      <p:sp>
        <p:nvSpPr>
          <p:cNvPr id="7" name="Text 4"/>
          <p:cNvSpPr txBox="1"/>
          <p:nvPr/>
        </p:nvSpPr>
        <p:spPr>
          <a:xfrm>
            <a:off x="822960" y="2148840"/>
            <a:ext cx="1920240" cy="585216"/>
          </a:xfrm>
          <a:prstGeom prst="rect">
            <a:avLst/>
          </a:prstGeom>
          <a:noFill/>
          <a:ln/>
        </p:spPr>
        <p:txBody>
          <a:bodyPr wrap="square" lIns="0" tIns="0" rIns="0" bIns="0" rtlCol="0" anchor="ctr"/>
          <a:lstStyle/>
          <a:p>
            <a:pPr algn="r" indent="0" marL="0">
              <a:buNone/>
            </a:pPr>
            <a:r>
              <a:rPr lang="en-US" sz="3000" b="1" spc="-100" kern="0" dirty="0">
                <a:solidFill>
                  <a:schemeClr val="tx1"/>
                </a:solidFill>
              </a:rPr>
              <a:t>1930</a:t>
            </a:r>
            <a:endParaRPr lang="en-US" sz="3000" dirty="0"/>
          </a:p>
        </p:txBody>
      </p:sp>
      <p:sp>
        <p:nvSpPr>
          <p:cNvPr id="8" name="Rounded 5"/>
          <p:cNvSpPr/>
          <p:nvPr/>
        </p:nvSpPr>
        <p:spPr>
          <a:xfrm>
            <a:off x="2926080" y="2240280"/>
            <a:ext cx="6766560" cy="402336"/>
          </a:xfrm>
          <a:prstGeom prst="roundRect">
            <a:avLst>
              <a:gd name="adj" fmla="val 50000"/>
            </a:avLst>
          </a:prstGeom>
          <a:solidFill>
            <a:schemeClr val="accent2"/>
          </a:solidFill>
          <a:ln/>
        </p:spPr>
      </p:sp>
      <p:sp>
        <p:nvSpPr>
          <p:cNvPr id="9" name="Text 6"/>
          <p:cNvSpPr txBox="1"/>
          <p:nvPr/>
        </p:nvSpPr>
        <p:spPr>
          <a:xfrm>
            <a:off x="9893808" y="2194560"/>
            <a:ext cx="2377440" cy="493776"/>
          </a:xfrm>
          <a:prstGeom prst="rect">
            <a:avLst/>
          </a:prstGeom>
          <a:noFill/>
          <a:ln/>
        </p:spPr>
        <p:txBody>
          <a:bodyPr wrap="square" lIns="0" tIns="0" rIns="0" bIns="0" rtlCol="0" anchor="ctr"/>
          <a:lstStyle/>
          <a:p>
            <a:pPr indent="0" marL="0">
              <a:buNone/>
            </a:pPr>
            <a:r>
              <a:rPr lang="en-US" sz="2200" b="1" dirty="0">
                <a:solidFill>
                  <a:schemeClr val="tx1"/>
                </a:solidFill>
              </a:rPr>
              <a:t>36 hours</a:t>
            </a:r>
            <a:endParaRPr lang="en-US" sz="2200" dirty="0"/>
          </a:p>
        </p:txBody>
      </p:sp>
      <p:sp>
        <p:nvSpPr>
          <p:cNvPr id="10" name="Text 7"/>
          <p:cNvSpPr txBox="1"/>
          <p:nvPr/>
        </p:nvSpPr>
        <p:spPr>
          <a:xfrm>
            <a:off x="2926080" y="2788920"/>
            <a:ext cx="7772400" cy="320040"/>
          </a:xfrm>
          <a:prstGeom prst="rect">
            <a:avLst/>
          </a:prstGeom>
          <a:noFill/>
          <a:ln/>
        </p:spPr>
        <p:txBody>
          <a:bodyPr wrap="square" lIns="0" tIns="0" rIns="0" bIns="0" rtlCol="0" anchor="t"/>
          <a:lstStyle/>
          <a:p>
            <a:pPr indent="0" marL="0">
              <a:buNone/>
            </a:pPr>
            <a:r>
              <a:rPr lang="en-US" sz="1400" dirty="0">
                <a:solidFill>
                  <a:schemeClr val="tx2"/>
                </a:solidFill>
              </a:rPr>
              <a:t>Across the United States, with an overnight stop in Kansas City</a:t>
            </a:r>
            <a:endParaRPr lang="en-US" sz="1400" dirty="0"/>
          </a:p>
        </p:txBody>
      </p:sp>
      <p:sp>
        <p:nvSpPr>
          <p:cNvPr id="11" name="Text 8"/>
          <p:cNvSpPr txBox="1"/>
          <p:nvPr/>
        </p:nvSpPr>
        <p:spPr>
          <a:xfrm>
            <a:off x="822960" y="3566160"/>
            <a:ext cx="1920240" cy="585216"/>
          </a:xfrm>
          <a:prstGeom prst="rect">
            <a:avLst/>
          </a:prstGeom>
          <a:noFill/>
          <a:ln/>
        </p:spPr>
        <p:txBody>
          <a:bodyPr wrap="square" lIns="0" tIns="0" rIns="0" bIns="0" rtlCol="0" anchor="ctr"/>
          <a:lstStyle/>
          <a:p>
            <a:pPr algn="r" indent="0" marL="0">
              <a:buNone/>
            </a:pPr>
            <a:r>
              <a:rPr lang="en-US" sz="3000" b="1" spc="-100" kern="0" dirty="0">
                <a:solidFill>
                  <a:schemeClr val="tx1"/>
                </a:solidFill>
              </a:rPr>
              <a:t>1953</a:t>
            </a:r>
            <a:endParaRPr lang="en-US" sz="3000" dirty="0"/>
          </a:p>
        </p:txBody>
      </p:sp>
      <p:sp>
        <p:nvSpPr>
          <p:cNvPr id="12" name="Rounded 9"/>
          <p:cNvSpPr/>
          <p:nvPr/>
        </p:nvSpPr>
        <p:spPr>
          <a:xfrm>
            <a:off x="2926080" y="3657600"/>
            <a:ext cx="1503680" cy="402336"/>
          </a:xfrm>
          <a:prstGeom prst="roundRect">
            <a:avLst>
              <a:gd name="adj" fmla="val 50000"/>
            </a:avLst>
          </a:prstGeom>
          <a:solidFill>
            <a:schemeClr val="accent1"/>
          </a:solidFill>
          <a:ln/>
        </p:spPr>
      </p:sp>
      <p:sp>
        <p:nvSpPr>
          <p:cNvPr id="13" name="Text 10"/>
          <p:cNvSpPr txBox="1"/>
          <p:nvPr/>
        </p:nvSpPr>
        <p:spPr>
          <a:xfrm>
            <a:off x="4630928" y="3611880"/>
            <a:ext cx="2377440" cy="493776"/>
          </a:xfrm>
          <a:prstGeom prst="rect">
            <a:avLst/>
          </a:prstGeom>
          <a:noFill/>
          <a:ln/>
        </p:spPr>
        <p:txBody>
          <a:bodyPr wrap="square" lIns="0" tIns="0" rIns="0" bIns="0" rtlCol="0" anchor="ctr"/>
          <a:lstStyle/>
          <a:p>
            <a:pPr indent="0" marL="0">
              <a:buNone/>
            </a:pPr>
            <a:r>
              <a:rPr lang="en-US" sz="2200" b="1" dirty="0">
                <a:solidFill>
                  <a:schemeClr val="tx1"/>
                </a:solidFill>
              </a:rPr>
              <a:t>8 hours</a:t>
            </a:r>
            <a:endParaRPr lang="en-US" sz="2200" dirty="0"/>
          </a:p>
        </p:txBody>
      </p:sp>
      <p:sp>
        <p:nvSpPr>
          <p:cNvPr id="14" name="Text 11"/>
          <p:cNvSpPr txBox="1"/>
          <p:nvPr/>
        </p:nvSpPr>
        <p:spPr>
          <a:xfrm>
            <a:off x="2926080" y="4206240"/>
            <a:ext cx="7772400" cy="320040"/>
          </a:xfrm>
          <a:prstGeom prst="rect">
            <a:avLst/>
          </a:prstGeom>
          <a:noFill/>
          <a:ln/>
        </p:spPr>
        <p:txBody>
          <a:bodyPr wrap="square" lIns="0" tIns="0" rIns="0" bIns="0" rtlCol="0" anchor="t"/>
          <a:lstStyle/>
          <a:p>
            <a:pPr indent="0" marL="0">
              <a:buNone/>
            </a:pPr>
            <a:r>
              <a:rPr lang="en-US" sz="1400" dirty="0">
                <a:solidFill>
                  <a:schemeClr val="tx2"/>
                </a:solidFill>
              </a:rPr>
              <a:t>Los Angeles to New York, Super Constellation eastbound nonstop</a:t>
            </a:r>
            <a:endParaRPr lang="en-US" sz="1400" dirty="0"/>
          </a:p>
        </p:txBody>
      </p:sp>
      <p:sp>
        <p:nvSpPr>
          <p:cNvPr id="15" name="Line 12"/>
          <p:cNvSpPr/>
          <p:nvPr/>
        </p:nvSpPr>
        <p:spPr>
          <a:xfrm>
            <a:off x="2926080" y="4800600"/>
            <a:ext cx="6766560" cy="0"/>
          </a:xfrm>
          <a:prstGeom prst="line">
            <a:avLst/>
          </a:prstGeom>
          <a:noFill/>
          <a:ln w="9525">
            <a:solidFill>
              <a:schemeClr val="accent2"/>
            </a:solidFill>
            <a:prstDash val="solid"/>
          </a:ln>
        </p:spPr>
      </p:sp>
      <p:sp>
        <p:nvSpPr>
          <p:cNvPr id="16" name="Line 13"/>
          <p:cNvSpPr/>
          <p:nvPr/>
        </p:nvSpPr>
        <p:spPr>
          <a:xfrm>
            <a:off x="2926080" y="4745736"/>
            <a:ext cx="0" cy="109728"/>
          </a:xfrm>
          <a:prstGeom prst="line">
            <a:avLst/>
          </a:prstGeom>
          <a:noFill/>
          <a:ln w="9525">
            <a:solidFill>
              <a:schemeClr val="accent2"/>
            </a:solidFill>
            <a:prstDash val="solid"/>
          </a:ln>
        </p:spPr>
      </p:sp>
      <p:sp>
        <p:nvSpPr>
          <p:cNvPr id="17" name="Text 14"/>
          <p:cNvSpPr txBox="1"/>
          <p:nvPr/>
        </p:nvSpPr>
        <p:spPr>
          <a:xfrm>
            <a:off x="2560320" y="4910328"/>
            <a:ext cx="731520" cy="274320"/>
          </a:xfrm>
          <a:prstGeom prst="rect">
            <a:avLst/>
          </a:prstGeom>
          <a:noFill/>
          <a:ln/>
        </p:spPr>
        <p:txBody>
          <a:bodyPr wrap="square" lIns="0" tIns="0" rIns="0" bIns="0" rtlCol="0" anchor="ctr"/>
          <a:lstStyle/>
          <a:p>
            <a:pPr algn="ctr" indent="0" marL="0">
              <a:buNone/>
            </a:pPr>
            <a:r>
              <a:rPr lang="en-US" sz="1200" dirty="0">
                <a:solidFill>
                  <a:schemeClr val="tx2"/>
                </a:solidFill>
              </a:rPr>
              <a:t>0</a:t>
            </a:r>
            <a:endParaRPr lang="en-US" sz="1200" dirty="0"/>
          </a:p>
        </p:txBody>
      </p:sp>
      <p:sp>
        <p:nvSpPr>
          <p:cNvPr id="18" name="Line 15"/>
          <p:cNvSpPr/>
          <p:nvPr/>
        </p:nvSpPr>
        <p:spPr>
          <a:xfrm>
            <a:off x="4429760" y="4745736"/>
            <a:ext cx="0" cy="109728"/>
          </a:xfrm>
          <a:prstGeom prst="line">
            <a:avLst/>
          </a:prstGeom>
          <a:noFill/>
          <a:ln w="9525">
            <a:solidFill>
              <a:schemeClr val="accent2"/>
            </a:solidFill>
            <a:prstDash val="solid"/>
          </a:ln>
        </p:spPr>
      </p:sp>
      <p:sp>
        <p:nvSpPr>
          <p:cNvPr id="19" name="Text 16"/>
          <p:cNvSpPr txBox="1"/>
          <p:nvPr/>
        </p:nvSpPr>
        <p:spPr>
          <a:xfrm>
            <a:off x="4064000" y="4910328"/>
            <a:ext cx="731520" cy="274320"/>
          </a:xfrm>
          <a:prstGeom prst="rect">
            <a:avLst/>
          </a:prstGeom>
          <a:noFill/>
          <a:ln/>
        </p:spPr>
        <p:txBody>
          <a:bodyPr wrap="square" lIns="0" tIns="0" rIns="0" bIns="0" rtlCol="0" anchor="ctr"/>
          <a:lstStyle/>
          <a:p>
            <a:pPr algn="ctr" indent="0" marL="0">
              <a:buNone/>
            </a:pPr>
            <a:r>
              <a:rPr lang="en-US" sz="1200" dirty="0">
                <a:solidFill>
                  <a:schemeClr val="tx2"/>
                </a:solidFill>
              </a:rPr>
              <a:t>8</a:t>
            </a:r>
            <a:endParaRPr lang="en-US" sz="1200" dirty="0"/>
          </a:p>
        </p:txBody>
      </p:sp>
      <p:sp>
        <p:nvSpPr>
          <p:cNvPr id="20" name="Line 17"/>
          <p:cNvSpPr/>
          <p:nvPr/>
        </p:nvSpPr>
        <p:spPr>
          <a:xfrm>
            <a:off x="5933440" y="4745736"/>
            <a:ext cx="0" cy="109728"/>
          </a:xfrm>
          <a:prstGeom prst="line">
            <a:avLst/>
          </a:prstGeom>
          <a:noFill/>
          <a:ln w="9525">
            <a:solidFill>
              <a:schemeClr val="accent2"/>
            </a:solidFill>
            <a:prstDash val="solid"/>
          </a:ln>
        </p:spPr>
      </p:sp>
      <p:sp>
        <p:nvSpPr>
          <p:cNvPr id="21" name="Text 18"/>
          <p:cNvSpPr txBox="1"/>
          <p:nvPr/>
        </p:nvSpPr>
        <p:spPr>
          <a:xfrm>
            <a:off x="5567680" y="4910328"/>
            <a:ext cx="731520" cy="274320"/>
          </a:xfrm>
          <a:prstGeom prst="rect">
            <a:avLst/>
          </a:prstGeom>
          <a:noFill/>
          <a:ln/>
        </p:spPr>
        <p:txBody>
          <a:bodyPr wrap="square" lIns="0" tIns="0" rIns="0" bIns="0" rtlCol="0" anchor="ctr"/>
          <a:lstStyle/>
          <a:p>
            <a:pPr algn="ctr" indent="0" marL="0">
              <a:buNone/>
            </a:pPr>
            <a:r>
              <a:rPr lang="en-US" sz="1200" dirty="0">
                <a:solidFill>
                  <a:schemeClr val="tx2"/>
                </a:solidFill>
              </a:rPr>
              <a:t>16</a:t>
            </a:r>
            <a:endParaRPr lang="en-US" sz="1200" dirty="0"/>
          </a:p>
        </p:txBody>
      </p:sp>
      <p:sp>
        <p:nvSpPr>
          <p:cNvPr id="22" name="Line 19"/>
          <p:cNvSpPr/>
          <p:nvPr/>
        </p:nvSpPr>
        <p:spPr>
          <a:xfrm>
            <a:off x="7437120" y="4745736"/>
            <a:ext cx="0" cy="109728"/>
          </a:xfrm>
          <a:prstGeom prst="line">
            <a:avLst/>
          </a:prstGeom>
          <a:noFill/>
          <a:ln w="9525">
            <a:solidFill>
              <a:schemeClr val="accent2"/>
            </a:solidFill>
            <a:prstDash val="solid"/>
          </a:ln>
        </p:spPr>
      </p:sp>
      <p:sp>
        <p:nvSpPr>
          <p:cNvPr id="23" name="Text 20"/>
          <p:cNvSpPr txBox="1"/>
          <p:nvPr/>
        </p:nvSpPr>
        <p:spPr>
          <a:xfrm>
            <a:off x="7071360" y="4910328"/>
            <a:ext cx="731520" cy="274320"/>
          </a:xfrm>
          <a:prstGeom prst="rect">
            <a:avLst/>
          </a:prstGeom>
          <a:noFill/>
          <a:ln/>
        </p:spPr>
        <p:txBody>
          <a:bodyPr wrap="square" lIns="0" tIns="0" rIns="0" bIns="0" rtlCol="0" anchor="ctr"/>
          <a:lstStyle/>
          <a:p>
            <a:pPr algn="ctr" indent="0" marL="0">
              <a:buNone/>
            </a:pPr>
            <a:r>
              <a:rPr lang="en-US" sz="1200" dirty="0">
                <a:solidFill>
                  <a:schemeClr val="tx2"/>
                </a:solidFill>
              </a:rPr>
              <a:t>24</a:t>
            </a:r>
            <a:endParaRPr lang="en-US" sz="1200" dirty="0"/>
          </a:p>
        </p:txBody>
      </p:sp>
      <p:sp>
        <p:nvSpPr>
          <p:cNvPr id="24" name="Line 21"/>
          <p:cNvSpPr/>
          <p:nvPr/>
        </p:nvSpPr>
        <p:spPr>
          <a:xfrm>
            <a:off x="9692640" y="4745736"/>
            <a:ext cx="0" cy="109728"/>
          </a:xfrm>
          <a:prstGeom prst="line">
            <a:avLst/>
          </a:prstGeom>
          <a:noFill/>
          <a:ln w="9525">
            <a:solidFill>
              <a:schemeClr val="accent2"/>
            </a:solidFill>
            <a:prstDash val="solid"/>
          </a:ln>
        </p:spPr>
      </p:sp>
      <p:sp>
        <p:nvSpPr>
          <p:cNvPr id="25" name="Text 22"/>
          <p:cNvSpPr txBox="1"/>
          <p:nvPr/>
        </p:nvSpPr>
        <p:spPr>
          <a:xfrm>
            <a:off x="9326880" y="4910328"/>
            <a:ext cx="731520" cy="274320"/>
          </a:xfrm>
          <a:prstGeom prst="rect">
            <a:avLst/>
          </a:prstGeom>
          <a:noFill/>
          <a:ln/>
        </p:spPr>
        <p:txBody>
          <a:bodyPr wrap="square" lIns="0" tIns="0" rIns="0" bIns="0" rtlCol="0" anchor="ctr"/>
          <a:lstStyle/>
          <a:p>
            <a:pPr algn="ctr" indent="0" marL="0">
              <a:buNone/>
            </a:pPr>
            <a:r>
              <a:rPr lang="en-US" sz="1200" dirty="0">
                <a:solidFill>
                  <a:schemeClr val="tx2"/>
                </a:solidFill>
              </a:rPr>
              <a:t>36</a:t>
            </a:r>
            <a:endParaRPr lang="en-US" sz="1200" dirty="0"/>
          </a:p>
        </p:txBody>
      </p:sp>
      <p:sp>
        <p:nvSpPr>
          <p:cNvPr id="26" name="Text 23"/>
          <p:cNvSpPr txBox="1"/>
          <p:nvPr/>
        </p:nvSpPr>
        <p:spPr>
          <a:xfrm>
            <a:off x="9893808" y="4910328"/>
            <a:ext cx="914400" cy="274320"/>
          </a:xfrm>
          <a:prstGeom prst="rect">
            <a:avLst/>
          </a:prstGeom>
          <a:noFill/>
          <a:ln/>
        </p:spPr>
        <p:txBody>
          <a:bodyPr wrap="square" lIns="0" tIns="0" rIns="0" bIns="0" rtlCol="0" anchor="ctr"/>
          <a:lstStyle/>
          <a:p>
            <a:pPr indent="0" marL="0">
              <a:buNone/>
            </a:pPr>
            <a:r>
              <a:rPr lang="en-US" sz="1200" dirty="0">
                <a:solidFill>
                  <a:schemeClr val="tx2"/>
                </a:solidFill>
              </a:rPr>
              <a:t>hours</a:t>
            </a:r>
            <a:endParaRPr lang="en-US" sz="1200" dirty="0"/>
          </a:p>
        </p:txBody>
      </p:sp>
      <p:sp>
        <p:nvSpPr>
          <p:cNvPr id="25" name="Slide Number Placeholder 0"/>
          <p:cNvSpPr>
            <a:spLocks noGrp="1"/>
          </p:cNvSpPr>
          <p:nvPr>
            <p:ph type="sldNum" sz="quarter" idx="4294967295"/>
          </p:nvPr>
        </p:nvSpPr>
        <p:spPr>
          <a:xfrm>
            <a:off x="1127455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36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731520" y="475488"/>
            <a:ext cx="10728655" cy="731520"/>
          </a:xfrm>
          <a:prstGeom prst="rect">
            <a:avLst/>
          </a:prstGeom>
          <a:noFill/>
          <a:ln/>
        </p:spPr>
        <p:txBody>
          <a:bodyPr wrap="square" lIns="0" tIns="0" rIns="0" bIns="0" rtlCol="0" anchor="ctr"/>
          <a:lstStyle/>
          <a:p>
            <a:pPr algn="ctr" indent="0" marL="0">
              <a:buNone/>
            </a:pPr>
            <a:r>
              <a:rPr lang="en-US" sz="3600" b="1" spc="-100" kern="0" dirty="0">
                <a:solidFill>
                  <a:schemeClr val="tx1"/>
                </a:solidFill>
              </a:rPr>
              <a:t>Four engines, about 13,600 horsepower together</a:t>
            </a:r>
            <a:endParaRPr lang="en-US" sz="3600" dirty="0"/>
          </a:p>
        </p:txBody>
      </p:sp>
      <p:sp>
        <p:nvSpPr>
          <p:cNvPr id="3" name="Text 0"/>
          <p:cNvSpPr/>
          <p:nvPr>
            <p:ph idx="101" type="body" hasCustomPrompt="1"/>
          </p:nvPr>
        </p:nvSpPr>
        <p:spPr>
          <a:xfrm>
            <a:off x="1280160" y="1225296"/>
            <a:ext cx="9631375" cy="411480"/>
          </a:xfrm>
          <a:prstGeom prst="rect">
            <a:avLst/>
          </a:prstGeom>
          <a:noFill/>
          <a:ln/>
        </p:spPr>
        <p:txBody>
          <a:bodyPr wrap="square" lIns="0" tIns="0" rIns="0" bIns="0" rtlCol="0" anchor="t"/>
          <a:lstStyle/>
          <a:p>
            <a:pPr algn="ctr" indent="0" marL="0">
              <a:buNone/>
            </a:pPr>
            <a:r>
              <a:rPr lang="en-US" sz="1800" dirty="0">
                <a:solidFill>
                  <a:schemeClr val="tx2"/>
                </a:solidFill>
              </a:rPr>
              <a:t>L-1649A Super Star example, per Lufthansa historical data</a:t>
            </a:r>
            <a:endParaRPr lang="en-US" sz="1800" dirty="0"/>
          </a:p>
        </p:txBody>
      </p:sp>
      <p:sp>
        <p:nvSpPr>
          <p:cNvPr id="4" name="Text 0"/>
          <p:cNvSpPr/>
          <p:nvPr>
            <p:ph idx="102" type="body" hasCustomPrompt="1"/>
          </p:nvPr>
        </p:nvSpPr>
        <p:spPr>
          <a:xfrm>
            <a:off x="1280160" y="5413248"/>
            <a:ext cx="9631375" cy="457200"/>
          </a:xfrm>
          <a:prstGeom prst="rect">
            <a:avLst/>
          </a:prstGeom>
          <a:noFill/>
          <a:ln/>
        </p:spPr>
        <p:txBody>
          <a:bodyPr wrap="square" lIns="0" tIns="0" rIns="0" bIns="0" rtlCol="0" anchor="ctr"/>
          <a:lstStyle/>
          <a:p>
            <a:pPr algn="ctr" indent="0" marL="0">
              <a:buNone/>
            </a:pPr>
            <a:r>
              <a:rPr lang="en-US" sz="2000" dirty="0">
                <a:solidFill>
                  <a:schemeClr val="tx1"/>
                </a:solidFill>
              </a:rPr>
              <a:t>Eighteen cylinders each; that much power also demands complex maintenance</a:t>
            </a:r>
            <a:endParaRPr lang="en-US" sz="2000" dirty="0"/>
          </a:p>
        </p:txBody>
      </p:sp>
      <p:sp>
        <p:nvSpPr>
          <p:cNvPr id="5" name="Text 0"/>
          <p:cNvSpPr/>
          <p:nvPr>
            <p:ph idx="103" type="body" hasCustomPrompt="1"/>
          </p:nvPr>
        </p:nvSpPr>
        <p:spPr>
          <a:xfrm>
            <a:off x="1280160" y="5961888"/>
            <a:ext cx="9631375" cy="502920"/>
          </a:xfrm>
          <a:prstGeom prst="rect">
            <a:avLst/>
          </a:prstGeom>
          <a:noFill/>
          <a:ln/>
        </p:spPr>
        <p:txBody>
          <a:bodyPr wrap="square" lIns="0" tIns="0" rIns="0" bIns="0" rtlCol="0" anchor="t"/>
          <a:lstStyle/>
          <a:p>
            <a:pPr algn="ctr" indent="0" marL="0">
              <a:buNone/>
            </a:pPr>
            <a:r>
              <a:rPr lang="en-US" sz="1100" dirty="0">
                <a:solidFill>
                  <a:schemeClr val="tx2"/>
                </a:solidFill>
              </a:rPr>
              <a:t>3,400 × 4 = 13,600 hp. Figures vary by model and engine configuration; not a specification shared across the whole family.</a:t>
            </a:r>
            <a:endParaRPr lang="en-US" sz="1100" dirty="0"/>
          </a:p>
        </p:txBody>
      </p:sp>
      <p:sp>
        <p:nvSpPr>
          <p:cNvPr id="7" name="Text 24"/>
          <p:cNvSpPr txBox="1"/>
          <p:nvPr/>
        </p:nvSpPr>
        <p:spPr>
          <a:xfrm>
            <a:off x="1020928" y="2377440"/>
            <a:ext cx="1463040" cy="274320"/>
          </a:xfrm>
          <a:prstGeom prst="rect">
            <a:avLst/>
          </a:prstGeom>
          <a:noFill/>
          <a:ln/>
        </p:spPr>
        <p:txBody>
          <a:bodyPr wrap="square" lIns="0" tIns="0" rIns="0" bIns="0" rtlCol="0" anchor="ctr"/>
          <a:lstStyle/>
          <a:p>
            <a:pPr algn="ctr" indent="0" marL="0">
              <a:buNone/>
            </a:pPr>
            <a:r>
              <a:rPr lang="en-US" sz="1100" b="1" spc="300" kern="0" dirty="0">
                <a:solidFill>
                  <a:schemeClr val="tx2"/>
                </a:solidFill>
              </a:rPr>
              <a:t>ENGINE 1</a:t>
            </a:r>
            <a:endParaRPr lang="en-US" sz="1100" dirty="0"/>
          </a:p>
        </p:txBody>
      </p:sp>
      <p:sp>
        <p:nvSpPr>
          <p:cNvPr id="8" name="Circle 25"/>
          <p:cNvSpPr/>
          <p:nvPr/>
        </p:nvSpPr>
        <p:spPr>
          <a:xfrm>
            <a:off x="1020928" y="2788920"/>
            <a:ext cx="1463040" cy="1463040"/>
          </a:xfrm>
          <a:prstGeom prst="ellipse">
            <a:avLst/>
          </a:prstGeom>
          <a:solidFill>
            <a:schemeClr val="bg2"/>
          </a:solidFill>
          <a:ln/>
        </p:spPr>
      </p:sp>
      <p:sp>
        <p:nvSpPr>
          <p:cNvPr id="9" name="Text 26"/>
          <p:cNvSpPr txBox="1"/>
          <p:nvPr/>
        </p:nvSpPr>
        <p:spPr>
          <a:xfrm>
            <a:off x="1020928" y="3136392"/>
            <a:ext cx="1463040" cy="457200"/>
          </a:xfrm>
          <a:prstGeom prst="rect">
            <a:avLst/>
          </a:prstGeom>
          <a:noFill/>
          <a:ln/>
        </p:spPr>
        <p:txBody>
          <a:bodyPr wrap="square" lIns="0" tIns="0" rIns="0" bIns="0" rtlCol="0" anchor="ctr"/>
          <a:lstStyle/>
          <a:p>
            <a:pPr algn="ctr" indent="0" marL="0">
              <a:buNone/>
            </a:pPr>
            <a:r>
              <a:rPr lang="en-US" sz="2800" b="1" spc="-100" kern="0" dirty="0">
                <a:solidFill>
                  <a:schemeClr val="tx1"/>
                </a:solidFill>
              </a:rPr>
              <a:t>3,400</a:t>
            </a:r>
            <a:endParaRPr lang="en-US" sz="2800" dirty="0"/>
          </a:p>
        </p:txBody>
      </p:sp>
      <p:sp>
        <p:nvSpPr>
          <p:cNvPr id="10" name="Text 27"/>
          <p:cNvSpPr txBox="1"/>
          <p:nvPr/>
        </p:nvSpPr>
        <p:spPr>
          <a:xfrm>
            <a:off x="1020928" y="3611880"/>
            <a:ext cx="1463040" cy="274320"/>
          </a:xfrm>
          <a:prstGeom prst="rect">
            <a:avLst/>
          </a:prstGeom>
          <a:noFill/>
          <a:ln/>
        </p:spPr>
        <p:txBody>
          <a:bodyPr wrap="square" lIns="0" tIns="0" rIns="0" bIns="0" rtlCol="0" anchor="ctr"/>
          <a:lstStyle/>
          <a:p>
            <a:pPr algn="ctr" indent="0" marL="0">
              <a:buNone/>
            </a:pPr>
            <a:r>
              <a:rPr lang="en-US" sz="1300" dirty="0">
                <a:solidFill>
                  <a:schemeClr val="tx2"/>
                </a:solidFill>
              </a:rPr>
              <a:t>hp</a:t>
            </a:r>
            <a:endParaRPr lang="en-US" sz="1300" dirty="0"/>
          </a:p>
        </p:txBody>
      </p:sp>
      <p:sp>
        <p:nvSpPr>
          <p:cNvPr id="11" name="Text 28"/>
          <p:cNvSpPr txBox="1"/>
          <p:nvPr/>
        </p:nvSpPr>
        <p:spPr>
          <a:xfrm>
            <a:off x="2483968" y="3246120"/>
            <a:ext cx="457200" cy="548640"/>
          </a:xfrm>
          <a:prstGeom prst="rect">
            <a:avLst/>
          </a:prstGeom>
          <a:noFill/>
          <a:ln/>
        </p:spPr>
        <p:txBody>
          <a:bodyPr wrap="square" lIns="0" tIns="0" rIns="0" bIns="0" rtlCol="0" anchor="ctr"/>
          <a:lstStyle/>
          <a:p>
            <a:pPr algn="ctr" indent="0" marL="0">
              <a:buNone/>
            </a:pPr>
            <a:r>
              <a:rPr lang="en-US" sz="2600" dirty="0">
                <a:solidFill>
                  <a:schemeClr val="tx2"/>
                </a:solidFill>
              </a:rPr>
              <a:t>+</a:t>
            </a:r>
            <a:endParaRPr lang="en-US" sz="2600" dirty="0"/>
          </a:p>
        </p:txBody>
      </p:sp>
      <p:sp>
        <p:nvSpPr>
          <p:cNvPr id="12" name="Text 29"/>
          <p:cNvSpPr txBox="1"/>
          <p:nvPr/>
        </p:nvSpPr>
        <p:spPr>
          <a:xfrm>
            <a:off x="2941168" y="2377440"/>
            <a:ext cx="1463040" cy="274320"/>
          </a:xfrm>
          <a:prstGeom prst="rect">
            <a:avLst/>
          </a:prstGeom>
          <a:noFill/>
          <a:ln/>
        </p:spPr>
        <p:txBody>
          <a:bodyPr wrap="square" lIns="0" tIns="0" rIns="0" bIns="0" rtlCol="0" anchor="ctr"/>
          <a:lstStyle/>
          <a:p>
            <a:pPr algn="ctr" indent="0" marL="0">
              <a:buNone/>
            </a:pPr>
            <a:r>
              <a:rPr lang="en-US" sz="1100" b="1" spc="300" kern="0" dirty="0">
                <a:solidFill>
                  <a:schemeClr val="tx2"/>
                </a:solidFill>
              </a:rPr>
              <a:t>ENGINE 2</a:t>
            </a:r>
            <a:endParaRPr lang="en-US" sz="1100" dirty="0"/>
          </a:p>
        </p:txBody>
      </p:sp>
      <p:sp>
        <p:nvSpPr>
          <p:cNvPr id="13" name="Circle 30"/>
          <p:cNvSpPr/>
          <p:nvPr/>
        </p:nvSpPr>
        <p:spPr>
          <a:xfrm>
            <a:off x="2941168" y="2788920"/>
            <a:ext cx="1463040" cy="1463040"/>
          </a:xfrm>
          <a:prstGeom prst="ellipse">
            <a:avLst/>
          </a:prstGeom>
          <a:solidFill>
            <a:schemeClr val="bg2"/>
          </a:solidFill>
          <a:ln/>
        </p:spPr>
      </p:sp>
      <p:sp>
        <p:nvSpPr>
          <p:cNvPr id="14" name="Text 31"/>
          <p:cNvSpPr txBox="1"/>
          <p:nvPr/>
        </p:nvSpPr>
        <p:spPr>
          <a:xfrm>
            <a:off x="2941168" y="3136392"/>
            <a:ext cx="1463040" cy="457200"/>
          </a:xfrm>
          <a:prstGeom prst="rect">
            <a:avLst/>
          </a:prstGeom>
          <a:noFill/>
          <a:ln/>
        </p:spPr>
        <p:txBody>
          <a:bodyPr wrap="square" lIns="0" tIns="0" rIns="0" bIns="0" rtlCol="0" anchor="ctr"/>
          <a:lstStyle/>
          <a:p>
            <a:pPr algn="ctr" indent="0" marL="0">
              <a:buNone/>
            </a:pPr>
            <a:r>
              <a:rPr lang="en-US" sz="2800" b="1" spc="-100" kern="0" dirty="0">
                <a:solidFill>
                  <a:schemeClr val="tx1"/>
                </a:solidFill>
              </a:rPr>
              <a:t>3,400</a:t>
            </a:r>
            <a:endParaRPr lang="en-US" sz="2800" dirty="0"/>
          </a:p>
        </p:txBody>
      </p:sp>
      <p:sp>
        <p:nvSpPr>
          <p:cNvPr id="15" name="Text 32"/>
          <p:cNvSpPr txBox="1"/>
          <p:nvPr/>
        </p:nvSpPr>
        <p:spPr>
          <a:xfrm>
            <a:off x="2941168" y="3611880"/>
            <a:ext cx="1463040" cy="274320"/>
          </a:xfrm>
          <a:prstGeom prst="rect">
            <a:avLst/>
          </a:prstGeom>
          <a:noFill/>
          <a:ln/>
        </p:spPr>
        <p:txBody>
          <a:bodyPr wrap="square" lIns="0" tIns="0" rIns="0" bIns="0" rtlCol="0" anchor="ctr"/>
          <a:lstStyle/>
          <a:p>
            <a:pPr algn="ctr" indent="0" marL="0">
              <a:buNone/>
            </a:pPr>
            <a:r>
              <a:rPr lang="en-US" sz="1300" dirty="0">
                <a:solidFill>
                  <a:schemeClr val="tx2"/>
                </a:solidFill>
              </a:rPr>
              <a:t>hp</a:t>
            </a:r>
            <a:endParaRPr lang="en-US" sz="1300" dirty="0"/>
          </a:p>
        </p:txBody>
      </p:sp>
      <p:sp>
        <p:nvSpPr>
          <p:cNvPr id="16" name="Text 33"/>
          <p:cNvSpPr txBox="1"/>
          <p:nvPr/>
        </p:nvSpPr>
        <p:spPr>
          <a:xfrm>
            <a:off x="4404208" y="3246120"/>
            <a:ext cx="457200" cy="548640"/>
          </a:xfrm>
          <a:prstGeom prst="rect">
            <a:avLst/>
          </a:prstGeom>
          <a:noFill/>
          <a:ln/>
        </p:spPr>
        <p:txBody>
          <a:bodyPr wrap="square" lIns="0" tIns="0" rIns="0" bIns="0" rtlCol="0" anchor="ctr"/>
          <a:lstStyle/>
          <a:p>
            <a:pPr algn="ctr" indent="0" marL="0">
              <a:buNone/>
            </a:pPr>
            <a:r>
              <a:rPr lang="en-US" sz="2600" dirty="0">
                <a:solidFill>
                  <a:schemeClr val="tx2"/>
                </a:solidFill>
              </a:rPr>
              <a:t>+</a:t>
            </a:r>
            <a:endParaRPr lang="en-US" sz="2600" dirty="0"/>
          </a:p>
        </p:txBody>
      </p:sp>
      <p:sp>
        <p:nvSpPr>
          <p:cNvPr id="17" name="Text 34"/>
          <p:cNvSpPr txBox="1"/>
          <p:nvPr/>
        </p:nvSpPr>
        <p:spPr>
          <a:xfrm>
            <a:off x="4861408" y="2377440"/>
            <a:ext cx="1463040" cy="274320"/>
          </a:xfrm>
          <a:prstGeom prst="rect">
            <a:avLst/>
          </a:prstGeom>
          <a:noFill/>
          <a:ln/>
        </p:spPr>
        <p:txBody>
          <a:bodyPr wrap="square" lIns="0" tIns="0" rIns="0" bIns="0" rtlCol="0" anchor="ctr"/>
          <a:lstStyle/>
          <a:p>
            <a:pPr algn="ctr" indent="0" marL="0">
              <a:buNone/>
            </a:pPr>
            <a:r>
              <a:rPr lang="en-US" sz="1100" b="1" spc="300" kern="0" dirty="0">
                <a:solidFill>
                  <a:schemeClr val="tx2"/>
                </a:solidFill>
              </a:rPr>
              <a:t>ENGINE 3</a:t>
            </a:r>
            <a:endParaRPr lang="en-US" sz="1100" dirty="0"/>
          </a:p>
        </p:txBody>
      </p:sp>
      <p:sp>
        <p:nvSpPr>
          <p:cNvPr id="18" name="Circle 35"/>
          <p:cNvSpPr/>
          <p:nvPr/>
        </p:nvSpPr>
        <p:spPr>
          <a:xfrm>
            <a:off x="4861408" y="2788920"/>
            <a:ext cx="1463040" cy="1463040"/>
          </a:xfrm>
          <a:prstGeom prst="ellipse">
            <a:avLst/>
          </a:prstGeom>
          <a:solidFill>
            <a:schemeClr val="bg2"/>
          </a:solidFill>
          <a:ln/>
        </p:spPr>
      </p:sp>
      <p:sp>
        <p:nvSpPr>
          <p:cNvPr id="19" name="Text 36"/>
          <p:cNvSpPr txBox="1"/>
          <p:nvPr/>
        </p:nvSpPr>
        <p:spPr>
          <a:xfrm>
            <a:off x="4861408" y="3136392"/>
            <a:ext cx="1463040" cy="457200"/>
          </a:xfrm>
          <a:prstGeom prst="rect">
            <a:avLst/>
          </a:prstGeom>
          <a:noFill/>
          <a:ln/>
        </p:spPr>
        <p:txBody>
          <a:bodyPr wrap="square" lIns="0" tIns="0" rIns="0" bIns="0" rtlCol="0" anchor="ctr"/>
          <a:lstStyle/>
          <a:p>
            <a:pPr algn="ctr" indent="0" marL="0">
              <a:buNone/>
            </a:pPr>
            <a:r>
              <a:rPr lang="en-US" sz="2800" b="1" spc="-100" kern="0" dirty="0">
                <a:solidFill>
                  <a:schemeClr val="tx1"/>
                </a:solidFill>
              </a:rPr>
              <a:t>3,400</a:t>
            </a:r>
            <a:endParaRPr lang="en-US" sz="2800" dirty="0"/>
          </a:p>
        </p:txBody>
      </p:sp>
      <p:sp>
        <p:nvSpPr>
          <p:cNvPr id="20" name="Text 37"/>
          <p:cNvSpPr txBox="1"/>
          <p:nvPr/>
        </p:nvSpPr>
        <p:spPr>
          <a:xfrm>
            <a:off x="4861408" y="3611880"/>
            <a:ext cx="1463040" cy="274320"/>
          </a:xfrm>
          <a:prstGeom prst="rect">
            <a:avLst/>
          </a:prstGeom>
          <a:noFill/>
          <a:ln/>
        </p:spPr>
        <p:txBody>
          <a:bodyPr wrap="square" lIns="0" tIns="0" rIns="0" bIns="0" rtlCol="0" anchor="ctr"/>
          <a:lstStyle/>
          <a:p>
            <a:pPr algn="ctr" indent="0" marL="0">
              <a:buNone/>
            </a:pPr>
            <a:r>
              <a:rPr lang="en-US" sz="1300" dirty="0">
                <a:solidFill>
                  <a:schemeClr val="tx2"/>
                </a:solidFill>
              </a:rPr>
              <a:t>hp</a:t>
            </a:r>
            <a:endParaRPr lang="en-US" sz="1300" dirty="0"/>
          </a:p>
        </p:txBody>
      </p:sp>
      <p:sp>
        <p:nvSpPr>
          <p:cNvPr id="21" name="Text 38"/>
          <p:cNvSpPr txBox="1"/>
          <p:nvPr/>
        </p:nvSpPr>
        <p:spPr>
          <a:xfrm>
            <a:off x="6324448" y="3246120"/>
            <a:ext cx="457200" cy="548640"/>
          </a:xfrm>
          <a:prstGeom prst="rect">
            <a:avLst/>
          </a:prstGeom>
          <a:noFill/>
          <a:ln/>
        </p:spPr>
        <p:txBody>
          <a:bodyPr wrap="square" lIns="0" tIns="0" rIns="0" bIns="0" rtlCol="0" anchor="ctr"/>
          <a:lstStyle/>
          <a:p>
            <a:pPr algn="ctr" indent="0" marL="0">
              <a:buNone/>
            </a:pPr>
            <a:r>
              <a:rPr lang="en-US" sz="2600" dirty="0">
                <a:solidFill>
                  <a:schemeClr val="tx2"/>
                </a:solidFill>
              </a:rPr>
              <a:t>+</a:t>
            </a:r>
            <a:endParaRPr lang="en-US" sz="2600" dirty="0"/>
          </a:p>
        </p:txBody>
      </p:sp>
      <p:sp>
        <p:nvSpPr>
          <p:cNvPr id="22" name="Text 39"/>
          <p:cNvSpPr txBox="1"/>
          <p:nvPr/>
        </p:nvSpPr>
        <p:spPr>
          <a:xfrm>
            <a:off x="6781648" y="2377440"/>
            <a:ext cx="1463040" cy="274320"/>
          </a:xfrm>
          <a:prstGeom prst="rect">
            <a:avLst/>
          </a:prstGeom>
          <a:noFill/>
          <a:ln/>
        </p:spPr>
        <p:txBody>
          <a:bodyPr wrap="square" lIns="0" tIns="0" rIns="0" bIns="0" rtlCol="0" anchor="ctr"/>
          <a:lstStyle/>
          <a:p>
            <a:pPr algn="ctr" indent="0" marL="0">
              <a:buNone/>
            </a:pPr>
            <a:r>
              <a:rPr lang="en-US" sz="1100" b="1" spc="300" kern="0" dirty="0">
                <a:solidFill>
                  <a:schemeClr val="tx2"/>
                </a:solidFill>
              </a:rPr>
              <a:t>ENGINE 4</a:t>
            </a:r>
            <a:endParaRPr lang="en-US" sz="1100" dirty="0"/>
          </a:p>
        </p:txBody>
      </p:sp>
      <p:sp>
        <p:nvSpPr>
          <p:cNvPr id="23" name="Circle 40"/>
          <p:cNvSpPr/>
          <p:nvPr/>
        </p:nvSpPr>
        <p:spPr>
          <a:xfrm>
            <a:off x="6781648" y="2788920"/>
            <a:ext cx="1463040" cy="1463040"/>
          </a:xfrm>
          <a:prstGeom prst="ellipse">
            <a:avLst/>
          </a:prstGeom>
          <a:solidFill>
            <a:schemeClr val="bg2"/>
          </a:solidFill>
          <a:ln/>
        </p:spPr>
      </p:sp>
      <p:sp>
        <p:nvSpPr>
          <p:cNvPr id="24" name="Text 41"/>
          <p:cNvSpPr txBox="1"/>
          <p:nvPr/>
        </p:nvSpPr>
        <p:spPr>
          <a:xfrm>
            <a:off x="6781648" y="3136392"/>
            <a:ext cx="1463040" cy="457200"/>
          </a:xfrm>
          <a:prstGeom prst="rect">
            <a:avLst/>
          </a:prstGeom>
          <a:noFill/>
          <a:ln/>
        </p:spPr>
        <p:txBody>
          <a:bodyPr wrap="square" lIns="0" tIns="0" rIns="0" bIns="0" rtlCol="0" anchor="ctr"/>
          <a:lstStyle/>
          <a:p>
            <a:pPr algn="ctr" indent="0" marL="0">
              <a:buNone/>
            </a:pPr>
            <a:r>
              <a:rPr lang="en-US" sz="2800" b="1" spc="-100" kern="0" dirty="0">
                <a:solidFill>
                  <a:schemeClr val="tx1"/>
                </a:solidFill>
              </a:rPr>
              <a:t>3,400</a:t>
            </a:r>
            <a:endParaRPr lang="en-US" sz="2800" dirty="0"/>
          </a:p>
        </p:txBody>
      </p:sp>
      <p:sp>
        <p:nvSpPr>
          <p:cNvPr id="25" name="Text 42"/>
          <p:cNvSpPr txBox="1"/>
          <p:nvPr/>
        </p:nvSpPr>
        <p:spPr>
          <a:xfrm>
            <a:off x="6781648" y="3611880"/>
            <a:ext cx="1463040" cy="274320"/>
          </a:xfrm>
          <a:prstGeom prst="rect">
            <a:avLst/>
          </a:prstGeom>
          <a:noFill/>
          <a:ln/>
        </p:spPr>
        <p:txBody>
          <a:bodyPr wrap="square" lIns="0" tIns="0" rIns="0" bIns="0" rtlCol="0" anchor="ctr"/>
          <a:lstStyle/>
          <a:p>
            <a:pPr algn="ctr" indent="0" marL="0">
              <a:buNone/>
            </a:pPr>
            <a:r>
              <a:rPr lang="en-US" sz="1300" dirty="0">
                <a:solidFill>
                  <a:schemeClr val="tx2"/>
                </a:solidFill>
              </a:rPr>
              <a:t>hp</a:t>
            </a:r>
            <a:endParaRPr lang="en-US" sz="1300" dirty="0"/>
          </a:p>
        </p:txBody>
      </p:sp>
      <p:sp>
        <p:nvSpPr>
          <p:cNvPr id="26" name="Text 43"/>
          <p:cNvSpPr txBox="1"/>
          <p:nvPr/>
        </p:nvSpPr>
        <p:spPr>
          <a:xfrm>
            <a:off x="8244688" y="3246120"/>
            <a:ext cx="457200" cy="548640"/>
          </a:xfrm>
          <a:prstGeom prst="rect">
            <a:avLst/>
          </a:prstGeom>
          <a:noFill/>
          <a:ln/>
        </p:spPr>
        <p:txBody>
          <a:bodyPr wrap="square" lIns="0" tIns="0" rIns="0" bIns="0" rtlCol="0" anchor="ctr"/>
          <a:lstStyle/>
          <a:p>
            <a:pPr algn="ctr" indent="0" marL="0">
              <a:buNone/>
            </a:pPr>
            <a:r>
              <a:rPr lang="en-US" sz="2600" dirty="0">
                <a:solidFill>
                  <a:schemeClr val="tx2"/>
                </a:solidFill>
              </a:rPr>
              <a:t>=</a:t>
            </a:r>
            <a:endParaRPr lang="en-US" sz="2600" dirty="0"/>
          </a:p>
        </p:txBody>
      </p:sp>
      <p:sp>
        <p:nvSpPr>
          <p:cNvPr id="27" name="Text 44"/>
          <p:cNvSpPr txBox="1"/>
          <p:nvPr/>
        </p:nvSpPr>
        <p:spPr>
          <a:xfrm>
            <a:off x="8701888" y="3017520"/>
            <a:ext cx="2468880" cy="685800"/>
          </a:xfrm>
          <a:prstGeom prst="rect">
            <a:avLst/>
          </a:prstGeom>
          <a:noFill/>
          <a:ln/>
        </p:spPr>
        <p:txBody>
          <a:bodyPr wrap="square" lIns="0" tIns="0" rIns="0" bIns="0" rtlCol="0" anchor="ctr"/>
          <a:lstStyle/>
          <a:p>
            <a:pPr algn="ctr" indent="0" marL="0">
              <a:buNone/>
            </a:pPr>
            <a:r>
              <a:rPr lang="en-US" sz="4800" b="1" spc="-200" kern="0" dirty="0">
                <a:solidFill>
                  <a:schemeClr val="accent1"/>
                </a:solidFill>
              </a:rPr>
              <a:t>13,600</a:t>
            </a:r>
            <a:endParaRPr lang="en-US" sz="4800" dirty="0"/>
          </a:p>
        </p:txBody>
      </p:sp>
      <p:sp>
        <p:nvSpPr>
          <p:cNvPr id="28" name="Text 45"/>
          <p:cNvSpPr txBox="1"/>
          <p:nvPr/>
        </p:nvSpPr>
        <p:spPr>
          <a:xfrm>
            <a:off x="8701888" y="3721608"/>
            <a:ext cx="2468880" cy="274320"/>
          </a:xfrm>
          <a:prstGeom prst="rect">
            <a:avLst/>
          </a:prstGeom>
          <a:noFill/>
          <a:ln/>
        </p:spPr>
        <p:txBody>
          <a:bodyPr wrap="square" lIns="0" tIns="0" rIns="0" bIns="0" rtlCol="0" anchor="ctr"/>
          <a:lstStyle/>
          <a:p>
            <a:pPr algn="ctr" indent="0" marL="0">
              <a:buNone/>
            </a:pPr>
            <a:r>
              <a:rPr lang="en-US" sz="1300" dirty="0">
                <a:solidFill>
                  <a:schemeClr val="tx2"/>
                </a:solidFill>
              </a:rPr>
              <a:t>hp in total</a:t>
            </a:r>
            <a:endParaRPr lang="en-US" sz="1300" dirty="0"/>
          </a:p>
        </p:txBody>
      </p:sp>
      <p:sp>
        <p:nvSpPr>
          <p:cNvPr id="25" name="Slide Number Placeholder 0"/>
          <p:cNvSpPr>
            <a:spLocks noGrp="1"/>
          </p:cNvSpPr>
          <p:nvPr>
            <p:ph type="sldNum" sz="quarter" idx="4294967295"/>
          </p:nvPr>
        </p:nvSpPr>
        <p:spPr>
          <a:xfrm>
            <a:off x="1127455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36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731520" y="475488"/>
            <a:ext cx="10728655" cy="731520"/>
          </a:xfrm>
          <a:prstGeom prst="rect">
            <a:avLst/>
          </a:prstGeom>
          <a:noFill/>
          <a:ln/>
        </p:spPr>
        <p:txBody>
          <a:bodyPr wrap="square" lIns="0" tIns="0" rIns="0" bIns="0" rtlCol="0" anchor="ctr"/>
          <a:lstStyle/>
          <a:p>
            <a:pPr algn="ctr" indent="0" marL="0">
              <a:buNone/>
            </a:pPr>
            <a:r>
              <a:rPr lang="en-US" sz="3600" b="1" spc="-100" kern="0" dirty="0">
                <a:solidFill>
                  <a:schemeClr val="tx1"/>
                </a:solidFill>
              </a:rPr>
              <a:t>One minute, about eight kilometres</a:t>
            </a:r>
            <a:endParaRPr lang="en-US" sz="3600" dirty="0"/>
          </a:p>
        </p:txBody>
      </p:sp>
      <p:sp>
        <p:nvSpPr>
          <p:cNvPr id="3" name="Text 0"/>
          <p:cNvSpPr/>
          <p:nvPr>
            <p:ph idx="101" type="body" hasCustomPrompt="1"/>
          </p:nvPr>
        </p:nvSpPr>
        <p:spPr>
          <a:xfrm>
            <a:off x="1280160" y="1225296"/>
            <a:ext cx="9631375" cy="411480"/>
          </a:xfrm>
          <a:prstGeom prst="rect">
            <a:avLst/>
          </a:prstGeom>
          <a:noFill/>
          <a:ln/>
        </p:spPr>
        <p:txBody>
          <a:bodyPr wrap="square" lIns="0" tIns="0" rIns="0" bIns="0" rtlCol="0" anchor="t"/>
          <a:lstStyle/>
          <a:p>
            <a:pPr algn="ctr" indent="0" marL="0">
              <a:buNone/>
            </a:pPr>
            <a:r>
              <a:rPr lang="en-US" sz="1800" dirty="0">
                <a:solidFill>
                  <a:schemeClr val="tx2"/>
                </a:solidFill>
              </a:rPr>
              <a:t>L-1649A Super Star: cruise roughly 480–500 km/h</a:t>
            </a:r>
            <a:endParaRPr lang="en-US" sz="1800" dirty="0"/>
          </a:p>
        </p:txBody>
      </p:sp>
      <p:sp>
        <p:nvSpPr>
          <p:cNvPr id="4" name="Text 0"/>
          <p:cNvSpPr/>
          <p:nvPr>
            <p:ph idx="102" type="body" hasCustomPrompt="1"/>
          </p:nvPr>
        </p:nvSpPr>
        <p:spPr>
          <a:xfrm>
            <a:off x="1280160" y="5413248"/>
            <a:ext cx="9631375" cy="457200"/>
          </a:xfrm>
          <a:prstGeom prst="rect">
            <a:avLst/>
          </a:prstGeom>
          <a:noFill/>
          <a:ln/>
        </p:spPr>
        <p:txBody>
          <a:bodyPr wrap="square" lIns="0" tIns="0" rIns="0" bIns="0" rtlCol="0" anchor="ctr"/>
          <a:lstStyle/>
          <a:p>
            <a:pPr algn="ctr" indent="0" marL="0">
              <a:buNone/>
            </a:pPr>
            <a:r>
              <a:rPr lang="en-US" sz="2000" dirty="0">
                <a:solidFill>
                  <a:schemeClr val="tx1"/>
                </a:solidFill>
              </a:rPr>
              <a:t>Turning speed per hour into a minute you can feel</a:t>
            </a:r>
            <a:endParaRPr lang="en-US" sz="2000" dirty="0"/>
          </a:p>
        </p:txBody>
      </p:sp>
      <p:sp>
        <p:nvSpPr>
          <p:cNvPr id="5" name="Text 0"/>
          <p:cNvSpPr/>
          <p:nvPr>
            <p:ph idx="103" type="body" hasCustomPrompt="1"/>
          </p:nvPr>
        </p:nvSpPr>
        <p:spPr>
          <a:xfrm>
            <a:off x="1280160" y="5961888"/>
            <a:ext cx="9631375" cy="502920"/>
          </a:xfrm>
          <a:prstGeom prst="rect">
            <a:avLst/>
          </a:prstGeom>
          <a:noFill/>
          <a:ln/>
        </p:spPr>
        <p:txBody>
          <a:bodyPr wrap="square" lIns="0" tIns="0" rIns="0" bIns="0" rtlCol="0" anchor="t"/>
          <a:lstStyle/>
          <a:p>
            <a:pPr algn="ctr" indent="0" marL="0">
              <a:buNone/>
            </a:pPr>
            <a:r>
              <a:rPr lang="en-US" sz="1100" dirty="0">
                <a:solidFill>
                  <a:schemeClr val="tx2"/>
                </a:solidFill>
              </a:rPr>
              <a:t>480 ÷ 60 = 8; about 8–8.3 km/min across the cruise range. Still-air illustration; actual ground speed depends on wind.</a:t>
            </a:r>
            <a:endParaRPr lang="en-US" sz="1100" dirty="0"/>
          </a:p>
        </p:txBody>
      </p:sp>
      <p:sp>
        <p:nvSpPr>
          <p:cNvPr id="7" name="Text 46"/>
          <p:cNvSpPr txBox="1"/>
          <p:nvPr/>
        </p:nvSpPr>
        <p:spPr>
          <a:xfrm>
            <a:off x="822960" y="2926080"/>
            <a:ext cx="1828800" cy="914400"/>
          </a:xfrm>
          <a:prstGeom prst="rect">
            <a:avLst/>
          </a:prstGeom>
          <a:noFill/>
          <a:ln/>
        </p:spPr>
        <p:txBody>
          <a:bodyPr wrap="square" lIns="0" tIns="0" rIns="0" bIns="0" rtlCol="0" anchor="ctr"/>
          <a:lstStyle/>
          <a:p>
            <a:pPr algn="ctr" indent="0" marL="0">
              <a:buNone/>
            </a:pPr>
            <a:r>
              <a:rPr lang="en-US" sz="7200" b="1" spc="-300" kern="0" dirty="0">
                <a:solidFill>
                  <a:schemeClr val="tx1"/>
                </a:solidFill>
              </a:rPr>
              <a:t>60</a:t>
            </a:r>
            <a:endParaRPr lang="en-US" sz="7200" dirty="0"/>
          </a:p>
        </p:txBody>
      </p:sp>
      <p:sp>
        <p:nvSpPr>
          <p:cNvPr id="8" name="Text 47"/>
          <p:cNvSpPr txBox="1"/>
          <p:nvPr/>
        </p:nvSpPr>
        <p:spPr>
          <a:xfrm>
            <a:off x="822960" y="3886200"/>
            <a:ext cx="1828800" cy="274320"/>
          </a:xfrm>
          <a:prstGeom prst="rect">
            <a:avLst/>
          </a:prstGeom>
          <a:noFill/>
          <a:ln/>
        </p:spPr>
        <p:txBody>
          <a:bodyPr wrap="square" lIns="0" tIns="0" rIns="0" bIns="0" rtlCol="0" anchor="ctr"/>
          <a:lstStyle/>
          <a:p>
            <a:pPr algn="ctr" indent="0" marL="0">
              <a:buNone/>
            </a:pPr>
            <a:r>
              <a:rPr lang="en-US" sz="1400" dirty="0">
                <a:solidFill>
                  <a:schemeClr val="tx2"/>
                </a:solidFill>
              </a:rPr>
              <a:t>seconds</a:t>
            </a:r>
            <a:endParaRPr lang="en-US" sz="1400" dirty="0"/>
          </a:p>
        </p:txBody>
      </p:sp>
      <p:sp>
        <p:nvSpPr>
          <p:cNvPr id="9" name="Rounded 48"/>
          <p:cNvSpPr/>
          <p:nvPr/>
        </p:nvSpPr>
        <p:spPr>
          <a:xfrm>
            <a:off x="3200400" y="3456432"/>
            <a:ext cx="850392" cy="310896"/>
          </a:xfrm>
          <a:prstGeom prst="roundRect">
            <a:avLst>
              <a:gd name="adj" fmla="val 17647"/>
            </a:avLst>
          </a:prstGeom>
          <a:solidFill>
            <a:schemeClr val="accent1"/>
          </a:solidFill>
          <a:ln/>
        </p:spPr>
      </p:sp>
      <p:sp>
        <p:nvSpPr>
          <p:cNvPr id="10" name="Text 49"/>
          <p:cNvSpPr txBox="1"/>
          <p:nvPr/>
        </p:nvSpPr>
        <p:spPr>
          <a:xfrm>
            <a:off x="3200400" y="3858768"/>
            <a:ext cx="850392" cy="256032"/>
          </a:xfrm>
          <a:prstGeom prst="rect">
            <a:avLst/>
          </a:prstGeom>
          <a:noFill/>
          <a:ln/>
        </p:spPr>
        <p:txBody>
          <a:bodyPr wrap="square" lIns="0" tIns="0" rIns="0" bIns="0" rtlCol="0" anchor="ctr"/>
          <a:lstStyle/>
          <a:p>
            <a:pPr algn="ctr" indent="0" marL="0">
              <a:buNone/>
            </a:pPr>
            <a:r>
              <a:rPr lang="en-US" sz="1200" dirty="0">
                <a:solidFill>
                  <a:schemeClr val="tx2"/>
                </a:solidFill>
              </a:rPr>
              <a:t>1 km</a:t>
            </a:r>
            <a:endParaRPr lang="en-US" sz="1200" dirty="0"/>
          </a:p>
        </p:txBody>
      </p:sp>
      <p:sp>
        <p:nvSpPr>
          <p:cNvPr id="11" name="Rounded 50"/>
          <p:cNvSpPr/>
          <p:nvPr/>
        </p:nvSpPr>
        <p:spPr>
          <a:xfrm>
            <a:off x="4123944" y="3456432"/>
            <a:ext cx="850392" cy="310896"/>
          </a:xfrm>
          <a:prstGeom prst="roundRect">
            <a:avLst>
              <a:gd name="adj" fmla="val 17647"/>
            </a:avLst>
          </a:prstGeom>
          <a:solidFill>
            <a:schemeClr val="accent1"/>
          </a:solidFill>
          <a:ln/>
        </p:spPr>
      </p:sp>
      <p:sp>
        <p:nvSpPr>
          <p:cNvPr id="12" name="Text 51"/>
          <p:cNvSpPr txBox="1"/>
          <p:nvPr/>
        </p:nvSpPr>
        <p:spPr>
          <a:xfrm>
            <a:off x="4123944" y="3858768"/>
            <a:ext cx="850392" cy="256032"/>
          </a:xfrm>
          <a:prstGeom prst="rect">
            <a:avLst/>
          </a:prstGeom>
          <a:noFill/>
          <a:ln/>
        </p:spPr>
        <p:txBody>
          <a:bodyPr wrap="square" lIns="0" tIns="0" rIns="0" bIns="0" rtlCol="0" anchor="ctr"/>
          <a:lstStyle/>
          <a:p>
            <a:pPr algn="ctr" indent="0" marL="0">
              <a:buNone/>
            </a:pPr>
            <a:r>
              <a:rPr lang="en-US" sz="1200" dirty="0">
                <a:solidFill>
                  <a:schemeClr val="tx2"/>
                </a:solidFill>
              </a:rPr>
              <a:t>2 km</a:t>
            </a:r>
            <a:endParaRPr lang="en-US" sz="1200" dirty="0"/>
          </a:p>
        </p:txBody>
      </p:sp>
      <p:sp>
        <p:nvSpPr>
          <p:cNvPr id="13" name="Rounded 52"/>
          <p:cNvSpPr/>
          <p:nvPr/>
        </p:nvSpPr>
        <p:spPr>
          <a:xfrm>
            <a:off x="5047488" y="3456432"/>
            <a:ext cx="850392" cy="310896"/>
          </a:xfrm>
          <a:prstGeom prst="roundRect">
            <a:avLst>
              <a:gd name="adj" fmla="val 17647"/>
            </a:avLst>
          </a:prstGeom>
          <a:solidFill>
            <a:schemeClr val="accent1"/>
          </a:solidFill>
          <a:ln/>
        </p:spPr>
      </p:sp>
      <p:sp>
        <p:nvSpPr>
          <p:cNvPr id="14" name="Text 53"/>
          <p:cNvSpPr txBox="1"/>
          <p:nvPr/>
        </p:nvSpPr>
        <p:spPr>
          <a:xfrm>
            <a:off x="5047488" y="3858768"/>
            <a:ext cx="850392" cy="256032"/>
          </a:xfrm>
          <a:prstGeom prst="rect">
            <a:avLst/>
          </a:prstGeom>
          <a:noFill/>
          <a:ln/>
        </p:spPr>
        <p:txBody>
          <a:bodyPr wrap="square" lIns="0" tIns="0" rIns="0" bIns="0" rtlCol="0" anchor="ctr"/>
          <a:lstStyle/>
          <a:p>
            <a:pPr algn="ctr" indent="0" marL="0">
              <a:buNone/>
            </a:pPr>
            <a:r>
              <a:rPr lang="en-US" sz="1200" dirty="0">
                <a:solidFill>
                  <a:schemeClr val="tx2"/>
                </a:solidFill>
              </a:rPr>
              <a:t>3 km</a:t>
            </a:r>
            <a:endParaRPr lang="en-US" sz="1200" dirty="0"/>
          </a:p>
        </p:txBody>
      </p:sp>
      <p:sp>
        <p:nvSpPr>
          <p:cNvPr id="15" name="Rounded 54"/>
          <p:cNvSpPr/>
          <p:nvPr/>
        </p:nvSpPr>
        <p:spPr>
          <a:xfrm>
            <a:off x="5971032" y="3456432"/>
            <a:ext cx="850392" cy="310896"/>
          </a:xfrm>
          <a:prstGeom prst="roundRect">
            <a:avLst>
              <a:gd name="adj" fmla="val 17647"/>
            </a:avLst>
          </a:prstGeom>
          <a:solidFill>
            <a:schemeClr val="accent1"/>
          </a:solidFill>
          <a:ln/>
        </p:spPr>
      </p:sp>
      <p:sp>
        <p:nvSpPr>
          <p:cNvPr id="16" name="Text 55"/>
          <p:cNvSpPr txBox="1"/>
          <p:nvPr/>
        </p:nvSpPr>
        <p:spPr>
          <a:xfrm>
            <a:off x="5971032" y="3858768"/>
            <a:ext cx="850392" cy="256032"/>
          </a:xfrm>
          <a:prstGeom prst="rect">
            <a:avLst/>
          </a:prstGeom>
          <a:noFill/>
          <a:ln/>
        </p:spPr>
        <p:txBody>
          <a:bodyPr wrap="square" lIns="0" tIns="0" rIns="0" bIns="0" rtlCol="0" anchor="ctr"/>
          <a:lstStyle/>
          <a:p>
            <a:pPr algn="ctr" indent="0" marL="0">
              <a:buNone/>
            </a:pPr>
            <a:r>
              <a:rPr lang="en-US" sz="1200" dirty="0">
                <a:solidFill>
                  <a:schemeClr val="tx2"/>
                </a:solidFill>
              </a:rPr>
              <a:t>4 km</a:t>
            </a:r>
            <a:endParaRPr lang="en-US" sz="1200" dirty="0"/>
          </a:p>
        </p:txBody>
      </p:sp>
      <p:sp>
        <p:nvSpPr>
          <p:cNvPr id="17" name="Rounded 56"/>
          <p:cNvSpPr/>
          <p:nvPr/>
        </p:nvSpPr>
        <p:spPr>
          <a:xfrm>
            <a:off x="6894576" y="3456432"/>
            <a:ext cx="850392" cy="310896"/>
          </a:xfrm>
          <a:prstGeom prst="roundRect">
            <a:avLst>
              <a:gd name="adj" fmla="val 17647"/>
            </a:avLst>
          </a:prstGeom>
          <a:solidFill>
            <a:schemeClr val="accent1"/>
          </a:solidFill>
          <a:ln/>
        </p:spPr>
      </p:sp>
      <p:sp>
        <p:nvSpPr>
          <p:cNvPr id="18" name="Text 57"/>
          <p:cNvSpPr txBox="1"/>
          <p:nvPr/>
        </p:nvSpPr>
        <p:spPr>
          <a:xfrm>
            <a:off x="6894576" y="3858768"/>
            <a:ext cx="850392" cy="256032"/>
          </a:xfrm>
          <a:prstGeom prst="rect">
            <a:avLst/>
          </a:prstGeom>
          <a:noFill/>
          <a:ln/>
        </p:spPr>
        <p:txBody>
          <a:bodyPr wrap="square" lIns="0" tIns="0" rIns="0" bIns="0" rtlCol="0" anchor="ctr"/>
          <a:lstStyle/>
          <a:p>
            <a:pPr algn="ctr" indent="0" marL="0">
              <a:buNone/>
            </a:pPr>
            <a:r>
              <a:rPr lang="en-US" sz="1200" dirty="0">
                <a:solidFill>
                  <a:schemeClr val="tx2"/>
                </a:solidFill>
              </a:rPr>
              <a:t>5 km</a:t>
            </a:r>
            <a:endParaRPr lang="en-US" sz="1200" dirty="0"/>
          </a:p>
        </p:txBody>
      </p:sp>
      <p:sp>
        <p:nvSpPr>
          <p:cNvPr id="19" name="Rounded 58"/>
          <p:cNvSpPr/>
          <p:nvPr/>
        </p:nvSpPr>
        <p:spPr>
          <a:xfrm>
            <a:off x="7818120" y="3456432"/>
            <a:ext cx="850392" cy="310896"/>
          </a:xfrm>
          <a:prstGeom prst="roundRect">
            <a:avLst>
              <a:gd name="adj" fmla="val 17647"/>
            </a:avLst>
          </a:prstGeom>
          <a:solidFill>
            <a:schemeClr val="accent1"/>
          </a:solidFill>
          <a:ln/>
        </p:spPr>
      </p:sp>
      <p:sp>
        <p:nvSpPr>
          <p:cNvPr id="20" name="Text 59"/>
          <p:cNvSpPr txBox="1"/>
          <p:nvPr/>
        </p:nvSpPr>
        <p:spPr>
          <a:xfrm>
            <a:off x="7818120" y="3858768"/>
            <a:ext cx="850392" cy="256032"/>
          </a:xfrm>
          <a:prstGeom prst="rect">
            <a:avLst/>
          </a:prstGeom>
          <a:noFill/>
          <a:ln/>
        </p:spPr>
        <p:txBody>
          <a:bodyPr wrap="square" lIns="0" tIns="0" rIns="0" bIns="0" rtlCol="0" anchor="ctr"/>
          <a:lstStyle/>
          <a:p>
            <a:pPr algn="ctr" indent="0" marL="0">
              <a:buNone/>
            </a:pPr>
            <a:r>
              <a:rPr lang="en-US" sz="1200" dirty="0">
                <a:solidFill>
                  <a:schemeClr val="tx2"/>
                </a:solidFill>
              </a:rPr>
              <a:t>6 km</a:t>
            </a:r>
            <a:endParaRPr lang="en-US" sz="1200" dirty="0"/>
          </a:p>
        </p:txBody>
      </p:sp>
      <p:sp>
        <p:nvSpPr>
          <p:cNvPr id="21" name="Rounded 60"/>
          <p:cNvSpPr/>
          <p:nvPr/>
        </p:nvSpPr>
        <p:spPr>
          <a:xfrm>
            <a:off x="8741664" y="3456432"/>
            <a:ext cx="850392" cy="310896"/>
          </a:xfrm>
          <a:prstGeom prst="roundRect">
            <a:avLst>
              <a:gd name="adj" fmla="val 17647"/>
            </a:avLst>
          </a:prstGeom>
          <a:solidFill>
            <a:schemeClr val="accent1"/>
          </a:solidFill>
          <a:ln/>
        </p:spPr>
      </p:sp>
      <p:sp>
        <p:nvSpPr>
          <p:cNvPr id="22" name="Text 61"/>
          <p:cNvSpPr txBox="1"/>
          <p:nvPr/>
        </p:nvSpPr>
        <p:spPr>
          <a:xfrm>
            <a:off x="8741664" y="3858768"/>
            <a:ext cx="850392" cy="256032"/>
          </a:xfrm>
          <a:prstGeom prst="rect">
            <a:avLst/>
          </a:prstGeom>
          <a:noFill/>
          <a:ln/>
        </p:spPr>
        <p:txBody>
          <a:bodyPr wrap="square" lIns="0" tIns="0" rIns="0" bIns="0" rtlCol="0" anchor="ctr"/>
          <a:lstStyle/>
          <a:p>
            <a:pPr algn="ctr" indent="0" marL="0">
              <a:buNone/>
            </a:pPr>
            <a:r>
              <a:rPr lang="en-US" sz="1200" dirty="0">
                <a:solidFill>
                  <a:schemeClr val="tx2"/>
                </a:solidFill>
              </a:rPr>
              <a:t>7 km</a:t>
            </a:r>
            <a:endParaRPr lang="en-US" sz="1200" dirty="0"/>
          </a:p>
        </p:txBody>
      </p:sp>
      <p:sp>
        <p:nvSpPr>
          <p:cNvPr id="23" name="Rounded 62"/>
          <p:cNvSpPr/>
          <p:nvPr/>
        </p:nvSpPr>
        <p:spPr>
          <a:xfrm>
            <a:off x="9665208" y="3456432"/>
            <a:ext cx="850392" cy="310896"/>
          </a:xfrm>
          <a:prstGeom prst="roundRect">
            <a:avLst>
              <a:gd name="adj" fmla="val 17647"/>
            </a:avLst>
          </a:prstGeom>
          <a:solidFill>
            <a:schemeClr val="accent1"/>
          </a:solidFill>
          <a:ln/>
        </p:spPr>
      </p:sp>
      <p:sp>
        <p:nvSpPr>
          <p:cNvPr id="24" name="Text 63"/>
          <p:cNvSpPr txBox="1"/>
          <p:nvPr/>
        </p:nvSpPr>
        <p:spPr>
          <a:xfrm>
            <a:off x="9665208" y="3858768"/>
            <a:ext cx="850392" cy="256032"/>
          </a:xfrm>
          <a:prstGeom prst="rect">
            <a:avLst/>
          </a:prstGeom>
          <a:noFill/>
          <a:ln/>
        </p:spPr>
        <p:txBody>
          <a:bodyPr wrap="square" lIns="0" tIns="0" rIns="0" bIns="0" rtlCol="0" anchor="ctr"/>
          <a:lstStyle/>
          <a:p>
            <a:pPr algn="ctr" indent="0" marL="0">
              <a:buNone/>
            </a:pPr>
            <a:r>
              <a:rPr lang="en-US" sz="1200" dirty="0">
                <a:solidFill>
                  <a:schemeClr val="tx2"/>
                </a:solidFill>
              </a:rPr>
              <a:t>8 km</a:t>
            </a:r>
            <a:endParaRPr lang="en-US" sz="1200" dirty="0"/>
          </a:p>
        </p:txBody>
      </p:sp>
      <p:pic>
        <p:nvPicPr>
          <p:cNvPr id="25" name="Icon 64" descr="preencoded.png">    </p:cNvPr>
          <p:cNvPicPr>
            <a:picLocks noChangeAspect="1"/>
          </p:cNvPicPr>
          <p:nvPr/>
        </p:nvPicPr>
        <p:blipFill>
          <a:blip r:embed="rId1"/>
          <a:stretch>
            <a:fillRect/>
          </a:stretch>
        </p:blipFill>
        <p:spPr>
          <a:xfrm rot="5400000">
            <a:off x="10680192" y="3392424"/>
            <a:ext cx="438912" cy="438912"/>
          </a:xfrm>
          <a:prstGeom prst="rect">
            <a:avLst/>
          </a:prstGeom>
        </p:spPr>
      </p:pic>
      <p:sp>
        <p:nvSpPr>
          <p:cNvPr id="26" name="Text 65"/>
          <p:cNvSpPr txBox="1"/>
          <p:nvPr/>
        </p:nvSpPr>
        <p:spPr>
          <a:xfrm>
            <a:off x="3200400" y="2514600"/>
            <a:ext cx="4572000" cy="274320"/>
          </a:xfrm>
          <a:prstGeom prst="rect">
            <a:avLst/>
          </a:prstGeom>
          <a:noFill/>
          <a:ln/>
        </p:spPr>
        <p:txBody>
          <a:bodyPr wrap="square" lIns="0" tIns="0" rIns="0" bIns="0" rtlCol="0" anchor="ctr"/>
          <a:lstStyle/>
          <a:p>
            <a:pPr indent="0" marL="0">
              <a:buNone/>
            </a:pPr>
            <a:r>
              <a:rPr lang="en-US" sz="1400" dirty="0">
                <a:solidFill>
                  <a:schemeClr val="tx2"/>
                </a:solidFill>
              </a:rPr>
              <a:t>Each segment is one kilometre of cruise</a:t>
            </a:r>
            <a:endParaRPr lang="en-US" sz="1400" dirty="0"/>
          </a:p>
        </p:txBody>
      </p:sp>
      <p:sp>
        <p:nvSpPr>
          <p:cNvPr id="27" name="Text 66"/>
          <p:cNvSpPr txBox="1"/>
          <p:nvPr/>
        </p:nvSpPr>
        <p:spPr>
          <a:xfrm>
            <a:off x="7772400" y="2377440"/>
            <a:ext cx="2743200" cy="548640"/>
          </a:xfrm>
          <a:prstGeom prst="rect">
            <a:avLst/>
          </a:prstGeom>
          <a:noFill/>
          <a:ln/>
        </p:spPr>
        <p:txBody>
          <a:bodyPr wrap="square" lIns="0" tIns="0" rIns="0" bIns="0" rtlCol="0" anchor="ctr"/>
          <a:lstStyle/>
          <a:p>
            <a:pPr algn="r" indent="0" marL="0">
              <a:buNone/>
            </a:pPr>
            <a:r>
              <a:rPr lang="en-US" sz="3600" b="1" spc="-100" kern="0" dirty="0">
                <a:solidFill>
                  <a:schemeClr val="tx1"/>
                </a:solidFill>
              </a:rPr>
              <a:t>≈ 8 km</a:t>
            </a:r>
            <a:endParaRPr lang="en-US" sz="3600" dirty="0"/>
          </a:p>
        </p:txBody>
      </p:sp>
      <p:sp>
        <p:nvSpPr>
          <p:cNvPr id="25" name="Slide Number Placeholder 0"/>
          <p:cNvSpPr>
            <a:spLocks noGrp="1"/>
          </p:cNvSpPr>
          <p:nvPr>
            <p:ph type="sldNum" sz="quarter" idx="4294967295"/>
          </p:nvPr>
        </p:nvSpPr>
        <p:spPr>
          <a:xfrm>
            <a:off x="1127455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36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731520" y="475488"/>
            <a:ext cx="10728655" cy="731520"/>
          </a:xfrm>
          <a:prstGeom prst="rect">
            <a:avLst/>
          </a:prstGeom>
          <a:noFill/>
          <a:ln/>
        </p:spPr>
        <p:txBody>
          <a:bodyPr wrap="square" lIns="0" tIns="0" rIns="0" bIns="0" rtlCol="0" anchor="ctr"/>
          <a:lstStyle/>
          <a:p>
            <a:pPr algn="ctr" indent="0" marL="0">
              <a:buNone/>
            </a:pPr>
            <a:r>
              <a:rPr lang="en-US" sz="3600" b="1" spc="-100" kern="0" dirty="0">
                <a:solidFill>
                  <a:schemeClr val="tx1"/>
                </a:solidFill>
              </a:rPr>
              <a:t>One wingspan is longer than the first flight</a:t>
            </a:r>
            <a:endParaRPr lang="en-US" sz="3600" dirty="0"/>
          </a:p>
        </p:txBody>
      </p:sp>
      <p:sp>
        <p:nvSpPr>
          <p:cNvPr id="3" name="Text 0"/>
          <p:cNvSpPr/>
          <p:nvPr>
            <p:ph idx="101" type="body" hasCustomPrompt="1"/>
          </p:nvPr>
        </p:nvSpPr>
        <p:spPr>
          <a:xfrm>
            <a:off x="1280160" y="1225296"/>
            <a:ext cx="9631375" cy="411480"/>
          </a:xfrm>
          <a:prstGeom prst="rect">
            <a:avLst/>
          </a:prstGeom>
          <a:noFill/>
          <a:ln/>
        </p:spPr>
        <p:txBody>
          <a:bodyPr wrap="square" lIns="0" tIns="0" rIns="0" bIns="0" rtlCol="0" anchor="t"/>
          <a:lstStyle/>
          <a:p>
            <a:pPr algn="ctr" indent="0" marL="0">
              <a:buNone/>
            </a:pPr>
            <a:r>
              <a:rPr lang="en-US" sz="1800" dirty="0">
                <a:solidFill>
                  <a:schemeClr val="tx2"/>
                </a:solidFill>
              </a:rPr>
              <a:t>Two lines at the same scale; the difference is just 3 feet (about 0.91 m)</a:t>
            </a:r>
            <a:endParaRPr lang="en-US" sz="1800" dirty="0"/>
          </a:p>
        </p:txBody>
      </p:sp>
      <p:sp>
        <p:nvSpPr>
          <p:cNvPr id="4" name="Text 0"/>
          <p:cNvSpPr/>
          <p:nvPr>
            <p:ph idx="102" type="body" hasCustomPrompt="1"/>
          </p:nvPr>
        </p:nvSpPr>
        <p:spPr>
          <a:xfrm>
            <a:off x="1280160" y="5413248"/>
            <a:ext cx="9631375" cy="457200"/>
          </a:xfrm>
          <a:prstGeom prst="rect">
            <a:avLst/>
          </a:prstGeom>
          <a:noFill/>
          <a:ln/>
        </p:spPr>
        <p:txBody>
          <a:bodyPr wrap="square" lIns="0" tIns="0" rIns="0" bIns="0" rtlCol="0" anchor="ctr"/>
          <a:lstStyle/>
          <a:p>
            <a:pPr algn="ctr" indent="0" marL="0">
              <a:buNone/>
            </a:pPr>
            <a:r>
              <a:rPr lang="en-US" sz="2000" dirty="0">
                <a:solidFill>
                  <a:schemeClr val="tx1"/>
                </a:solidFill>
              </a:rPr>
              <a:t>The first distance humans ever flew later became roughly the width of one airliner</a:t>
            </a:r>
            <a:endParaRPr lang="en-US" sz="2000" dirty="0"/>
          </a:p>
        </p:txBody>
      </p:sp>
      <p:sp>
        <p:nvSpPr>
          <p:cNvPr id="5" name="Text 0"/>
          <p:cNvSpPr/>
          <p:nvPr>
            <p:ph idx="103" type="body" hasCustomPrompt="1"/>
          </p:nvPr>
        </p:nvSpPr>
        <p:spPr>
          <a:xfrm>
            <a:off x="1280160" y="5961888"/>
            <a:ext cx="9631375" cy="502920"/>
          </a:xfrm>
          <a:prstGeom prst="rect">
            <a:avLst/>
          </a:prstGeom>
          <a:noFill/>
          <a:ln/>
        </p:spPr>
        <p:txBody>
          <a:bodyPr wrap="square" lIns="0" tIns="0" rIns="0" bIns="0" rtlCol="0" anchor="t"/>
          <a:lstStyle/>
          <a:p>
            <a:pPr algn="ctr" indent="0" marL="0">
              <a:buNone/>
            </a:pPr>
            <a:r>
              <a:rPr lang="en-US" sz="1100" dirty="0">
                <a:solidFill>
                  <a:schemeClr val="tx2"/>
                </a:solidFill>
              </a:rPr>
              <a:t>Wingspan from SCFA HB-RSC data; first-flight distance from the U.S. National Park Service. Wingspan is tip to tip, not a single wing.</a:t>
            </a:r>
            <a:endParaRPr lang="en-US" sz="1100" dirty="0"/>
          </a:p>
        </p:txBody>
      </p:sp>
      <p:sp>
        <p:nvSpPr>
          <p:cNvPr id="7" name="Text 67"/>
          <p:cNvSpPr txBox="1"/>
          <p:nvPr/>
        </p:nvSpPr>
        <p:spPr>
          <a:xfrm>
            <a:off x="1097280" y="2011680"/>
            <a:ext cx="6400800" cy="365760"/>
          </a:xfrm>
          <a:prstGeom prst="rect">
            <a:avLst/>
          </a:prstGeom>
          <a:noFill/>
          <a:ln/>
        </p:spPr>
        <p:txBody>
          <a:bodyPr wrap="square" lIns="0" tIns="0" rIns="0" bIns="0" rtlCol="0" anchor="b"/>
          <a:lstStyle/>
          <a:p>
            <a:pPr indent="0" marL="0">
              <a:buNone/>
            </a:pPr>
            <a:r>
              <a:rPr lang="en-US" sz="1600" dirty="0">
                <a:solidFill>
                  <a:schemeClr val="tx1"/>
                </a:solidFill>
              </a:rPr>
              <a:t>First flight, 1903</a:t>
            </a:r>
            <a:endParaRPr lang="en-US" sz="1600" dirty="0"/>
          </a:p>
        </p:txBody>
      </p:sp>
      <p:sp>
        <p:nvSpPr>
          <p:cNvPr id="8" name="Shape 68"/>
          <p:cNvSpPr/>
          <p:nvPr/>
        </p:nvSpPr>
        <p:spPr>
          <a:xfrm>
            <a:off x="1097280" y="2688336"/>
            <a:ext cx="8385717" cy="109728"/>
          </a:xfrm>
          <a:prstGeom prst="rect">
            <a:avLst/>
          </a:prstGeom>
          <a:solidFill>
            <a:schemeClr val="accent5"/>
          </a:solidFill>
          <a:ln/>
        </p:spPr>
      </p:sp>
      <p:sp>
        <p:nvSpPr>
          <p:cNvPr id="9" name="Shape 69"/>
          <p:cNvSpPr/>
          <p:nvPr/>
        </p:nvSpPr>
        <p:spPr>
          <a:xfrm>
            <a:off x="9455565" y="2542032"/>
            <a:ext cx="27432" cy="402336"/>
          </a:xfrm>
          <a:prstGeom prst="rect">
            <a:avLst/>
          </a:prstGeom>
          <a:solidFill>
            <a:schemeClr val="accent5"/>
          </a:solidFill>
          <a:ln/>
        </p:spPr>
      </p:sp>
      <p:sp>
        <p:nvSpPr>
          <p:cNvPr id="10" name="Shape 70"/>
          <p:cNvSpPr/>
          <p:nvPr/>
        </p:nvSpPr>
        <p:spPr>
          <a:xfrm>
            <a:off x="1097280" y="2542032"/>
            <a:ext cx="27432" cy="402336"/>
          </a:xfrm>
          <a:prstGeom prst="rect">
            <a:avLst/>
          </a:prstGeom>
          <a:solidFill>
            <a:schemeClr val="accent5"/>
          </a:solidFill>
          <a:ln/>
        </p:spPr>
      </p:sp>
      <p:sp>
        <p:nvSpPr>
          <p:cNvPr id="11" name="Text 71"/>
          <p:cNvSpPr txBox="1"/>
          <p:nvPr/>
        </p:nvSpPr>
        <p:spPr>
          <a:xfrm>
            <a:off x="9966960" y="2468880"/>
            <a:ext cx="1463040" cy="548640"/>
          </a:xfrm>
          <a:prstGeom prst="rect">
            <a:avLst/>
          </a:prstGeom>
          <a:noFill/>
          <a:ln/>
        </p:spPr>
        <p:txBody>
          <a:bodyPr wrap="square" lIns="0" tIns="0" rIns="0" bIns="0" rtlCol="0" anchor="ctr"/>
          <a:lstStyle/>
          <a:p>
            <a:pPr indent="0" marL="0">
              <a:buNone/>
            </a:pPr>
            <a:r>
              <a:rPr lang="en-US" sz="2400" b="1" dirty="0">
                <a:solidFill>
                  <a:schemeClr val="tx1"/>
                </a:solidFill>
              </a:rPr>
              <a:t>120 ft</a:t>
            </a:r>
            <a:endParaRPr lang="en-US" sz="2400" dirty="0"/>
          </a:p>
        </p:txBody>
      </p:sp>
      <p:sp>
        <p:nvSpPr>
          <p:cNvPr id="12" name="Text 72"/>
          <p:cNvSpPr txBox="1"/>
          <p:nvPr/>
        </p:nvSpPr>
        <p:spPr>
          <a:xfrm>
            <a:off x="1097280" y="3337560"/>
            <a:ext cx="6400800" cy="365760"/>
          </a:xfrm>
          <a:prstGeom prst="rect">
            <a:avLst/>
          </a:prstGeom>
          <a:noFill/>
          <a:ln/>
        </p:spPr>
        <p:txBody>
          <a:bodyPr wrap="square" lIns="0" tIns="0" rIns="0" bIns="0" rtlCol="0" anchor="b"/>
          <a:lstStyle/>
          <a:p>
            <a:pPr indent="0" marL="0">
              <a:buNone/>
            </a:pPr>
            <a:r>
              <a:rPr lang="en-US" sz="1600" dirty="0">
                <a:solidFill>
                  <a:schemeClr val="tx1"/>
                </a:solidFill>
              </a:rPr>
              <a:t>Super Constellation, full wingspan</a:t>
            </a:r>
            <a:endParaRPr lang="en-US" sz="1600" dirty="0"/>
          </a:p>
        </p:txBody>
      </p:sp>
      <p:sp>
        <p:nvSpPr>
          <p:cNvPr id="13" name="Shape 73"/>
          <p:cNvSpPr/>
          <p:nvPr/>
        </p:nvSpPr>
        <p:spPr>
          <a:xfrm>
            <a:off x="1097280" y="4014216"/>
            <a:ext cx="8595360" cy="109728"/>
          </a:xfrm>
          <a:prstGeom prst="rect">
            <a:avLst/>
          </a:prstGeom>
          <a:solidFill>
            <a:schemeClr val="accent1"/>
          </a:solidFill>
          <a:ln/>
        </p:spPr>
      </p:sp>
      <p:sp>
        <p:nvSpPr>
          <p:cNvPr id="14" name="Shape 74"/>
          <p:cNvSpPr/>
          <p:nvPr/>
        </p:nvSpPr>
        <p:spPr>
          <a:xfrm>
            <a:off x="9665208" y="3867912"/>
            <a:ext cx="27432" cy="402336"/>
          </a:xfrm>
          <a:prstGeom prst="rect">
            <a:avLst/>
          </a:prstGeom>
          <a:solidFill>
            <a:schemeClr val="accent1"/>
          </a:solidFill>
          <a:ln/>
        </p:spPr>
      </p:sp>
      <p:sp>
        <p:nvSpPr>
          <p:cNvPr id="15" name="Shape 75"/>
          <p:cNvSpPr/>
          <p:nvPr/>
        </p:nvSpPr>
        <p:spPr>
          <a:xfrm>
            <a:off x="1097280" y="3867912"/>
            <a:ext cx="27432" cy="402336"/>
          </a:xfrm>
          <a:prstGeom prst="rect">
            <a:avLst/>
          </a:prstGeom>
          <a:solidFill>
            <a:schemeClr val="accent1"/>
          </a:solidFill>
          <a:ln/>
        </p:spPr>
      </p:sp>
      <p:sp>
        <p:nvSpPr>
          <p:cNvPr id="16" name="Text 76"/>
          <p:cNvSpPr txBox="1"/>
          <p:nvPr/>
        </p:nvSpPr>
        <p:spPr>
          <a:xfrm>
            <a:off x="9966960" y="3794760"/>
            <a:ext cx="1463040" cy="548640"/>
          </a:xfrm>
          <a:prstGeom prst="rect">
            <a:avLst/>
          </a:prstGeom>
          <a:noFill/>
          <a:ln/>
        </p:spPr>
        <p:txBody>
          <a:bodyPr wrap="square" lIns="0" tIns="0" rIns="0" bIns="0" rtlCol="0" anchor="ctr"/>
          <a:lstStyle/>
          <a:p>
            <a:pPr indent="0" marL="0">
              <a:buNone/>
            </a:pPr>
            <a:r>
              <a:rPr lang="en-US" sz="2400" b="1" dirty="0">
                <a:solidFill>
                  <a:schemeClr val="tx1"/>
                </a:solidFill>
              </a:rPr>
              <a:t>123 ft</a:t>
            </a:r>
            <a:endParaRPr lang="en-US" sz="2400" dirty="0"/>
          </a:p>
        </p:txBody>
      </p:sp>
      <p:sp>
        <p:nvSpPr>
          <p:cNvPr id="17" name="Line 77"/>
          <p:cNvSpPr/>
          <p:nvPr/>
        </p:nvSpPr>
        <p:spPr>
          <a:xfrm>
            <a:off x="9482997" y="3017520"/>
            <a:ext cx="0" cy="1371600"/>
          </a:xfrm>
          <a:prstGeom prst="line">
            <a:avLst/>
          </a:prstGeom>
          <a:noFill/>
          <a:ln w="9525">
            <a:solidFill>
              <a:schemeClr val="accent2"/>
            </a:solidFill>
            <a:prstDash val="dash"/>
          </a:ln>
        </p:spPr>
      </p:sp>
      <p:sp>
        <p:nvSpPr>
          <p:cNvPr id="18" name="Text 78"/>
          <p:cNvSpPr txBox="1"/>
          <p:nvPr/>
        </p:nvSpPr>
        <p:spPr>
          <a:xfrm>
            <a:off x="9592725" y="3611880"/>
            <a:ext cx="1097280" cy="274320"/>
          </a:xfrm>
          <a:prstGeom prst="rect">
            <a:avLst/>
          </a:prstGeom>
          <a:noFill/>
          <a:ln/>
        </p:spPr>
        <p:txBody>
          <a:bodyPr wrap="square" lIns="0" tIns="0" rIns="0" bIns="0" rtlCol="0" anchor="ctr"/>
          <a:lstStyle/>
          <a:p>
            <a:pPr indent="0" marL="0">
              <a:buNone/>
            </a:pPr>
            <a:r>
              <a:rPr lang="en-US" sz="1300" b="1" dirty="0">
                <a:solidFill>
                  <a:schemeClr val="accent1"/>
                </a:solidFill>
              </a:rPr>
              <a:t>+3 ft</a:t>
            </a:r>
            <a:endParaRPr lang="en-US" sz="1300" dirty="0"/>
          </a:p>
        </p:txBody>
      </p:sp>
      <p:sp>
        <p:nvSpPr>
          <p:cNvPr id="25" name="Slide Number Placeholder 0"/>
          <p:cNvSpPr>
            <a:spLocks noGrp="1"/>
          </p:cNvSpPr>
          <p:nvPr>
            <p:ph type="sldNum" sz="quarter" idx="4294967295"/>
          </p:nvPr>
        </p:nvSpPr>
        <p:spPr>
          <a:xfrm>
            <a:off x="1127455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36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731520" y="475488"/>
            <a:ext cx="10728655" cy="731520"/>
          </a:xfrm>
          <a:prstGeom prst="rect">
            <a:avLst/>
          </a:prstGeom>
          <a:noFill/>
          <a:ln/>
        </p:spPr>
        <p:txBody>
          <a:bodyPr wrap="square" lIns="0" tIns="0" rIns="0" bIns="0" rtlCol="0" anchor="ctr"/>
          <a:lstStyle/>
          <a:p>
            <a:pPr algn="ctr" indent="0" marL="0">
              <a:buNone/>
            </a:pPr>
            <a:r>
              <a:rPr lang="en-US" sz="3600" b="1" spc="-100" kern="0" dirty="0">
                <a:solidFill>
                  <a:schemeClr val="tx1"/>
                </a:solidFill>
              </a:rPr>
              <a:t>Behind the comfort, an engineering system</a:t>
            </a:r>
            <a:endParaRPr lang="en-US" sz="3600" dirty="0"/>
          </a:p>
        </p:txBody>
      </p:sp>
      <p:sp>
        <p:nvSpPr>
          <p:cNvPr id="3" name="Text 0"/>
          <p:cNvSpPr/>
          <p:nvPr>
            <p:ph idx="101" type="body" hasCustomPrompt="1"/>
          </p:nvPr>
        </p:nvSpPr>
        <p:spPr>
          <a:xfrm>
            <a:off x="1280160" y="1225296"/>
            <a:ext cx="9631375" cy="411480"/>
          </a:xfrm>
          <a:prstGeom prst="rect">
            <a:avLst/>
          </a:prstGeom>
          <a:noFill/>
          <a:ln/>
        </p:spPr>
        <p:txBody>
          <a:bodyPr wrap="square" lIns="0" tIns="0" rIns="0" bIns="0" rtlCol="0" anchor="t"/>
          <a:lstStyle/>
          <a:p>
            <a:pPr algn="ctr" indent="0" marL="0">
              <a:buNone/>
            </a:pPr>
            <a:r>
              <a:rPr lang="en-US" sz="1800" dirty="0">
                <a:solidFill>
                  <a:schemeClr val="tx2"/>
                </a:solidFill>
              </a:rPr>
              <a:t>Pressurization looks after passengers; hydraulic boost helps pilots control the aircraft</a:t>
            </a:r>
            <a:endParaRPr lang="en-US" sz="1800" dirty="0"/>
          </a:p>
        </p:txBody>
      </p:sp>
      <p:sp>
        <p:nvSpPr>
          <p:cNvPr id="4" name="Text 0"/>
          <p:cNvSpPr/>
          <p:nvPr>
            <p:ph idx="102" type="body" hasCustomPrompt="1"/>
          </p:nvPr>
        </p:nvSpPr>
        <p:spPr>
          <a:xfrm>
            <a:off x="1280160" y="5413248"/>
            <a:ext cx="9631375" cy="457200"/>
          </a:xfrm>
          <a:prstGeom prst="rect">
            <a:avLst/>
          </a:prstGeom>
          <a:noFill/>
          <a:ln/>
        </p:spPr>
        <p:txBody>
          <a:bodyPr wrap="square" lIns="0" tIns="0" rIns="0" bIns="0" rtlCol="0" anchor="ctr"/>
          <a:lstStyle/>
          <a:p>
            <a:pPr algn="ctr" indent="0" marL="0">
              <a:buNone/>
            </a:pPr>
            <a:r>
              <a:rPr lang="en-US" sz="2000" dirty="0">
                <a:solidFill>
                  <a:schemeClr val="tx1"/>
                </a:solidFill>
              </a:rPr>
              <a:t>Flying higher avoids some weather, but it doesn't mean no turbulence</a:t>
            </a:r>
            <a:endParaRPr lang="en-US" sz="2000" dirty="0"/>
          </a:p>
        </p:txBody>
      </p:sp>
      <p:sp>
        <p:nvSpPr>
          <p:cNvPr id="5" name="Text 0"/>
          <p:cNvSpPr/>
          <p:nvPr>
            <p:ph idx="103" type="body" hasCustomPrompt="1"/>
          </p:nvPr>
        </p:nvSpPr>
        <p:spPr>
          <a:xfrm>
            <a:off x="1280160" y="5961888"/>
            <a:ext cx="9631375" cy="502920"/>
          </a:xfrm>
          <a:prstGeom prst="rect">
            <a:avLst/>
          </a:prstGeom>
          <a:noFill/>
          <a:ln/>
        </p:spPr>
        <p:txBody>
          <a:bodyPr wrap="square" lIns="0" tIns="0" rIns="0" bIns="0" rtlCol="0" anchor="t"/>
          <a:lstStyle/>
          <a:p>
            <a:pPr algn="ctr" indent="0" marL="0">
              <a:buNone/>
            </a:pPr>
            <a:r>
              <a:rPr lang="en-US" sz="1100" dirty="0">
                <a:solidFill>
                  <a:schemeClr val="tx2"/>
                </a:solidFill>
              </a:rPr>
              <a:t>The Boeing 307 was the first pressurized airliner. Arrows are schematic, not a precision system diagram.</a:t>
            </a:r>
            <a:endParaRPr lang="en-US" sz="1100" dirty="0"/>
          </a:p>
        </p:txBody>
      </p:sp>
      <p:sp>
        <p:nvSpPr>
          <p:cNvPr id="7" name="Rounded 79"/>
          <p:cNvSpPr/>
          <p:nvPr/>
        </p:nvSpPr>
        <p:spPr>
          <a:xfrm>
            <a:off x="732892" y="1874520"/>
            <a:ext cx="5120640" cy="3291840"/>
          </a:xfrm>
          <a:prstGeom prst="roundRect">
            <a:avLst>
              <a:gd name="adj" fmla="val 6111"/>
            </a:avLst>
          </a:prstGeom>
          <a:solidFill>
            <a:schemeClr val="bg2"/>
          </a:solidFill>
          <a:ln/>
        </p:spPr>
      </p:sp>
      <p:sp>
        <p:nvSpPr>
          <p:cNvPr id="8" name="Text 80"/>
          <p:cNvSpPr txBox="1"/>
          <p:nvPr/>
        </p:nvSpPr>
        <p:spPr>
          <a:xfrm>
            <a:off x="1144372" y="2194560"/>
            <a:ext cx="2743200" cy="274320"/>
          </a:xfrm>
          <a:prstGeom prst="rect">
            <a:avLst/>
          </a:prstGeom>
          <a:noFill/>
          <a:ln/>
        </p:spPr>
        <p:txBody>
          <a:bodyPr wrap="square" lIns="0" tIns="0" rIns="0" bIns="0" rtlCol="0" anchor="ctr"/>
          <a:lstStyle/>
          <a:p>
            <a:pPr algn="l" indent="0" marL="0">
              <a:buNone/>
            </a:pPr>
            <a:r>
              <a:rPr lang="en-US" sz="1100" b="1" spc="300" kern="0" dirty="0">
                <a:solidFill>
                  <a:schemeClr val="accent1"/>
                </a:solidFill>
              </a:rPr>
              <a:t>PASSENGERS</a:t>
            </a:r>
            <a:endParaRPr lang="en-US" sz="1100" dirty="0"/>
          </a:p>
        </p:txBody>
      </p:sp>
      <p:sp>
        <p:nvSpPr>
          <p:cNvPr id="9" name="Text 81"/>
          <p:cNvSpPr txBox="1"/>
          <p:nvPr/>
        </p:nvSpPr>
        <p:spPr>
          <a:xfrm>
            <a:off x="1144372" y="2468880"/>
            <a:ext cx="4114800" cy="411480"/>
          </a:xfrm>
          <a:prstGeom prst="rect">
            <a:avLst/>
          </a:prstGeom>
          <a:noFill/>
          <a:ln/>
        </p:spPr>
        <p:txBody>
          <a:bodyPr wrap="square" lIns="0" tIns="0" rIns="0" bIns="0" rtlCol="0" anchor="ctr"/>
          <a:lstStyle/>
          <a:p>
            <a:pPr indent="0" marL="0">
              <a:buNone/>
            </a:pPr>
            <a:r>
              <a:rPr lang="en-US" sz="2200" b="1" dirty="0">
                <a:solidFill>
                  <a:schemeClr val="tx1"/>
                </a:solidFill>
              </a:rPr>
              <a:t>Pressurization</a:t>
            </a:r>
            <a:endParaRPr lang="en-US" sz="2200" dirty="0"/>
          </a:p>
        </p:txBody>
      </p:sp>
      <p:sp>
        <p:nvSpPr>
          <p:cNvPr id="10" name="Rounded 82"/>
          <p:cNvSpPr/>
          <p:nvPr/>
        </p:nvSpPr>
        <p:spPr>
          <a:xfrm>
            <a:off x="1601572" y="3291840"/>
            <a:ext cx="2286000" cy="868680"/>
          </a:xfrm>
          <a:prstGeom prst="roundRect">
            <a:avLst>
              <a:gd name="adj" fmla="val 50000"/>
            </a:avLst>
          </a:prstGeom>
          <a:solidFill>
            <a:schemeClr val="accent4"/>
          </a:solidFill>
          <a:ln/>
        </p:spPr>
      </p:sp>
      <p:sp>
        <p:nvSpPr>
          <p:cNvPr id="11" name="Text 83"/>
          <p:cNvSpPr txBox="1"/>
          <p:nvPr/>
        </p:nvSpPr>
        <p:spPr>
          <a:xfrm>
            <a:off x="1601572" y="3291840"/>
            <a:ext cx="2286000" cy="868680"/>
          </a:xfrm>
          <a:prstGeom prst="rect">
            <a:avLst/>
          </a:prstGeom>
          <a:noFill/>
          <a:ln/>
        </p:spPr>
        <p:txBody>
          <a:bodyPr wrap="square" lIns="0" tIns="0" rIns="0" bIns="0" rtlCol="0" anchor="ctr"/>
          <a:lstStyle/>
          <a:p>
            <a:pPr algn="ctr" indent="0" marL="0">
              <a:lnSpc>
                <a:spcPct val="105000"/>
              </a:lnSpc>
              <a:buNone/>
            </a:pPr>
            <a:r>
              <a:rPr lang="en-US" sz="1300" b="1" dirty="0">
                <a:solidFill>
                  <a:schemeClr val="tx1"/>
                </a:solidFill>
              </a:rPr>
              <a:t>Cabin</a:t>
            </a:r>
            <a:endParaRPr lang="en-US" sz="1300" dirty="0"/>
          </a:p>
          <a:p>
            <a:pPr algn="ctr" indent="0" marL="0">
              <a:lnSpc>
                <a:spcPct val="105000"/>
              </a:lnSpc>
              <a:buNone/>
            </a:pPr>
            <a:r>
              <a:rPr lang="en-US" sz="1300" b="1" dirty="0">
                <a:solidFill>
                  <a:schemeClr val="tx1"/>
                </a:solidFill>
              </a:rPr>
              <a:t>higher pressure</a:t>
            </a:r>
            <a:endParaRPr lang="en-US" sz="1300" dirty="0"/>
          </a:p>
        </p:txBody>
      </p:sp>
      <p:sp>
        <p:nvSpPr>
          <p:cNvPr id="12" name="Arrow 84"/>
          <p:cNvSpPr/>
          <p:nvPr/>
        </p:nvSpPr>
        <p:spPr>
          <a:xfrm>
            <a:off x="1601572" y="3726180"/>
            <a:ext cx="-292608" cy="0"/>
          </a:xfrm>
          <a:prstGeom prst="line">
            <a:avLst/>
          </a:prstGeom>
          <a:noFill/>
          <a:ln w="15875">
            <a:solidFill>
              <a:schemeClr val="tx2"/>
            </a:solidFill>
            <a:prstDash val="solid"/>
            <a:tailEnd type="triangle"/>
          </a:ln>
        </p:spPr>
      </p:sp>
      <p:sp>
        <p:nvSpPr>
          <p:cNvPr id="13" name="Arrow 85"/>
          <p:cNvSpPr/>
          <p:nvPr/>
        </p:nvSpPr>
        <p:spPr>
          <a:xfrm>
            <a:off x="3887572" y="3726180"/>
            <a:ext cx="292608" cy="0"/>
          </a:xfrm>
          <a:prstGeom prst="line">
            <a:avLst/>
          </a:prstGeom>
          <a:noFill/>
          <a:ln w="15875">
            <a:solidFill>
              <a:schemeClr val="tx2"/>
            </a:solidFill>
            <a:prstDash val="solid"/>
            <a:tailEnd type="triangle"/>
          </a:ln>
        </p:spPr>
      </p:sp>
      <p:sp>
        <p:nvSpPr>
          <p:cNvPr id="14" name="Arrow 86"/>
          <p:cNvSpPr/>
          <p:nvPr/>
        </p:nvSpPr>
        <p:spPr>
          <a:xfrm>
            <a:off x="2744572" y="3291840"/>
            <a:ext cx="0" cy="-292608"/>
          </a:xfrm>
          <a:prstGeom prst="line">
            <a:avLst/>
          </a:prstGeom>
          <a:noFill/>
          <a:ln w="15875">
            <a:solidFill>
              <a:schemeClr val="tx2"/>
            </a:solidFill>
            <a:prstDash val="solid"/>
            <a:tailEnd type="triangle"/>
          </a:ln>
        </p:spPr>
      </p:sp>
      <p:sp>
        <p:nvSpPr>
          <p:cNvPr id="15" name="Arrow 87"/>
          <p:cNvSpPr/>
          <p:nvPr/>
        </p:nvSpPr>
        <p:spPr>
          <a:xfrm>
            <a:off x="2744572" y="4160520"/>
            <a:ext cx="0" cy="292608"/>
          </a:xfrm>
          <a:prstGeom prst="line">
            <a:avLst/>
          </a:prstGeom>
          <a:noFill/>
          <a:ln w="15875">
            <a:solidFill>
              <a:schemeClr val="tx2"/>
            </a:solidFill>
            <a:prstDash val="solid"/>
            <a:tailEnd type="triangle"/>
          </a:ln>
        </p:spPr>
      </p:sp>
      <p:sp>
        <p:nvSpPr>
          <p:cNvPr id="16" name="Text 88"/>
          <p:cNvSpPr txBox="1"/>
          <p:nvPr/>
        </p:nvSpPr>
        <p:spPr>
          <a:xfrm>
            <a:off x="4299052" y="3497580"/>
            <a:ext cx="1371600" cy="457200"/>
          </a:xfrm>
          <a:prstGeom prst="rect">
            <a:avLst/>
          </a:prstGeom>
          <a:noFill/>
          <a:ln/>
        </p:spPr>
        <p:txBody>
          <a:bodyPr wrap="square" lIns="0" tIns="0" rIns="0" bIns="0" rtlCol="0" anchor="ctr"/>
          <a:lstStyle/>
          <a:p>
            <a:pPr indent="0" marL="0">
              <a:lnSpc>
                <a:spcPct val="105000"/>
              </a:lnSpc>
              <a:buNone/>
            </a:pPr>
            <a:r>
              <a:rPr lang="en-US" sz="1200" dirty="0">
                <a:solidFill>
                  <a:schemeClr val="tx2"/>
                </a:solidFill>
              </a:rPr>
              <a:t>Outside</a:t>
            </a:r>
            <a:endParaRPr lang="en-US" sz="1200" dirty="0"/>
          </a:p>
          <a:p>
            <a:pPr indent="0" marL="0">
              <a:lnSpc>
                <a:spcPct val="105000"/>
              </a:lnSpc>
              <a:buNone/>
            </a:pPr>
            <a:r>
              <a:rPr lang="en-US" sz="1200" dirty="0">
                <a:solidFill>
                  <a:schemeClr val="tx2"/>
                </a:solidFill>
              </a:rPr>
              <a:t>lower pressure</a:t>
            </a:r>
            <a:endParaRPr lang="en-US" sz="1200" dirty="0"/>
          </a:p>
        </p:txBody>
      </p:sp>
      <p:sp>
        <p:nvSpPr>
          <p:cNvPr id="17" name="Text 89"/>
          <p:cNvSpPr txBox="1"/>
          <p:nvPr/>
        </p:nvSpPr>
        <p:spPr>
          <a:xfrm>
            <a:off x="1144372" y="4389120"/>
            <a:ext cx="4297680" cy="548640"/>
          </a:xfrm>
          <a:prstGeom prst="rect">
            <a:avLst/>
          </a:prstGeom>
          <a:noFill/>
          <a:ln/>
        </p:spPr>
        <p:txBody>
          <a:bodyPr wrap="square" lIns="0" tIns="0" rIns="0" bIns="0" rtlCol="0" anchor="t"/>
          <a:lstStyle/>
          <a:p>
            <a:pPr indent="0" marL="0">
              <a:lnSpc>
                <a:spcPct val="110000"/>
              </a:lnSpc>
              <a:buNone/>
            </a:pPr>
            <a:r>
              <a:rPr lang="en-US" sz="1300" dirty="0">
                <a:solidFill>
                  <a:schemeClr val="tx2"/>
                </a:solidFill>
              </a:rPr>
              <a:t>The system regulates the pressure differential so the cabin stays comfortable at altitude</a:t>
            </a:r>
            <a:endParaRPr lang="en-US" sz="1300" dirty="0"/>
          </a:p>
        </p:txBody>
      </p:sp>
      <p:sp>
        <p:nvSpPr>
          <p:cNvPr id="18" name="Rounded 90"/>
          <p:cNvSpPr/>
          <p:nvPr/>
        </p:nvSpPr>
        <p:spPr>
          <a:xfrm>
            <a:off x="6338164" y="1874520"/>
            <a:ext cx="5120640" cy="3291840"/>
          </a:xfrm>
          <a:prstGeom prst="roundRect">
            <a:avLst>
              <a:gd name="adj" fmla="val 6111"/>
            </a:avLst>
          </a:prstGeom>
          <a:solidFill>
            <a:schemeClr val="bg2"/>
          </a:solidFill>
          <a:ln/>
        </p:spPr>
      </p:sp>
      <p:sp>
        <p:nvSpPr>
          <p:cNvPr id="19" name="Text 91"/>
          <p:cNvSpPr txBox="1"/>
          <p:nvPr/>
        </p:nvSpPr>
        <p:spPr>
          <a:xfrm>
            <a:off x="6749644" y="2194560"/>
            <a:ext cx="2743200" cy="274320"/>
          </a:xfrm>
          <a:prstGeom prst="rect">
            <a:avLst/>
          </a:prstGeom>
          <a:noFill/>
          <a:ln/>
        </p:spPr>
        <p:txBody>
          <a:bodyPr wrap="square" lIns="0" tIns="0" rIns="0" bIns="0" rtlCol="0" anchor="ctr"/>
          <a:lstStyle/>
          <a:p>
            <a:pPr algn="l" indent="0" marL="0">
              <a:buNone/>
            </a:pPr>
            <a:r>
              <a:rPr lang="en-US" sz="1100" b="1" spc="300" kern="0" dirty="0">
                <a:solidFill>
                  <a:schemeClr val="accent1"/>
                </a:solidFill>
              </a:rPr>
              <a:t>PILOTS</a:t>
            </a:r>
            <a:endParaRPr lang="en-US" sz="1100" dirty="0"/>
          </a:p>
        </p:txBody>
      </p:sp>
      <p:sp>
        <p:nvSpPr>
          <p:cNvPr id="20" name="Text 92"/>
          <p:cNvSpPr txBox="1"/>
          <p:nvPr/>
        </p:nvSpPr>
        <p:spPr>
          <a:xfrm>
            <a:off x="6749644" y="2468880"/>
            <a:ext cx="4114800" cy="411480"/>
          </a:xfrm>
          <a:prstGeom prst="rect">
            <a:avLst/>
          </a:prstGeom>
          <a:noFill/>
          <a:ln/>
        </p:spPr>
        <p:txBody>
          <a:bodyPr wrap="square" lIns="0" tIns="0" rIns="0" bIns="0" rtlCol="0" anchor="ctr"/>
          <a:lstStyle/>
          <a:p>
            <a:pPr indent="0" marL="0">
              <a:buNone/>
            </a:pPr>
            <a:r>
              <a:rPr lang="en-US" sz="2200" b="1" dirty="0">
                <a:solidFill>
                  <a:schemeClr val="tx1"/>
                </a:solidFill>
              </a:rPr>
              <a:t>Hydraulic boost</a:t>
            </a:r>
            <a:endParaRPr lang="en-US" sz="2200" dirty="0"/>
          </a:p>
        </p:txBody>
      </p:sp>
      <p:sp>
        <p:nvSpPr>
          <p:cNvPr id="21" name="Rounded 93"/>
          <p:cNvSpPr/>
          <p:nvPr/>
        </p:nvSpPr>
        <p:spPr>
          <a:xfrm>
            <a:off x="6566764" y="3447288"/>
            <a:ext cx="1298448" cy="548640"/>
          </a:xfrm>
          <a:prstGeom prst="roundRect">
            <a:avLst>
              <a:gd name="adj" fmla="val 50000"/>
            </a:avLst>
          </a:prstGeom>
          <a:solidFill>
            <a:schemeClr val="accent4"/>
          </a:solidFill>
          <a:ln/>
        </p:spPr>
      </p:sp>
      <p:sp>
        <p:nvSpPr>
          <p:cNvPr id="22" name="Text 94"/>
          <p:cNvSpPr txBox="1"/>
          <p:nvPr/>
        </p:nvSpPr>
        <p:spPr>
          <a:xfrm>
            <a:off x="6566764" y="3447288"/>
            <a:ext cx="1298448" cy="548640"/>
          </a:xfrm>
          <a:prstGeom prst="rect">
            <a:avLst/>
          </a:prstGeom>
          <a:noFill/>
          <a:ln/>
        </p:spPr>
        <p:txBody>
          <a:bodyPr wrap="square" lIns="0" tIns="0" rIns="0" bIns="0" rtlCol="0" anchor="ctr"/>
          <a:lstStyle/>
          <a:p>
            <a:pPr algn="ctr" indent="0" marL="0">
              <a:buNone/>
            </a:pPr>
            <a:r>
              <a:rPr lang="en-US" sz="1200" b="1" dirty="0">
                <a:solidFill>
                  <a:schemeClr val="tx1"/>
                </a:solidFill>
              </a:rPr>
              <a:t>Pilot input</a:t>
            </a:r>
            <a:endParaRPr lang="en-US" sz="1200" dirty="0"/>
          </a:p>
        </p:txBody>
      </p:sp>
      <p:sp>
        <p:nvSpPr>
          <p:cNvPr id="23" name="Arrow 95"/>
          <p:cNvSpPr/>
          <p:nvPr/>
        </p:nvSpPr>
        <p:spPr>
          <a:xfrm>
            <a:off x="7920076" y="3721608"/>
            <a:ext cx="274320" cy="0"/>
          </a:xfrm>
          <a:prstGeom prst="line">
            <a:avLst/>
          </a:prstGeom>
          <a:noFill/>
          <a:ln w="15875">
            <a:solidFill>
              <a:schemeClr val="tx2"/>
            </a:solidFill>
            <a:prstDash val="solid"/>
            <a:tailEnd type="triangle"/>
          </a:ln>
        </p:spPr>
      </p:sp>
      <p:sp>
        <p:nvSpPr>
          <p:cNvPr id="24" name="Rounded 96"/>
          <p:cNvSpPr/>
          <p:nvPr/>
        </p:nvSpPr>
        <p:spPr>
          <a:xfrm>
            <a:off x="8249260" y="3447288"/>
            <a:ext cx="1298448" cy="548640"/>
          </a:xfrm>
          <a:prstGeom prst="roundRect">
            <a:avLst>
              <a:gd name="adj" fmla="val 50000"/>
            </a:avLst>
          </a:prstGeom>
          <a:solidFill>
            <a:schemeClr val="accent1"/>
          </a:solidFill>
          <a:ln/>
        </p:spPr>
      </p:sp>
      <p:sp>
        <p:nvSpPr>
          <p:cNvPr id="25" name="Text 97"/>
          <p:cNvSpPr txBox="1"/>
          <p:nvPr/>
        </p:nvSpPr>
        <p:spPr>
          <a:xfrm>
            <a:off x="8249260" y="3447288"/>
            <a:ext cx="1298448" cy="548640"/>
          </a:xfrm>
          <a:prstGeom prst="rect">
            <a:avLst/>
          </a:prstGeom>
          <a:noFill/>
          <a:ln/>
        </p:spPr>
        <p:txBody>
          <a:bodyPr wrap="square" lIns="0" tIns="0" rIns="0" bIns="0" rtlCol="0" anchor="ctr"/>
          <a:lstStyle/>
          <a:p>
            <a:pPr algn="ctr" indent="0" marL="0">
              <a:buNone/>
            </a:pPr>
            <a:r>
              <a:rPr lang="en-US" sz="1200" b="1" dirty="0">
                <a:solidFill>
                  <a:schemeClr val="bg1"/>
                </a:solidFill>
              </a:rPr>
              <a:t>Hydraulic boost</a:t>
            </a:r>
            <a:endParaRPr lang="en-US" sz="1200" dirty="0"/>
          </a:p>
        </p:txBody>
      </p:sp>
      <p:sp>
        <p:nvSpPr>
          <p:cNvPr id="26" name="Arrow 98"/>
          <p:cNvSpPr/>
          <p:nvPr/>
        </p:nvSpPr>
        <p:spPr>
          <a:xfrm>
            <a:off x="9602572" y="3721608"/>
            <a:ext cx="274320" cy="0"/>
          </a:xfrm>
          <a:prstGeom prst="line">
            <a:avLst/>
          </a:prstGeom>
          <a:noFill/>
          <a:ln w="15875">
            <a:solidFill>
              <a:schemeClr val="tx2"/>
            </a:solidFill>
            <a:prstDash val="solid"/>
            <a:tailEnd type="triangle"/>
          </a:ln>
        </p:spPr>
      </p:sp>
      <p:sp>
        <p:nvSpPr>
          <p:cNvPr id="27" name="Rounded 99"/>
          <p:cNvSpPr/>
          <p:nvPr/>
        </p:nvSpPr>
        <p:spPr>
          <a:xfrm>
            <a:off x="9931756" y="3447288"/>
            <a:ext cx="1298448" cy="548640"/>
          </a:xfrm>
          <a:prstGeom prst="roundRect">
            <a:avLst>
              <a:gd name="adj" fmla="val 50000"/>
            </a:avLst>
          </a:prstGeom>
          <a:solidFill>
            <a:schemeClr val="accent4"/>
          </a:solidFill>
          <a:ln/>
        </p:spPr>
      </p:sp>
      <p:sp>
        <p:nvSpPr>
          <p:cNvPr id="28" name="Text 100"/>
          <p:cNvSpPr txBox="1"/>
          <p:nvPr/>
        </p:nvSpPr>
        <p:spPr>
          <a:xfrm>
            <a:off x="9931756" y="3447288"/>
            <a:ext cx="1298448" cy="548640"/>
          </a:xfrm>
          <a:prstGeom prst="rect">
            <a:avLst/>
          </a:prstGeom>
          <a:noFill/>
          <a:ln/>
        </p:spPr>
        <p:txBody>
          <a:bodyPr wrap="square" lIns="0" tIns="0" rIns="0" bIns="0" rtlCol="0" anchor="ctr"/>
          <a:lstStyle/>
          <a:p>
            <a:pPr algn="ctr" indent="0" marL="0">
              <a:buNone/>
            </a:pPr>
            <a:r>
              <a:rPr lang="en-US" sz="1200" b="1" dirty="0">
                <a:solidFill>
                  <a:schemeClr val="tx1"/>
                </a:solidFill>
              </a:rPr>
              <a:t>Control surfaces</a:t>
            </a:r>
            <a:endParaRPr lang="en-US" sz="1200" dirty="0"/>
          </a:p>
        </p:txBody>
      </p:sp>
      <p:sp>
        <p:nvSpPr>
          <p:cNvPr id="29" name="Text 101"/>
          <p:cNvSpPr txBox="1"/>
          <p:nvPr/>
        </p:nvSpPr>
        <p:spPr>
          <a:xfrm>
            <a:off x="6749644" y="4389120"/>
            <a:ext cx="4297680" cy="548640"/>
          </a:xfrm>
          <a:prstGeom prst="rect">
            <a:avLst/>
          </a:prstGeom>
          <a:noFill/>
          <a:ln/>
        </p:spPr>
        <p:txBody>
          <a:bodyPr wrap="square" lIns="0" tIns="0" rIns="0" bIns="0" rtlCol="0" anchor="t"/>
          <a:lstStyle/>
          <a:p>
            <a:pPr indent="0" marL="0">
              <a:lnSpc>
                <a:spcPct val="110000"/>
              </a:lnSpc>
              <a:buNone/>
            </a:pPr>
            <a:r>
              <a:rPr lang="en-US" sz="1300" dirty="0">
                <a:solidFill>
                  <a:schemeClr val="tx2"/>
                </a:solidFill>
              </a:rPr>
              <a:t>Boost amplifies the pilot's control inputs, so a large aircraft stays easy to handle</a:t>
            </a:r>
            <a:endParaRPr lang="en-US" sz="1300" dirty="0"/>
          </a:p>
        </p:txBody>
      </p:sp>
      <p:sp>
        <p:nvSpPr>
          <p:cNvPr id="25" name="Slide Number Placeholder 0"/>
          <p:cNvSpPr>
            <a:spLocks noGrp="1"/>
          </p:cNvSpPr>
          <p:nvPr>
            <p:ph type="sldNum" sz="quarter" idx="4294967295"/>
          </p:nvPr>
        </p:nvSpPr>
        <p:spPr>
          <a:xfrm>
            <a:off x="1127455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36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102"/>
          <p:cNvSpPr txBox="1"/>
          <p:nvPr/>
        </p:nvSpPr>
        <p:spPr>
          <a:xfrm>
            <a:off x="822960" y="685800"/>
            <a:ext cx="6400800" cy="822960"/>
          </a:xfrm>
          <a:prstGeom prst="rect">
            <a:avLst/>
          </a:prstGeom>
          <a:noFill/>
          <a:ln/>
        </p:spPr>
        <p:txBody>
          <a:bodyPr wrap="square" lIns="0" tIns="0" rIns="0" bIns="0" rtlCol="0" anchor="ctr"/>
          <a:lstStyle/>
          <a:p>
            <a:pPr indent="0" marL="0">
              <a:buNone/>
            </a:pPr>
            <a:r>
              <a:rPr lang="en-US" sz="4400" b="1" spc="-150" kern="0" dirty="0">
                <a:solidFill>
                  <a:schemeClr val="tx1"/>
                </a:solidFill>
              </a:rPr>
              <a:t>One more thing…</a:t>
            </a:r>
            <a:endParaRPr lang="en-US" sz="4400" dirty="0"/>
          </a:p>
        </p:txBody>
      </p:sp>
      <p:sp>
        <p:nvSpPr>
          <p:cNvPr id="3" name="Text 103"/>
          <p:cNvSpPr txBox="1"/>
          <p:nvPr/>
        </p:nvSpPr>
        <p:spPr>
          <a:xfrm>
            <a:off x="822960" y="1508760"/>
            <a:ext cx="5760720" cy="411480"/>
          </a:xfrm>
          <a:prstGeom prst="rect">
            <a:avLst/>
          </a:prstGeom>
          <a:noFill/>
          <a:ln/>
        </p:spPr>
        <p:txBody>
          <a:bodyPr wrap="square" lIns="0" tIns="0" rIns="0" bIns="0" rtlCol="0" anchor="ctr"/>
          <a:lstStyle/>
          <a:p>
            <a:pPr indent="0" marL="0">
              <a:buNone/>
            </a:pPr>
            <a:r>
              <a:rPr lang="en-US" sz="2000" dirty="0">
                <a:solidFill>
                  <a:schemeClr val="tx2"/>
                </a:solidFill>
              </a:rPr>
              <a:t>The journey itself is something to look forward to</a:t>
            </a:r>
            <a:endParaRPr lang="en-US" sz="2000" dirty="0"/>
          </a:p>
        </p:txBody>
      </p:sp>
      <p:sp>
        <p:nvSpPr>
          <p:cNvPr id="4" name="Text 104"/>
          <p:cNvSpPr txBox="1"/>
          <p:nvPr/>
        </p:nvSpPr>
        <p:spPr>
          <a:xfrm>
            <a:off x="822960" y="2423160"/>
            <a:ext cx="1371600" cy="548640"/>
          </a:xfrm>
          <a:prstGeom prst="rect">
            <a:avLst/>
          </a:prstGeom>
          <a:noFill/>
          <a:ln/>
        </p:spPr>
        <p:txBody>
          <a:bodyPr wrap="square" lIns="0" tIns="0" rIns="0" bIns="0" rtlCol="0" anchor="ctr"/>
          <a:lstStyle/>
          <a:p>
            <a:pPr indent="0" marL="0">
              <a:buNone/>
            </a:pPr>
            <a:r>
              <a:rPr lang="en-US" sz="2000" b="1" dirty="0">
                <a:solidFill>
                  <a:schemeClr val="tx1"/>
                </a:solidFill>
              </a:rPr>
              <a:t>Hamburg</a:t>
            </a:r>
            <a:endParaRPr lang="en-US" sz="2000" dirty="0"/>
          </a:p>
        </p:txBody>
      </p:sp>
      <p:sp>
        <p:nvSpPr>
          <p:cNvPr id="5" name="Line 105"/>
          <p:cNvSpPr/>
          <p:nvPr/>
        </p:nvSpPr>
        <p:spPr>
          <a:xfrm>
            <a:off x="2331720" y="2697480"/>
            <a:ext cx="2423160" cy="0"/>
          </a:xfrm>
          <a:prstGeom prst="line">
            <a:avLst/>
          </a:prstGeom>
          <a:noFill/>
          <a:ln w="12700">
            <a:solidFill>
              <a:schemeClr val="accent2"/>
            </a:solidFill>
            <a:prstDash val="sysDot"/>
          </a:ln>
        </p:spPr>
      </p:sp>
      <p:pic>
        <p:nvPicPr>
          <p:cNvPr id="6" name="Icon 106" descr="preencoded.png">    </p:cNvPr>
          <p:cNvPicPr>
            <a:picLocks noChangeAspect="1"/>
          </p:cNvPicPr>
          <p:nvPr/>
        </p:nvPicPr>
        <p:blipFill>
          <a:blip r:embed="rId2"/>
          <a:stretch>
            <a:fillRect/>
          </a:stretch>
        </p:blipFill>
        <p:spPr>
          <a:xfrm rot="5400000">
            <a:off x="3319272" y="2468880"/>
            <a:ext cx="457200" cy="457200"/>
          </a:xfrm>
          <a:prstGeom prst="rect">
            <a:avLst/>
          </a:prstGeom>
        </p:spPr>
      </p:pic>
      <p:sp>
        <p:nvSpPr>
          <p:cNvPr id="7" name="Text 107"/>
          <p:cNvSpPr txBox="1"/>
          <p:nvPr/>
        </p:nvSpPr>
        <p:spPr>
          <a:xfrm>
            <a:off x="4892040" y="2423160"/>
            <a:ext cx="1463040" cy="548640"/>
          </a:xfrm>
          <a:prstGeom prst="rect">
            <a:avLst/>
          </a:prstGeom>
          <a:noFill/>
          <a:ln/>
        </p:spPr>
        <p:txBody>
          <a:bodyPr wrap="square" lIns="0" tIns="0" rIns="0" bIns="0" rtlCol="0" anchor="ctr"/>
          <a:lstStyle/>
          <a:p>
            <a:pPr indent="0" marL="0">
              <a:buNone/>
            </a:pPr>
            <a:r>
              <a:rPr lang="en-US" sz="2000" b="1" dirty="0">
                <a:solidFill>
                  <a:schemeClr val="tx1"/>
                </a:solidFill>
              </a:rPr>
              <a:t>New York</a:t>
            </a:r>
            <a:endParaRPr lang="en-US" sz="2000" dirty="0"/>
          </a:p>
        </p:txBody>
      </p:sp>
      <p:sp>
        <p:nvSpPr>
          <p:cNvPr id="8" name="Text 108"/>
          <p:cNvSpPr txBox="1"/>
          <p:nvPr/>
        </p:nvSpPr>
        <p:spPr>
          <a:xfrm>
            <a:off x="822960" y="3063240"/>
            <a:ext cx="5760720" cy="320040"/>
          </a:xfrm>
          <a:prstGeom prst="rect">
            <a:avLst/>
          </a:prstGeom>
          <a:noFill/>
          <a:ln/>
        </p:spPr>
        <p:txBody>
          <a:bodyPr wrap="square" lIns="0" tIns="0" rIns="0" bIns="0" rtlCol="0" anchor="t"/>
          <a:lstStyle/>
          <a:p>
            <a:pPr indent="0" marL="0">
              <a:buNone/>
            </a:pPr>
            <a:r>
              <a:rPr lang="en-US" sz="1400" dirty="0">
                <a:solidFill>
                  <a:schemeClr val="tx2"/>
                </a:solidFill>
              </a:rPr>
              <a:t>A transatlantic crossing could last up to 17 hours</a:t>
            </a:r>
            <a:endParaRPr lang="en-US" sz="1400" dirty="0"/>
          </a:p>
        </p:txBody>
      </p:sp>
      <p:sp>
        <p:nvSpPr>
          <p:cNvPr id="9" name="Circle 109"/>
          <p:cNvSpPr/>
          <p:nvPr/>
        </p:nvSpPr>
        <p:spPr>
          <a:xfrm>
            <a:off x="822960" y="3840480"/>
            <a:ext cx="731520" cy="731520"/>
          </a:xfrm>
          <a:prstGeom prst="ellipse">
            <a:avLst/>
          </a:prstGeom>
          <a:solidFill>
            <a:schemeClr val="bg2"/>
          </a:solidFill>
          <a:ln/>
        </p:spPr>
      </p:sp>
      <p:pic>
        <p:nvPicPr>
          <p:cNvPr id="10" name="Icon 110" descr="preencoded.png">    </p:cNvPr>
          <p:cNvPicPr>
            <a:picLocks noChangeAspect="1"/>
          </p:cNvPicPr>
          <p:nvPr/>
        </p:nvPicPr>
        <p:blipFill>
          <a:blip r:embed="rId3"/>
          <a:stretch>
            <a:fillRect/>
          </a:stretch>
        </p:blipFill>
        <p:spPr>
          <a:xfrm>
            <a:off x="1005840" y="4023360"/>
            <a:ext cx="365760" cy="365760"/>
          </a:xfrm>
          <a:prstGeom prst="rect">
            <a:avLst/>
          </a:prstGeom>
        </p:spPr>
      </p:pic>
      <p:sp>
        <p:nvSpPr>
          <p:cNvPr id="11" name="Text 111"/>
          <p:cNvSpPr txBox="1"/>
          <p:nvPr/>
        </p:nvSpPr>
        <p:spPr>
          <a:xfrm>
            <a:off x="1691640" y="3931920"/>
            <a:ext cx="1005840" cy="548640"/>
          </a:xfrm>
          <a:prstGeom prst="rect">
            <a:avLst/>
          </a:prstGeom>
          <a:noFill/>
          <a:ln/>
        </p:spPr>
        <p:txBody>
          <a:bodyPr wrap="square" lIns="0" tIns="0" rIns="0" bIns="0" rtlCol="0" anchor="ctr"/>
          <a:lstStyle/>
          <a:p>
            <a:pPr indent="0" marL="0">
              <a:buNone/>
            </a:pPr>
            <a:r>
              <a:rPr lang="en-US" sz="1800" b="1" dirty="0">
                <a:solidFill>
                  <a:schemeClr val="tx1"/>
                </a:solidFill>
              </a:rPr>
              <a:t>Dine</a:t>
            </a:r>
            <a:endParaRPr lang="en-US" sz="1800" dirty="0"/>
          </a:p>
        </p:txBody>
      </p:sp>
      <p:sp>
        <p:nvSpPr>
          <p:cNvPr id="12" name="Circle 112"/>
          <p:cNvSpPr/>
          <p:nvPr/>
        </p:nvSpPr>
        <p:spPr>
          <a:xfrm>
            <a:off x="2697480" y="3840480"/>
            <a:ext cx="731520" cy="731520"/>
          </a:xfrm>
          <a:prstGeom prst="ellipse">
            <a:avLst/>
          </a:prstGeom>
          <a:solidFill>
            <a:schemeClr val="bg2"/>
          </a:solidFill>
          <a:ln/>
        </p:spPr>
      </p:sp>
      <p:pic>
        <p:nvPicPr>
          <p:cNvPr id="13" name="Icon 113" descr="preencoded.png">    </p:cNvPr>
          <p:cNvPicPr>
            <a:picLocks noChangeAspect="1"/>
          </p:cNvPicPr>
          <p:nvPr/>
        </p:nvPicPr>
        <p:blipFill>
          <a:blip r:embed="rId4"/>
          <a:stretch>
            <a:fillRect/>
          </a:stretch>
        </p:blipFill>
        <p:spPr>
          <a:xfrm>
            <a:off x="2880360" y="4023360"/>
            <a:ext cx="365760" cy="365760"/>
          </a:xfrm>
          <a:prstGeom prst="rect">
            <a:avLst/>
          </a:prstGeom>
        </p:spPr>
      </p:pic>
      <p:sp>
        <p:nvSpPr>
          <p:cNvPr id="14" name="Text 114"/>
          <p:cNvSpPr txBox="1"/>
          <p:nvPr/>
        </p:nvSpPr>
        <p:spPr>
          <a:xfrm>
            <a:off x="3566160" y="3931920"/>
            <a:ext cx="1005840" cy="548640"/>
          </a:xfrm>
          <a:prstGeom prst="rect">
            <a:avLst/>
          </a:prstGeom>
          <a:noFill/>
          <a:ln/>
        </p:spPr>
        <p:txBody>
          <a:bodyPr wrap="square" lIns="0" tIns="0" rIns="0" bIns="0" rtlCol="0" anchor="ctr"/>
          <a:lstStyle/>
          <a:p>
            <a:pPr indent="0" marL="0">
              <a:buNone/>
            </a:pPr>
            <a:r>
              <a:rPr lang="en-US" sz="1800" b="1" dirty="0">
                <a:solidFill>
                  <a:schemeClr val="tx1"/>
                </a:solidFill>
              </a:rPr>
              <a:t>Talk</a:t>
            </a:r>
            <a:endParaRPr lang="en-US" sz="1800" dirty="0"/>
          </a:p>
        </p:txBody>
      </p:sp>
      <p:sp>
        <p:nvSpPr>
          <p:cNvPr id="15" name="Circle 115"/>
          <p:cNvSpPr/>
          <p:nvPr/>
        </p:nvSpPr>
        <p:spPr>
          <a:xfrm>
            <a:off x="4572000" y="3840480"/>
            <a:ext cx="731520" cy="731520"/>
          </a:xfrm>
          <a:prstGeom prst="ellipse">
            <a:avLst/>
          </a:prstGeom>
          <a:solidFill>
            <a:schemeClr val="bg2"/>
          </a:solidFill>
          <a:ln/>
        </p:spPr>
      </p:sp>
      <p:pic>
        <p:nvPicPr>
          <p:cNvPr id="16" name="Icon 116" descr="preencoded.png">    </p:cNvPr>
          <p:cNvPicPr>
            <a:picLocks noChangeAspect="1"/>
          </p:cNvPicPr>
          <p:nvPr/>
        </p:nvPicPr>
        <p:blipFill>
          <a:blip r:embed="rId5"/>
          <a:stretch>
            <a:fillRect/>
          </a:stretch>
        </p:blipFill>
        <p:spPr>
          <a:xfrm>
            <a:off x="4754880" y="4023360"/>
            <a:ext cx="365760" cy="365760"/>
          </a:xfrm>
          <a:prstGeom prst="rect">
            <a:avLst/>
          </a:prstGeom>
        </p:spPr>
      </p:pic>
      <p:sp>
        <p:nvSpPr>
          <p:cNvPr id="17" name="Text 117"/>
          <p:cNvSpPr txBox="1"/>
          <p:nvPr/>
        </p:nvSpPr>
        <p:spPr>
          <a:xfrm>
            <a:off x="5440680" y="3931920"/>
            <a:ext cx="1005840" cy="548640"/>
          </a:xfrm>
          <a:prstGeom prst="rect">
            <a:avLst/>
          </a:prstGeom>
          <a:noFill/>
          <a:ln/>
        </p:spPr>
        <p:txBody>
          <a:bodyPr wrap="square" lIns="0" tIns="0" rIns="0" bIns="0" rtlCol="0" anchor="ctr"/>
          <a:lstStyle/>
          <a:p>
            <a:pPr indent="0" marL="0">
              <a:buNone/>
            </a:pPr>
            <a:r>
              <a:rPr lang="en-US" sz="1800" b="1" dirty="0">
                <a:solidFill>
                  <a:schemeClr val="tx1"/>
                </a:solidFill>
              </a:rPr>
              <a:t>Rest</a:t>
            </a:r>
            <a:endParaRPr lang="en-US" sz="1800" dirty="0"/>
          </a:p>
        </p:txBody>
      </p:sp>
      <p:sp>
        <p:nvSpPr>
          <p:cNvPr id="18" name="Text 118"/>
          <p:cNvSpPr txBox="1"/>
          <p:nvPr/>
        </p:nvSpPr>
        <p:spPr>
          <a:xfrm>
            <a:off x="822960" y="4846320"/>
            <a:ext cx="5760720" cy="548640"/>
          </a:xfrm>
          <a:prstGeom prst="rect">
            <a:avLst/>
          </a:prstGeom>
          <a:noFill/>
          <a:ln/>
        </p:spPr>
        <p:txBody>
          <a:bodyPr wrap="square" lIns="0" tIns="0" rIns="0" bIns="0" rtlCol="0" anchor="t"/>
          <a:lstStyle/>
          <a:p>
            <a:pPr indent="0" marL="0">
              <a:lnSpc>
                <a:spcPct val="110000"/>
              </a:lnSpc>
              <a:buNone/>
            </a:pPr>
            <a:r>
              <a:rPr lang="en-US" sz="1400" dirty="0">
                <a:solidFill>
                  <a:schemeClr val="tx2"/>
                </a:solidFill>
              </a:rPr>
              <a:t>Some premium configurations offered a lounge and overnight sleeper berths</a:t>
            </a:r>
            <a:endParaRPr lang="en-US" sz="1400" dirty="0"/>
          </a:p>
        </p:txBody>
      </p:sp>
      <p:sp>
        <p:nvSpPr>
          <p:cNvPr id="19" name="Text 119"/>
          <p:cNvSpPr txBox="1"/>
          <p:nvPr/>
        </p:nvSpPr>
        <p:spPr>
          <a:xfrm>
            <a:off x="822960" y="5943600"/>
            <a:ext cx="5760720" cy="502920"/>
          </a:xfrm>
          <a:prstGeom prst="rect">
            <a:avLst/>
          </a:prstGeom>
          <a:noFill/>
          <a:ln/>
        </p:spPr>
        <p:txBody>
          <a:bodyPr wrap="square" lIns="0" tIns="0" rIns="0" bIns="0" rtlCol="0" anchor="t"/>
          <a:lstStyle/>
          <a:p>
            <a:pPr indent="0" marL="0">
              <a:buNone/>
            </a:pPr>
            <a:r>
              <a:rPr lang="en-US" sz="1100" dirty="0">
                <a:solidFill>
                  <a:schemeClr val="tx2"/>
                </a:solidFill>
              </a:rPr>
              <a:t>Right: M-049 cabin from Lockheed's official history page, not the Lufthansa L-1649A. The sequence does not represent fixed service durations.</a:t>
            </a:r>
            <a:endParaRPr lang="en-US" sz="1100" dirty="0"/>
          </a:p>
        </p:txBody>
      </p:sp>
      <p:sp>
        <p:nvSpPr>
          <p:cNvPr id="25" name="Slide Number Placeholder 0"/>
          <p:cNvSpPr>
            <a:spLocks noGrp="1"/>
          </p:cNvSpPr>
          <p:nvPr>
            <p:ph type="sldNum" sz="quarter" idx="4294967295"/>
          </p:nvPr>
        </p:nvSpPr>
        <p:spPr>
          <a:xfrm>
            <a:off x="1127455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36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731520" y="475488"/>
            <a:ext cx="10728655" cy="731520"/>
          </a:xfrm>
          <a:prstGeom prst="rect">
            <a:avLst/>
          </a:prstGeom>
          <a:noFill/>
          <a:ln/>
        </p:spPr>
        <p:txBody>
          <a:bodyPr wrap="square" lIns="0" tIns="0" rIns="0" bIns="0" rtlCol="0" anchor="ctr"/>
          <a:lstStyle/>
          <a:p>
            <a:pPr algn="ctr" indent="0" marL="0">
              <a:buNone/>
            </a:pPr>
            <a:r>
              <a:rPr lang="en-US" sz="3600" b="1" spc="-100" kern="0" dirty="0">
                <a:solidFill>
                  <a:schemeClr val="tx1"/>
                </a:solidFill>
              </a:rPr>
              <a:t>35 aircraft for TWA first, then sales to named rivals</a:t>
            </a:r>
            <a:endParaRPr lang="en-US" sz="3600" dirty="0"/>
          </a:p>
        </p:txBody>
      </p:sp>
      <p:sp>
        <p:nvSpPr>
          <p:cNvPr id="3" name="Text 0"/>
          <p:cNvSpPr/>
          <p:nvPr>
            <p:ph idx="101" type="body" hasCustomPrompt="1"/>
          </p:nvPr>
        </p:nvSpPr>
        <p:spPr>
          <a:xfrm>
            <a:off x="1280160" y="1225296"/>
            <a:ext cx="9631375" cy="411480"/>
          </a:xfrm>
          <a:prstGeom prst="rect">
            <a:avLst/>
          </a:prstGeom>
          <a:noFill/>
          <a:ln/>
        </p:spPr>
        <p:txBody>
          <a:bodyPr wrap="square" lIns="0" tIns="0" rIns="0" bIns="0" rtlCol="0" anchor="t"/>
          <a:lstStyle/>
          <a:p>
            <a:pPr algn="ctr" indent="0" marL="0">
              <a:buNone/>
            </a:pPr>
            <a:r>
              <a:rPr lang="en-US" sz="1800" dirty="0">
                <a:solidFill>
                  <a:schemeClr val="tx2"/>
                </a:solidFill>
              </a:rPr>
              <a:t>Hughes's 1939 supply condition, per Lockheed's historical account</a:t>
            </a:r>
            <a:endParaRPr lang="en-US" sz="1800" dirty="0"/>
          </a:p>
        </p:txBody>
      </p:sp>
      <p:sp>
        <p:nvSpPr>
          <p:cNvPr id="4" name="Text 0"/>
          <p:cNvSpPr/>
          <p:nvPr>
            <p:ph idx="102" type="body" hasCustomPrompt="1"/>
          </p:nvPr>
        </p:nvSpPr>
        <p:spPr>
          <a:xfrm>
            <a:off x="1280160" y="5413248"/>
            <a:ext cx="9631375" cy="457200"/>
          </a:xfrm>
          <a:prstGeom prst="rect">
            <a:avLst/>
          </a:prstGeom>
          <a:noFill/>
          <a:ln/>
        </p:spPr>
        <p:txBody>
          <a:bodyPr wrap="square" lIns="0" tIns="0" rIns="0" bIns="0" rtlCol="0" anchor="ctr"/>
          <a:lstStyle/>
          <a:p>
            <a:pPr algn="ctr" indent="0" marL="0">
              <a:buNone/>
            </a:pPr>
            <a:r>
              <a:rPr lang="en-US" sz="2000" dirty="0">
                <a:solidFill>
                  <a:schemeClr val="tx1"/>
                </a:solidFill>
              </a:rPr>
              <a:t>What Hughes was buying was time: being first to launch the new service</a:t>
            </a:r>
            <a:endParaRPr lang="en-US" sz="2000" dirty="0"/>
          </a:p>
        </p:txBody>
      </p:sp>
      <p:sp>
        <p:nvSpPr>
          <p:cNvPr id="5" name="Text 0"/>
          <p:cNvSpPr/>
          <p:nvPr>
            <p:ph idx="103" type="body" hasCustomPrompt="1"/>
          </p:nvPr>
        </p:nvSpPr>
        <p:spPr>
          <a:xfrm>
            <a:off x="1280160" y="5961888"/>
            <a:ext cx="9631375" cy="502920"/>
          </a:xfrm>
          <a:prstGeom prst="rect">
            <a:avLst/>
          </a:prstGeom>
          <a:noFill/>
          <a:ln/>
        </p:spPr>
        <p:txBody>
          <a:bodyPr wrap="square" lIns="0" tIns="0" rIns="0" bIns="0" rtlCol="0" anchor="t"/>
          <a:lstStyle/>
          <a:p>
            <a:pPr algn="ctr" indent="0" marL="0">
              <a:buNone/>
            </a:pPr>
            <a:r>
              <a:rPr lang="en-US" sz="1100" dirty="0">
                <a:solidFill>
                  <a:schemeClr val="tx2"/>
                </a:solidFill>
              </a:rPr>
              <a:t>Illustrates the agreement threshold; it does not claim 35 aircraft were delivered before the war. Applied to other transcontinental airlines, not a permanent worldwide sales ban.</a:t>
            </a:r>
            <a:endParaRPr lang="en-US" sz="1100" dirty="0"/>
          </a:p>
        </p:txBody>
      </p:sp>
      <p:sp>
        <p:nvSpPr>
          <p:cNvPr id="7" name="Text 120"/>
          <p:cNvSpPr txBox="1"/>
          <p:nvPr/>
        </p:nvSpPr>
        <p:spPr>
          <a:xfrm>
            <a:off x="1188720" y="1965960"/>
            <a:ext cx="3657600" cy="365760"/>
          </a:xfrm>
          <a:prstGeom prst="rect">
            <a:avLst/>
          </a:prstGeom>
          <a:noFill/>
          <a:ln/>
        </p:spPr>
        <p:txBody>
          <a:bodyPr wrap="square" lIns="0" tIns="0" rIns="0" bIns="0" rtlCol="0" anchor="b"/>
          <a:lstStyle/>
          <a:p>
            <a:pPr indent="0" marL="0">
              <a:buNone/>
            </a:pPr>
            <a:r>
              <a:rPr lang="en-US" sz="1800" b="1" dirty="0">
                <a:solidFill>
                  <a:schemeClr val="tx1"/>
                </a:solidFill>
              </a:rPr>
              <a:t>TWA takes delivery first</a:t>
            </a:r>
            <a:endParaRPr lang="en-US" sz="1800" dirty="0"/>
          </a:p>
        </p:txBody>
      </p:sp>
      <p:sp>
        <p:nvSpPr>
          <p:cNvPr id="8" name="Rounded 121"/>
          <p:cNvSpPr/>
          <p:nvPr/>
        </p:nvSpPr>
        <p:spPr>
          <a:xfrm>
            <a:off x="1188720" y="2468880"/>
            <a:ext cx="310896" cy="310896"/>
          </a:xfrm>
          <a:prstGeom prst="roundRect">
            <a:avLst>
              <a:gd name="adj" fmla="val 14706"/>
            </a:avLst>
          </a:prstGeom>
          <a:solidFill>
            <a:schemeClr val="accent1"/>
          </a:solidFill>
          <a:ln/>
        </p:spPr>
      </p:sp>
      <p:sp>
        <p:nvSpPr>
          <p:cNvPr id="9" name="Rounded 122"/>
          <p:cNvSpPr/>
          <p:nvPr/>
        </p:nvSpPr>
        <p:spPr>
          <a:xfrm>
            <a:off x="1591056" y="2468880"/>
            <a:ext cx="310896" cy="310896"/>
          </a:xfrm>
          <a:prstGeom prst="roundRect">
            <a:avLst>
              <a:gd name="adj" fmla="val 14706"/>
            </a:avLst>
          </a:prstGeom>
          <a:solidFill>
            <a:schemeClr val="accent1"/>
          </a:solidFill>
          <a:ln/>
        </p:spPr>
      </p:sp>
      <p:sp>
        <p:nvSpPr>
          <p:cNvPr id="10" name="Rounded 123"/>
          <p:cNvSpPr/>
          <p:nvPr/>
        </p:nvSpPr>
        <p:spPr>
          <a:xfrm>
            <a:off x="1993392" y="2468880"/>
            <a:ext cx="310896" cy="310896"/>
          </a:xfrm>
          <a:prstGeom prst="roundRect">
            <a:avLst>
              <a:gd name="adj" fmla="val 14706"/>
            </a:avLst>
          </a:prstGeom>
          <a:solidFill>
            <a:schemeClr val="accent1"/>
          </a:solidFill>
          <a:ln/>
        </p:spPr>
      </p:sp>
      <p:sp>
        <p:nvSpPr>
          <p:cNvPr id="11" name="Rounded 124"/>
          <p:cNvSpPr/>
          <p:nvPr/>
        </p:nvSpPr>
        <p:spPr>
          <a:xfrm>
            <a:off x="2395728" y="2468880"/>
            <a:ext cx="310896" cy="310896"/>
          </a:xfrm>
          <a:prstGeom prst="roundRect">
            <a:avLst>
              <a:gd name="adj" fmla="val 14706"/>
            </a:avLst>
          </a:prstGeom>
          <a:solidFill>
            <a:schemeClr val="accent1"/>
          </a:solidFill>
          <a:ln/>
        </p:spPr>
      </p:sp>
      <p:sp>
        <p:nvSpPr>
          <p:cNvPr id="12" name="Rounded 125"/>
          <p:cNvSpPr/>
          <p:nvPr/>
        </p:nvSpPr>
        <p:spPr>
          <a:xfrm>
            <a:off x="2798064" y="2468880"/>
            <a:ext cx="310896" cy="310896"/>
          </a:xfrm>
          <a:prstGeom prst="roundRect">
            <a:avLst>
              <a:gd name="adj" fmla="val 14706"/>
            </a:avLst>
          </a:prstGeom>
          <a:solidFill>
            <a:schemeClr val="accent1"/>
          </a:solidFill>
          <a:ln/>
        </p:spPr>
      </p:sp>
      <p:sp>
        <p:nvSpPr>
          <p:cNvPr id="13" name="Rounded 126"/>
          <p:cNvSpPr/>
          <p:nvPr/>
        </p:nvSpPr>
        <p:spPr>
          <a:xfrm>
            <a:off x="3200400" y="2468880"/>
            <a:ext cx="310896" cy="310896"/>
          </a:xfrm>
          <a:prstGeom prst="roundRect">
            <a:avLst>
              <a:gd name="adj" fmla="val 14706"/>
            </a:avLst>
          </a:prstGeom>
          <a:solidFill>
            <a:schemeClr val="accent1"/>
          </a:solidFill>
          <a:ln/>
        </p:spPr>
      </p:sp>
      <p:sp>
        <p:nvSpPr>
          <p:cNvPr id="14" name="Rounded 127"/>
          <p:cNvSpPr/>
          <p:nvPr/>
        </p:nvSpPr>
        <p:spPr>
          <a:xfrm>
            <a:off x="3602736" y="2468880"/>
            <a:ext cx="310896" cy="310896"/>
          </a:xfrm>
          <a:prstGeom prst="roundRect">
            <a:avLst>
              <a:gd name="adj" fmla="val 14706"/>
            </a:avLst>
          </a:prstGeom>
          <a:solidFill>
            <a:schemeClr val="accent1"/>
          </a:solidFill>
          <a:ln/>
        </p:spPr>
      </p:sp>
      <p:sp>
        <p:nvSpPr>
          <p:cNvPr id="15" name="Rounded 128"/>
          <p:cNvSpPr/>
          <p:nvPr/>
        </p:nvSpPr>
        <p:spPr>
          <a:xfrm>
            <a:off x="1188720" y="2871216"/>
            <a:ext cx="310896" cy="310896"/>
          </a:xfrm>
          <a:prstGeom prst="roundRect">
            <a:avLst>
              <a:gd name="adj" fmla="val 14706"/>
            </a:avLst>
          </a:prstGeom>
          <a:solidFill>
            <a:schemeClr val="accent1"/>
          </a:solidFill>
          <a:ln/>
        </p:spPr>
      </p:sp>
      <p:sp>
        <p:nvSpPr>
          <p:cNvPr id="16" name="Rounded 129"/>
          <p:cNvSpPr/>
          <p:nvPr/>
        </p:nvSpPr>
        <p:spPr>
          <a:xfrm>
            <a:off x="1591056" y="2871216"/>
            <a:ext cx="310896" cy="310896"/>
          </a:xfrm>
          <a:prstGeom prst="roundRect">
            <a:avLst>
              <a:gd name="adj" fmla="val 14706"/>
            </a:avLst>
          </a:prstGeom>
          <a:solidFill>
            <a:schemeClr val="accent1"/>
          </a:solidFill>
          <a:ln/>
        </p:spPr>
      </p:sp>
      <p:sp>
        <p:nvSpPr>
          <p:cNvPr id="17" name="Rounded 130"/>
          <p:cNvSpPr/>
          <p:nvPr/>
        </p:nvSpPr>
        <p:spPr>
          <a:xfrm>
            <a:off x="1993392" y="2871216"/>
            <a:ext cx="310896" cy="310896"/>
          </a:xfrm>
          <a:prstGeom prst="roundRect">
            <a:avLst>
              <a:gd name="adj" fmla="val 14706"/>
            </a:avLst>
          </a:prstGeom>
          <a:solidFill>
            <a:schemeClr val="accent1"/>
          </a:solidFill>
          <a:ln/>
        </p:spPr>
      </p:sp>
      <p:sp>
        <p:nvSpPr>
          <p:cNvPr id="18" name="Rounded 131"/>
          <p:cNvSpPr/>
          <p:nvPr/>
        </p:nvSpPr>
        <p:spPr>
          <a:xfrm>
            <a:off x="2395728" y="2871216"/>
            <a:ext cx="310896" cy="310896"/>
          </a:xfrm>
          <a:prstGeom prst="roundRect">
            <a:avLst>
              <a:gd name="adj" fmla="val 14706"/>
            </a:avLst>
          </a:prstGeom>
          <a:solidFill>
            <a:schemeClr val="accent1"/>
          </a:solidFill>
          <a:ln/>
        </p:spPr>
      </p:sp>
      <p:sp>
        <p:nvSpPr>
          <p:cNvPr id="19" name="Rounded 132"/>
          <p:cNvSpPr/>
          <p:nvPr/>
        </p:nvSpPr>
        <p:spPr>
          <a:xfrm>
            <a:off x="2798064" y="2871216"/>
            <a:ext cx="310896" cy="310896"/>
          </a:xfrm>
          <a:prstGeom prst="roundRect">
            <a:avLst>
              <a:gd name="adj" fmla="val 14706"/>
            </a:avLst>
          </a:prstGeom>
          <a:solidFill>
            <a:schemeClr val="accent1"/>
          </a:solidFill>
          <a:ln/>
        </p:spPr>
      </p:sp>
      <p:sp>
        <p:nvSpPr>
          <p:cNvPr id="20" name="Rounded 133"/>
          <p:cNvSpPr/>
          <p:nvPr/>
        </p:nvSpPr>
        <p:spPr>
          <a:xfrm>
            <a:off x="3200400" y="2871216"/>
            <a:ext cx="310896" cy="310896"/>
          </a:xfrm>
          <a:prstGeom prst="roundRect">
            <a:avLst>
              <a:gd name="adj" fmla="val 14706"/>
            </a:avLst>
          </a:prstGeom>
          <a:solidFill>
            <a:schemeClr val="accent1"/>
          </a:solidFill>
          <a:ln/>
        </p:spPr>
      </p:sp>
      <p:sp>
        <p:nvSpPr>
          <p:cNvPr id="21" name="Rounded 134"/>
          <p:cNvSpPr/>
          <p:nvPr/>
        </p:nvSpPr>
        <p:spPr>
          <a:xfrm>
            <a:off x="3602736" y="2871216"/>
            <a:ext cx="310896" cy="310896"/>
          </a:xfrm>
          <a:prstGeom prst="roundRect">
            <a:avLst>
              <a:gd name="adj" fmla="val 14706"/>
            </a:avLst>
          </a:prstGeom>
          <a:solidFill>
            <a:schemeClr val="accent1"/>
          </a:solidFill>
          <a:ln/>
        </p:spPr>
      </p:sp>
      <p:sp>
        <p:nvSpPr>
          <p:cNvPr id="22" name="Rounded 135"/>
          <p:cNvSpPr/>
          <p:nvPr/>
        </p:nvSpPr>
        <p:spPr>
          <a:xfrm>
            <a:off x="1188720" y="3273552"/>
            <a:ext cx="310896" cy="310896"/>
          </a:xfrm>
          <a:prstGeom prst="roundRect">
            <a:avLst>
              <a:gd name="adj" fmla="val 14706"/>
            </a:avLst>
          </a:prstGeom>
          <a:solidFill>
            <a:schemeClr val="accent1"/>
          </a:solidFill>
          <a:ln/>
        </p:spPr>
      </p:sp>
      <p:sp>
        <p:nvSpPr>
          <p:cNvPr id="23" name="Rounded 136"/>
          <p:cNvSpPr/>
          <p:nvPr/>
        </p:nvSpPr>
        <p:spPr>
          <a:xfrm>
            <a:off x="1591056" y="3273552"/>
            <a:ext cx="310896" cy="310896"/>
          </a:xfrm>
          <a:prstGeom prst="roundRect">
            <a:avLst>
              <a:gd name="adj" fmla="val 14706"/>
            </a:avLst>
          </a:prstGeom>
          <a:solidFill>
            <a:schemeClr val="accent1"/>
          </a:solidFill>
          <a:ln/>
        </p:spPr>
      </p:sp>
      <p:sp>
        <p:nvSpPr>
          <p:cNvPr id="24" name="Rounded 137"/>
          <p:cNvSpPr/>
          <p:nvPr/>
        </p:nvSpPr>
        <p:spPr>
          <a:xfrm>
            <a:off x="1993392" y="3273552"/>
            <a:ext cx="310896" cy="310896"/>
          </a:xfrm>
          <a:prstGeom prst="roundRect">
            <a:avLst>
              <a:gd name="adj" fmla="val 14706"/>
            </a:avLst>
          </a:prstGeom>
          <a:solidFill>
            <a:schemeClr val="accent1"/>
          </a:solidFill>
          <a:ln/>
        </p:spPr>
      </p:sp>
      <p:sp>
        <p:nvSpPr>
          <p:cNvPr id="25" name="Rounded 138"/>
          <p:cNvSpPr/>
          <p:nvPr/>
        </p:nvSpPr>
        <p:spPr>
          <a:xfrm>
            <a:off x="2395728" y="3273552"/>
            <a:ext cx="310896" cy="310896"/>
          </a:xfrm>
          <a:prstGeom prst="roundRect">
            <a:avLst>
              <a:gd name="adj" fmla="val 14706"/>
            </a:avLst>
          </a:prstGeom>
          <a:solidFill>
            <a:schemeClr val="accent1"/>
          </a:solidFill>
          <a:ln/>
        </p:spPr>
      </p:sp>
      <p:sp>
        <p:nvSpPr>
          <p:cNvPr id="26" name="Rounded 139"/>
          <p:cNvSpPr/>
          <p:nvPr/>
        </p:nvSpPr>
        <p:spPr>
          <a:xfrm>
            <a:off x="2798064" y="3273552"/>
            <a:ext cx="310896" cy="310896"/>
          </a:xfrm>
          <a:prstGeom prst="roundRect">
            <a:avLst>
              <a:gd name="adj" fmla="val 14706"/>
            </a:avLst>
          </a:prstGeom>
          <a:solidFill>
            <a:schemeClr val="accent1"/>
          </a:solidFill>
          <a:ln/>
        </p:spPr>
      </p:sp>
      <p:sp>
        <p:nvSpPr>
          <p:cNvPr id="27" name="Rounded 140"/>
          <p:cNvSpPr/>
          <p:nvPr/>
        </p:nvSpPr>
        <p:spPr>
          <a:xfrm>
            <a:off x="3200400" y="3273552"/>
            <a:ext cx="310896" cy="310896"/>
          </a:xfrm>
          <a:prstGeom prst="roundRect">
            <a:avLst>
              <a:gd name="adj" fmla="val 14706"/>
            </a:avLst>
          </a:prstGeom>
          <a:solidFill>
            <a:schemeClr val="accent1"/>
          </a:solidFill>
          <a:ln/>
        </p:spPr>
      </p:sp>
      <p:sp>
        <p:nvSpPr>
          <p:cNvPr id="28" name="Rounded 141"/>
          <p:cNvSpPr/>
          <p:nvPr/>
        </p:nvSpPr>
        <p:spPr>
          <a:xfrm>
            <a:off x="3602736" y="3273552"/>
            <a:ext cx="310896" cy="310896"/>
          </a:xfrm>
          <a:prstGeom prst="roundRect">
            <a:avLst>
              <a:gd name="adj" fmla="val 14706"/>
            </a:avLst>
          </a:prstGeom>
          <a:solidFill>
            <a:schemeClr val="accent1"/>
          </a:solidFill>
          <a:ln/>
        </p:spPr>
      </p:sp>
      <p:sp>
        <p:nvSpPr>
          <p:cNvPr id="29" name="Rounded 142"/>
          <p:cNvSpPr/>
          <p:nvPr/>
        </p:nvSpPr>
        <p:spPr>
          <a:xfrm>
            <a:off x="1188720" y="3675888"/>
            <a:ext cx="310896" cy="310896"/>
          </a:xfrm>
          <a:prstGeom prst="roundRect">
            <a:avLst>
              <a:gd name="adj" fmla="val 14706"/>
            </a:avLst>
          </a:prstGeom>
          <a:solidFill>
            <a:schemeClr val="accent1"/>
          </a:solidFill>
          <a:ln/>
        </p:spPr>
      </p:sp>
      <p:sp>
        <p:nvSpPr>
          <p:cNvPr id="30" name="Rounded 143"/>
          <p:cNvSpPr/>
          <p:nvPr/>
        </p:nvSpPr>
        <p:spPr>
          <a:xfrm>
            <a:off x="1591056" y="3675888"/>
            <a:ext cx="310896" cy="310896"/>
          </a:xfrm>
          <a:prstGeom prst="roundRect">
            <a:avLst>
              <a:gd name="adj" fmla="val 14706"/>
            </a:avLst>
          </a:prstGeom>
          <a:solidFill>
            <a:schemeClr val="accent1"/>
          </a:solidFill>
          <a:ln/>
        </p:spPr>
      </p:sp>
      <p:sp>
        <p:nvSpPr>
          <p:cNvPr id="31" name="Rounded 144"/>
          <p:cNvSpPr/>
          <p:nvPr/>
        </p:nvSpPr>
        <p:spPr>
          <a:xfrm>
            <a:off x="1993392" y="3675888"/>
            <a:ext cx="310896" cy="310896"/>
          </a:xfrm>
          <a:prstGeom prst="roundRect">
            <a:avLst>
              <a:gd name="adj" fmla="val 14706"/>
            </a:avLst>
          </a:prstGeom>
          <a:solidFill>
            <a:schemeClr val="accent1"/>
          </a:solidFill>
          <a:ln/>
        </p:spPr>
      </p:sp>
      <p:sp>
        <p:nvSpPr>
          <p:cNvPr id="32" name="Rounded 145"/>
          <p:cNvSpPr/>
          <p:nvPr/>
        </p:nvSpPr>
        <p:spPr>
          <a:xfrm>
            <a:off x="2395728" y="3675888"/>
            <a:ext cx="310896" cy="310896"/>
          </a:xfrm>
          <a:prstGeom prst="roundRect">
            <a:avLst>
              <a:gd name="adj" fmla="val 14706"/>
            </a:avLst>
          </a:prstGeom>
          <a:solidFill>
            <a:schemeClr val="accent1"/>
          </a:solidFill>
          <a:ln/>
        </p:spPr>
      </p:sp>
      <p:sp>
        <p:nvSpPr>
          <p:cNvPr id="33" name="Rounded 146"/>
          <p:cNvSpPr/>
          <p:nvPr/>
        </p:nvSpPr>
        <p:spPr>
          <a:xfrm>
            <a:off x="2798064" y="3675888"/>
            <a:ext cx="310896" cy="310896"/>
          </a:xfrm>
          <a:prstGeom prst="roundRect">
            <a:avLst>
              <a:gd name="adj" fmla="val 14706"/>
            </a:avLst>
          </a:prstGeom>
          <a:solidFill>
            <a:schemeClr val="accent1"/>
          </a:solidFill>
          <a:ln/>
        </p:spPr>
      </p:sp>
      <p:sp>
        <p:nvSpPr>
          <p:cNvPr id="34" name="Rounded 147"/>
          <p:cNvSpPr/>
          <p:nvPr/>
        </p:nvSpPr>
        <p:spPr>
          <a:xfrm>
            <a:off x="3200400" y="3675888"/>
            <a:ext cx="310896" cy="310896"/>
          </a:xfrm>
          <a:prstGeom prst="roundRect">
            <a:avLst>
              <a:gd name="adj" fmla="val 14706"/>
            </a:avLst>
          </a:prstGeom>
          <a:solidFill>
            <a:schemeClr val="accent1"/>
          </a:solidFill>
          <a:ln/>
        </p:spPr>
      </p:sp>
      <p:sp>
        <p:nvSpPr>
          <p:cNvPr id="35" name="Rounded 148"/>
          <p:cNvSpPr/>
          <p:nvPr/>
        </p:nvSpPr>
        <p:spPr>
          <a:xfrm>
            <a:off x="3602736" y="3675888"/>
            <a:ext cx="310896" cy="310896"/>
          </a:xfrm>
          <a:prstGeom prst="roundRect">
            <a:avLst>
              <a:gd name="adj" fmla="val 14706"/>
            </a:avLst>
          </a:prstGeom>
          <a:solidFill>
            <a:schemeClr val="accent1"/>
          </a:solidFill>
          <a:ln/>
        </p:spPr>
      </p:sp>
      <p:sp>
        <p:nvSpPr>
          <p:cNvPr id="36" name="Rounded 149"/>
          <p:cNvSpPr/>
          <p:nvPr/>
        </p:nvSpPr>
        <p:spPr>
          <a:xfrm>
            <a:off x="1188720" y="4078224"/>
            <a:ext cx="310896" cy="310896"/>
          </a:xfrm>
          <a:prstGeom prst="roundRect">
            <a:avLst>
              <a:gd name="adj" fmla="val 14706"/>
            </a:avLst>
          </a:prstGeom>
          <a:solidFill>
            <a:schemeClr val="accent1"/>
          </a:solidFill>
          <a:ln/>
        </p:spPr>
      </p:sp>
      <p:sp>
        <p:nvSpPr>
          <p:cNvPr id="37" name="Rounded 150"/>
          <p:cNvSpPr/>
          <p:nvPr/>
        </p:nvSpPr>
        <p:spPr>
          <a:xfrm>
            <a:off x="1591056" y="4078224"/>
            <a:ext cx="310896" cy="310896"/>
          </a:xfrm>
          <a:prstGeom prst="roundRect">
            <a:avLst>
              <a:gd name="adj" fmla="val 14706"/>
            </a:avLst>
          </a:prstGeom>
          <a:solidFill>
            <a:schemeClr val="accent1"/>
          </a:solidFill>
          <a:ln/>
        </p:spPr>
      </p:sp>
      <p:sp>
        <p:nvSpPr>
          <p:cNvPr id="38" name="Rounded 151"/>
          <p:cNvSpPr/>
          <p:nvPr/>
        </p:nvSpPr>
        <p:spPr>
          <a:xfrm>
            <a:off x="1993392" y="4078224"/>
            <a:ext cx="310896" cy="310896"/>
          </a:xfrm>
          <a:prstGeom prst="roundRect">
            <a:avLst>
              <a:gd name="adj" fmla="val 14706"/>
            </a:avLst>
          </a:prstGeom>
          <a:solidFill>
            <a:schemeClr val="accent1"/>
          </a:solidFill>
          <a:ln/>
        </p:spPr>
      </p:sp>
      <p:sp>
        <p:nvSpPr>
          <p:cNvPr id="39" name="Rounded 152"/>
          <p:cNvSpPr/>
          <p:nvPr/>
        </p:nvSpPr>
        <p:spPr>
          <a:xfrm>
            <a:off x="2395728" y="4078224"/>
            <a:ext cx="310896" cy="310896"/>
          </a:xfrm>
          <a:prstGeom prst="roundRect">
            <a:avLst>
              <a:gd name="adj" fmla="val 14706"/>
            </a:avLst>
          </a:prstGeom>
          <a:solidFill>
            <a:schemeClr val="accent1"/>
          </a:solidFill>
          <a:ln/>
        </p:spPr>
      </p:sp>
      <p:sp>
        <p:nvSpPr>
          <p:cNvPr id="40" name="Rounded 153"/>
          <p:cNvSpPr/>
          <p:nvPr/>
        </p:nvSpPr>
        <p:spPr>
          <a:xfrm>
            <a:off x="2798064" y="4078224"/>
            <a:ext cx="310896" cy="310896"/>
          </a:xfrm>
          <a:prstGeom prst="roundRect">
            <a:avLst>
              <a:gd name="adj" fmla="val 14706"/>
            </a:avLst>
          </a:prstGeom>
          <a:solidFill>
            <a:schemeClr val="accent1"/>
          </a:solidFill>
          <a:ln/>
        </p:spPr>
      </p:sp>
      <p:sp>
        <p:nvSpPr>
          <p:cNvPr id="41" name="Rounded 154"/>
          <p:cNvSpPr/>
          <p:nvPr/>
        </p:nvSpPr>
        <p:spPr>
          <a:xfrm>
            <a:off x="3200400" y="4078224"/>
            <a:ext cx="310896" cy="310896"/>
          </a:xfrm>
          <a:prstGeom prst="roundRect">
            <a:avLst>
              <a:gd name="adj" fmla="val 14706"/>
            </a:avLst>
          </a:prstGeom>
          <a:solidFill>
            <a:schemeClr val="accent1"/>
          </a:solidFill>
          <a:ln/>
        </p:spPr>
      </p:sp>
      <p:sp>
        <p:nvSpPr>
          <p:cNvPr id="42" name="Rounded 155"/>
          <p:cNvSpPr/>
          <p:nvPr/>
        </p:nvSpPr>
        <p:spPr>
          <a:xfrm>
            <a:off x="3602736" y="4078224"/>
            <a:ext cx="310896" cy="310896"/>
          </a:xfrm>
          <a:prstGeom prst="roundRect">
            <a:avLst>
              <a:gd name="adj" fmla="val 14706"/>
            </a:avLst>
          </a:prstGeom>
          <a:solidFill>
            <a:schemeClr val="accent1"/>
          </a:solidFill>
          <a:ln/>
        </p:spPr>
      </p:sp>
      <p:sp>
        <p:nvSpPr>
          <p:cNvPr id="43" name="Text 156"/>
          <p:cNvSpPr txBox="1"/>
          <p:nvPr/>
        </p:nvSpPr>
        <p:spPr>
          <a:xfrm>
            <a:off x="1188720" y="4526280"/>
            <a:ext cx="4114800" cy="274320"/>
          </a:xfrm>
          <a:prstGeom prst="rect">
            <a:avLst/>
          </a:prstGeom>
          <a:noFill/>
          <a:ln/>
        </p:spPr>
        <p:txBody>
          <a:bodyPr wrap="square" lIns="0" tIns="0" rIns="0" bIns="0" rtlCol="0" anchor="ctr"/>
          <a:lstStyle/>
          <a:p>
            <a:pPr indent="0" marL="0">
              <a:buNone/>
            </a:pPr>
            <a:r>
              <a:rPr lang="en-US" sz="1200" dirty="0">
                <a:solidFill>
                  <a:schemeClr val="tx2"/>
                </a:solidFill>
              </a:rPr>
              <a:t>35-aircraft threshold · each square is one aircraft</a:t>
            </a:r>
            <a:endParaRPr lang="en-US" sz="1200" dirty="0"/>
          </a:p>
        </p:txBody>
      </p:sp>
      <p:sp>
        <p:nvSpPr>
          <p:cNvPr id="44" name="Arrow 157"/>
          <p:cNvSpPr/>
          <p:nvPr/>
        </p:nvSpPr>
        <p:spPr>
          <a:xfrm>
            <a:off x="4370832" y="3429000"/>
            <a:ext cx="3447288" cy="0"/>
          </a:xfrm>
          <a:prstGeom prst="line">
            <a:avLst/>
          </a:prstGeom>
          <a:noFill/>
          <a:ln w="19050">
            <a:solidFill>
              <a:schemeClr val="accent2"/>
            </a:solidFill>
            <a:prstDash val="solid"/>
            <a:tailEnd type="triangle"/>
          </a:ln>
        </p:spPr>
      </p:sp>
      <p:sp>
        <p:nvSpPr>
          <p:cNvPr id="45" name="Rounded 158"/>
          <p:cNvSpPr/>
          <p:nvPr/>
        </p:nvSpPr>
        <p:spPr>
          <a:xfrm>
            <a:off x="5042916" y="3200400"/>
            <a:ext cx="2103120" cy="457200"/>
          </a:xfrm>
          <a:prstGeom prst="roundRect">
            <a:avLst>
              <a:gd name="adj" fmla="val 50000"/>
            </a:avLst>
          </a:prstGeom>
          <a:solidFill>
            <a:schemeClr val="bg2"/>
          </a:solidFill>
          <a:ln/>
        </p:spPr>
      </p:sp>
      <p:sp>
        <p:nvSpPr>
          <p:cNvPr id="46" name="Text 159"/>
          <p:cNvSpPr txBox="1"/>
          <p:nvPr/>
        </p:nvSpPr>
        <p:spPr>
          <a:xfrm>
            <a:off x="5042916" y="3200400"/>
            <a:ext cx="2103120" cy="457200"/>
          </a:xfrm>
          <a:prstGeom prst="rect">
            <a:avLst/>
          </a:prstGeom>
          <a:noFill/>
          <a:ln/>
        </p:spPr>
        <p:txBody>
          <a:bodyPr wrap="square" lIns="0" tIns="0" rIns="0" bIns="0" rtlCol="0" anchor="ctr"/>
          <a:lstStyle/>
          <a:p>
            <a:pPr algn="ctr" indent="0" marL="0">
              <a:buNone/>
            </a:pPr>
            <a:r>
              <a:rPr lang="en-US" sz="1200" b="1" dirty="0">
                <a:solidFill>
                  <a:schemeClr val="tx1"/>
                </a:solidFill>
              </a:rPr>
              <a:t>Only after 35 are delivered</a:t>
            </a:r>
            <a:endParaRPr lang="en-US" sz="1200" dirty="0"/>
          </a:p>
        </p:txBody>
      </p:sp>
      <p:sp>
        <p:nvSpPr>
          <p:cNvPr id="47" name="Rounded 160"/>
          <p:cNvSpPr/>
          <p:nvPr/>
        </p:nvSpPr>
        <p:spPr>
          <a:xfrm>
            <a:off x="8001000" y="2377440"/>
            <a:ext cx="3383280" cy="2103120"/>
          </a:xfrm>
          <a:prstGeom prst="roundRect">
            <a:avLst>
              <a:gd name="adj" fmla="val 9565"/>
            </a:avLst>
          </a:prstGeom>
          <a:solidFill>
            <a:schemeClr val="bg2"/>
          </a:solidFill>
          <a:ln/>
        </p:spPr>
      </p:sp>
      <p:sp>
        <p:nvSpPr>
          <p:cNvPr id="48" name="Text 161"/>
          <p:cNvSpPr txBox="1"/>
          <p:nvPr/>
        </p:nvSpPr>
        <p:spPr>
          <a:xfrm>
            <a:off x="8321040" y="2743200"/>
            <a:ext cx="2743200" cy="731520"/>
          </a:xfrm>
          <a:prstGeom prst="rect">
            <a:avLst/>
          </a:prstGeom>
          <a:noFill/>
          <a:ln/>
        </p:spPr>
        <p:txBody>
          <a:bodyPr wrap="square" lIns="0" tIns="0" rIns="0" bIns="0" rtlCol="0" anchor="t"/>
          <a:lstStyle/>
          <a:p>
            <a:pPr indent="0" marL="0">
              <a:lnSpc>
                <a:spcPct val="105000"/>
              </a:lnSpc>
              <a:buNone/>
            </a:pPr>
            <a:r>
              <a:rPr lang="en-US" sz="1800" b="1" dirty="0">
                <a:solidFill>
                  <a:schemeClr val="tx1"/>
                </a:solidFill>
              </a:rPr>
              <a:t>Other transcontinental airlines</a:t>
            </a:r>
            <a:endParaRPr lang="en-US" sz="1800" dirty="0"/>
          </a:p>
        </p:txBody>
      </p:sp>
      <p:sp>
        <p:nvSpPr>
          <p:cNvPr id="49" name="Text 162"/>
          <p:cNvSpPr txBox="1"/>
          <p:nvPr/>
        </p:nvSpPr>
        <p:spPr>
          <a:xfrm>
            <a:off x="8321040" y="3566160"/>
            <a:ext cx="2743200" cy="640080"/>
          </a:xfrm>
          <a:prstGeom prst="rect">
            <a:avLst/>
          </a:prstGeom>
          <a:noFill/>
          <a:ln/>
        </p:spPr>
        <p:txBody>
          <a:bodyPr wrap="square" lIns="0" tIns="0" rIns="0" bIns="0" rtlCol="0" anchor="t"/>
          <a:lstStyle/>
          <a:p>
            <a:pPr indent="0" marL="0">
              <a:lnSpc>
                <a:spcPct val="110000"/>
              </a:lnSpc>
              <a:buNone/>
            </a:pPr>
            <a:r>
              <a:rPr lang="en-US" sz="1400" dirty="0">
                <a:solidFill>
                  <a:schemeClr val="tx2"/>
                </a:solidFill>
              </a:rPr>
              <a:t>Sales permitted only once the condition is met</a:t>
            </a:r>
            <a:endParaRPr lang="en-US" sz="1400" dirty="0"/>
          </a:p>
        </p:txBody>
      </p:sp>
      <p:sp>
        <p:nvSpPr>
          <p:cNvPr id="25" name="Slide Number Placeholder 0"/>
          <p:cNvSpPr>
            <a:spLocks noGrp="1"/>
          </p:cNvSpPr>
          <p:nvPr>
            <p:ph type="sldNum" sz="quarter" idx="4294967295"/>
          </p:nvPr>
        </p:nvSpPr>
        <p:spPr>
          <a:xfrm>
            <a:off x="1127455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36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731520" y="475488"/>
            <a:ext cx="10728655" cy="731520"/>
          </a:xfrm>
          <a:prstGeom prst="rect">
            <a:avLst/>
          </a:prstGeom>
          <a:noFill/>
          <a:ln/>
        </p:spPr>
        <p:txBody>
          <a:bodyPr wrap="square" lIns="0" tIns="0" rIns="0" bIns="0" rtlCol="0" anchor="ctr"/>
          <a:lstStyle/>
          <a:p>
            <a:pPr algn="ctr" indent="0" marL="0">
              <a:buNone/>
            </a:pPr>
            <a:r>
              <a:rPr lang="en-US" sz="3600" b="1" spc="-100" kern="0" dirty="0">
                <a:solidFill>
                  <a:schemeClr val="tx1"/>
                </a:solidFill>
              </a:rPr>
              <a:t>From secret development to postwar airline service</a:t>
            </a:r>
            <a:endParaRPr lang="en-US" sz="3600" dirty="0"/>
          </a:p>
        </p:txBody>
      </p:sp>
      <p:sp>
        <p:nvSpPr>
          <p:cNvPr id="3" name="Text 0"/>
          <p:cNvSpPr/>
          <p:nvPr>
            <p:ph idx="101" type="body" hasCustomPrompt="1"/>
          </p:nvPr>
        </p:nvSpPr>
        <p:spPr>
          <a:xfrm>
            <a:off x="1280160" y="1225296"/>
            <a:ext cx="9631375" cy="411480"/>
          </a:xfrm>
          <a:prstGeom prst="rect">
            <a:avLst/>
          </a:prstGeom>
          <a:noFill/>
          <a:ln/>
        </p:spPr>
        <p:txBody>
          <a:bodyPr wrap="square" lIns="0" tIns="0" rIns="0" bIns="0" rtlCol="0" anchor="t"/>
          <a:lstStyle/>
          <a:p>
            <a:pPr algn="ctr" indent="0" marL="0">
              <a:buNone/>
            </a:pPr>
            <a:r>
              <a:rPr lang="en-US" sz="1800" dirty="0">
                <a:solidFill>
                  <a:schemeClr val="tx2"/>
                </a:solidFill>
              </a:rPr>
              <a:t>The war, the military takeover and the prototype's first flight came at different times</a:t>
            </a:r>
            <a:endParaRPr lang="en-US" sz="1800" dirty="0"/>
          </a:p>
        </p:txBody>
      </p:sp>
      <p:sp>
        <p:nvSpPr>
          <p:cNvPr id="4" name="Text 0"/>
          <p:cNvSpPr/>
          <p:nvPr>
            <p:ph idx="102" type="body" hasCustomPrompt="1"/>
          </p:nvPr>
        </p:nvSpPr>
        <p:spPr>
          <a:xfrm>
            <a:off x="1280160" y="5413248"/>
            <a:ext cx="9631375" cy="457200"/>
          </a:xfrm>
          <a:prstGeom prst="rect">
            <a:avLst/>
          </a:prstGeom>
          <a:noFill/>
          <a:ln/>
        </p:spPr>
        <p:txBody>
          <a:bodyPr wrap="square" lIns="0" tIns="0" rIns="0" bIns="0" rtlCol="0" anchor="ctr"/>
          <a:lstStyle/>
          <a:p>
            <a:pPr algn="ctr" indent="0" marL="0">
              <a:buNone/>
            </a:pPr>
            <a:r>
              <a:rPr lang="en-US" sz="2000" dirty="0">
                <a:solidFill>
                  <a:schemeClr val="tx1"/>
                </a:solidFill>
              </a:rPr>
              <a:t>The commercial launch timeline was rewritten by the war</a:t>
            </a:r>
            <a:endParaRPr lang="en-US" sz="2000" dirty="0"/>
          </a:p>
        </p:txBody>
      </p:sp>
      <p:sp>
        <p:nvSpPr>
          <p:cNvPr id="5" name="Text 0"/>
          <p:cNvSpPr/>
          <p:nvPr>
            <p:ph idx="103" type="body" hasCustomPrompt="1"/>
          </p:nvPr>
        </p:nvSpPr>
        <p:spPr>
          <a:xfrm>
            <a:off x="1280160" y="5961888"/>
            <a:ext cx="9631375" cy="502920"/>
          </a:xfrm>
          <a:prstGeom prst="rect">
            <a:avLst/>
          </a:prstGeom>
          <a:noFill/>
          <a:ln/>
        </p:spPr>
        <p:txBody>
          <a:bodyPr wrap="square" lIns="0" tIns="0" rIns="0" bIns="0" rtlCol="0" anchor="t"/>
          <a:lstStyle/>
          <a:p>
            <a:pPr algn="ctr" indent="0" marL="0">
              <a:buNone/>
            </a:pPr>
            <a:r>
              <a:rPr lang="en-US" sz="1100" dirty="0">
                <a:solidFill>
                  <a:schemeClr val="tx2"/>
                </a:solidFill>
              </a:rPr>
              <a:t>Main axis proportional to year. Sources: Lockheed, Smithsonian, TWA Museum.</a:t>
            </a:r>
            <a:endParaRPr lang="en-US" sz="1100" dirty="0"/>
          </a:p>
        </p:txBody>
      </p:sp>
      <p:sp>
        <p:nvSpPr>
          <p:cNvPr id="7" name="Rounded 163"/>
          <p:cNvSpPr/>
          <p:nvPr/>
        </p:nvSpPr>
        <p:spPr>
          <a:xfrm>
            <a:off x="4140926" y="2148840"/>
            <a:ext cx="5172891" cy="457200"/>
          </a:xfrm>
          <a:prstGeom prst="roundRect">
            <a:avLst>
              <a:gd name="adj" fmla="val 20000"/>
            </a:avLst>
          </a:prstGeom>
          <a:solidFill>
            <a:schemeClr val="bg2"/>
          </a:solidFill>
          <a:ln/>
        </p:spPr>
      </p:sp>
      <p:sp>
        <p:nvSpPr>
          <p:cNvPr id="8" name="Text 164"/>
          <p:cNvSpPr txBox="1"/>
          <p:nvPr/>
        </p:nvSpPr>
        <p:spPr>
          <a:xfrm>
            <a:off x="4140926" y="2148840"/>
            <a:ext cx="5172891" cy="457200"/>
          </a:xfrm>
          <a:prstGeom prst="rect">
            <a:avLst/>
          </a:prstGeom>
          <a:noFill/>
          <a:ln/>
        </p:spPr>
        <p:txBody>
          <a:bodyPr wrap="square" lIns="0" tIns="0" rIns="0" bIns="0" rtlCol="0" anchor="ctr"/>
          <a:lstStyle/>
          <a:p>
            <a:pPr algn="ctr" indent="0" marL="0">
              <a:buNone/>
            </a:pPr>
            <a:r>
              <a:rPr lang="en-US" sz="1200" dirty="0">
                <a:solidFill>
                  <a:schemeClr val="tx2"/>
                </a:solidFill>
              </a:rPr>
              <a:t>Wartime · 1942: the military takes over production</a:t>
            </a:r>
            <a:endParaRPr lang="en-US" sz="1200" dirty="0"/>
          </a:p>
        </p:txBody>
      </p:sp>
      <p:sp>
        <p:nvSpPr>
          <p:cNvPr id="9" name="Line 165"/>
          <p:cNvSpPr/>
          <p:nvPr/>
        </p:nvSpPr>
        <p:spPr>
          <a:xfrm>
            <a:off x="5434149" y="2697480"/>
            <a:ext cx="0" cy="914400"/>
          </a:xfrm>
          <a:prstGeom prst="line">
            <a:avLst/>
          </a:prstGeom>
          <a:noFill/>
          <a:ln w="9525">
            <a:solidFill>
              <a:schemeClr val="accent2"/>
            </a:solidFill>
            <a:prstDash val="dash"/>
          </a:ln>
        </p:spPr>
      </p:sp>
      <p:sp>
        <p:nvSpPr>
          <p:cNvPr id="10" name="Line 166"/>
          <p:cNvSpPr/>
          <p:nvPr/>
        </p:nvSpPr>
        <p:spPr>
          <a:xfrm>
            <a:off x="1554480" y="3611880"/>
            <a:ext cx="9052560" cy="0"/>
          </a:xfrm>
          <a:prstGeom prst="line">
            <a:avLst/>
          </a:prstGeom>
          <a:noFill/>
          <a:ln w="12700">
            <a:solidFill>
              <a:schemeClr val="accent2"/>
            </a:solidFill>
            <a:prstDash val="solid"/>
          </a:ln>
        </p:spPr>
      </p:sp>
      <p:sp>
        <p:nvSpPr>
          <p:cNvPr id="11" name="Circle 167"/>
          <p:cNvSpPr/>
          <p:nvPr/>
        </p:nvSpPr>
        <p:spPr>
          <a:xfrm>
            <a:off x="1453896" y="3511296"/>
            <a:ext cx="201168" cy="201168"/>
          </a:xfrm>
          <a:prstGeom prst="ellipse">
            <a:avLst/>
          </a:prstGeom>
          <a:solidFill>
            <a:schemeClr val="accent5"/>
          </a:solidFill>
          <a:ln/>
        </p:spPr>
      </p:sp>
      <p:sp>
        <p:nvSpPr>
          <p:cNvPr id="12" name="Text 168"/>
          <p:cNvSpPr txBox="1"/>
          <p:nvPr/>
        </p:nvSpPr>
        <p:spPr>
          <a:xfrm>
            <a:off x="457200" y="2834640"/>
            <a:ext cx="2194560" cy="502920"/>
          </a:xfrm>
          <a:prstGeom prst="rect">
            <a:avLst/>
          </a:prstGeom>
          <a:noFill/>
          <a:ln/>
        </p:spPr>
        <p:txBody>
          <a:bodyPr wrap="square" lIns="0" tIns="0" rIns="0" bIns="0" rtlCol="0" anchor="ctr"/>
          <a:lstStyle/>
          <a:p>
            <a:pPr algn="ctr" indent="0" marL="0">
              <a:buNone/>
            </a:pPr>
            <a:r>
              <a:rPr lang="en-US" sz="2600" b="1" spc="-100" kern="0" dirty="0">
                <a:solidFill>
                  <a:schemeClr val="tx1"/>
                </a:solidFill>
              </a:rPr>
              <a:t>1939</a:t>
            </a:r>
            <a:endParaRPr lang="en-US" sz="2600" dirty="0"/>
          </a:p>
        </p:txBody>
      </p:sp>
      <p:sp>
        <p:nvSpPr>
          <p:cNvPr id="13" name="Text 169"/>
          <p:cNvSpPr txBox="1"/>
          <p:nvPr/>
        </p:nvSpPr>
        <p:spPr>
          <a:xfrm>
            <a:off x="457200" y="3886200"/>
            <a:ext cx="2194560" cy="320040"/>
          </a:xfrm>
          <a:prstGeom prst="rect">
            <a:avLst/>
          </a:prstGeom>
          <a:noFill/>
          <a:ln/>
        </p:spPr>
        <p:txBody>
          <a:bodyPr wrap="square" lIns="0" tIns="0" rIns="0" bIns="0" rtlCol="0" anchor="ctr"/>
          <a:lstStyle/>
          <a:p>
            <a:pPr algn="ctr" indent="0" marL="0">
              <a:buNone/>
            </a:pPr>
            <a:r>
              <a:rPr lang="en-US" sz="1600" b="1" dirty="0">
                <a:solidFill>
                  <a:schemeClr val="tx1"/>
                </a:solidFill>
              </a:rPr>
              <a:t>Hughes gets involved</a:t>
            </a:r>
            <a:endParaRPr lang="en-US" sz="1600" dirty="0"/>
          </a:p>
        </p:txBody>
      </p:sp>
      <p:sp>
        <p:nvSpPr>
          <p:cNvPr id="14" name="Text 170"/>
          <p:cNvSpPr txBox="1"/>
          <p:nvPr/>
        </p:nvSpPr>
        <p:spPr>
          <a:xfrm>
            <a:off x="457200" y="4206240"/>
            <a:ext cx="2194560" cy="274320"/>
          </a:xfrm>
          <a:prstGeom prst="rect">
            <a:avLst/>
          </a:prstGeom>
          <a:noFill/>
          <a:ln/>
        </p:spPr>
        <p:txBody>
          <a:bodyPr wrap="square" lIns="0" tIns="0" rIns="0" bIns="0" rtlCol="0" anchor="ctr"/>
          <a:lstStyle/>
          <a:p>
            <a:pPr algn="ctr" indent="0" marL="0">
              <a:buNone/>
            </a:pPr>
            <a:r>
              <a:rPr lang="en-US" sz="1300" dirty="0">
                <a:solidFill>
                  <a:schemeClr val="tx2"/>
                </a:solidFill>
              </a:rPr>
              <a:t>Secret development</a:t>
            </a:r>
            <a:endParaRPr lang="en-US" sz="1300" dirty="0"/>
          </a:p>
        </p:txBody>
      </p:sp>
      <p:sp>
        <p:nvSpPr>
          <p:cNvPr id="15" name="Circle 171"/>
          <p:cNvSpPr/>
          <p:nvPr/>
        </p:nvSpPr>
        <p:spPr>
          <a:xfrm>
            <a:off x="4040342" y="3511296"/>
            <a:ext cx="201168" cy="201168"/>
          </a:xfrm>
          <a:prstGeom prst="ellipse">
            <a:avLst/>
          </a:prstGeom>
          <a:solidFill>
            <a:schemeClr val="accent5"/>
          </a:solidFill>
          <a:ln/>
        </p:spPr>
      </p:sp>
      <p:sp>
        <p:nvSpPr>
          <p:cNvPr id="16" name="Text 172"/>
          <p:cNvSpPr txBox="1"/>
          <p:nvPr/>
        </p:nvSpPr>
        <p:spPr>
          <a:xfrm>
            <a:off x="3043646" y="2834640"/>
            <a:ext cx="2194560" cy="502920"/>
          </a:xfrm>
          <a:prstGeom prst="rect">
            <a:avLst/>
          </a:prstGeom>
          <a:noFill/>
          <a:ln/>
        </p:spPr>
        <p:txBody>
          <a:bodyPr wrap="square" lIns="0" tIns="0" rIns="0" bIns="0" rtlCol="0" anchor="ctr"/>
          <a:lstStyle/>
          <a:p>
            <a:pPr algn="ctr" indent="0" marL="0">
              <a:buNone/>
            </a:pPr>
            <a:r>
              <a:rPr lang="en-US" sz="2600" b="1" spc="-100" kern="0" dirty="0">
                <a:solidFill>
                  <a:schemeClr val="tx1"/>
                </a:solidFill>
              </a:rPr>
              <a:t>1941</a:t>
            </a:r>
            <a:endParaRPr lang="en-US" sz="2600" dirty="0"/>
          </a:p>
        </p:txBody>
      </p:sp>
      <p:sp>
        <p:nvSpPr>
          <p:cNvPr id="17" name="Text 173"/>
          <p:cNvSpPr txBox="1"/>
          <p:nvPr/>
        </p:nvSpPr>
        <p:spPr>
          <a:xfrm>
            <a:off x="3043646" y="3886200"/>
            <a:ext cx="2194560" cy="320040"/>
          </a:xfrm>
          <a:prstGeom prst="rect">
            <a:avLst/>
          </a:prstGeom>
          <a:noFill/>
          <a:ln/>
        </p:spPr>
        <p:txBody>
          <a:bodyPr wrap="square" lIns="0" tIns="0" rIns="0" bIns="0" rtlCol="0" anchor="ctr"/>
          <a:lstStyle/>
          <a:p>
            <a:pPr algn="ctr" indent="0" marL="0">
              <a:buNone/>
            </a:pPr>
            <a:r>
              <a:rPr lang="en-US" sz="1600" b="1" dirty="0">
                <a:solidFill>
                  <a:schemeClr val="tx1"/>
                </a:solidFill>
              </a:rPr>
              <a:t>U.S. enters the war</a:t>
            </a:r>
            <a:endParaRPr lang="en-US" sz="1600" dirty="0"/>
          </a:p>
        </p:txBody>
      </p:sp>
      <p:sp>
        <p:nvSpPr>
          <p:cNvPr id="18" name="Text 174"/>
          <p:cNvSpPr txBox="1"/>
          <p:nvPr/>
        </p:nvSpPr>
        <p:spPr>
          <a:xfrm>
            <a:off x="3043646" y="4206240"/>
            <a:ext cx="2194560" cy="274320"/>
          </a:xfrm>
          <a:prstGeom prst="rect">
            <a:avLst/>
          </a:prstGeom>
          <a:noFill/>
          <a:ln/>
        </p:spPr>
        <p:txBody>
          <a:bodyPr wrap="square" lIns="0" tIns="0" rIns="0" bIns="0" rtlCol="0" anchor="ctr"/>
          <a:lstStyle/>
          <a:p>
            <a:pPr algn="ctr" indent="0" marL="0">
              <a:buNone/>
            </a:pPr>
            <a:r>
              <a:rPr lang="en-US" sz="1300" dirty="0">
                <a:solidFill>
                  <a:schemeClr val="tx2"/>
                </a:solidFill>
              </a:rPr>
              <a:t>Military needs take priority</a:t>
            </a:r>
            <a:endParaRPr lang="en-US" sz="1300" dirty="0"/>
          </a:p>
        </p:txBody>
      </p:sp>
      <p:sp>
        <p:nvSpPr>
          <p:cNvPr id="19" name="Circle 175"/>
          <p:cNvSpPr/>
          <p:nvPr/>
        </p:nvSpPr>
        <p:spPr>
          <a:xfrm>
            <a:off x="6626787" y="3511296"/>
            <a:ext cx="201168" cy="201168"/>
          </a:xfrm>
          <a:prstGeom prst="ellipse">
            <a:avLst/>
          </a:prstGeom>
          <a:solidFill>
            <a:schemeClr val="accent5"/>
          </a:solidFill>
          <a:ln/>
        </p:spPr>
      </p:sp>
      <p:sp>
        <p:nvSpPr>
          <p:cNvPr id="20" name="Text 176"/>
          <p:cNvSpPr txBox="1"/>
          <p:nvPr/>
        </p:nvSpPr>
        <p:spPr>
          <a:xfrm>
            <a:off x="5630091" y="2834640"/>
            <a:ext cx="2194560" cy="502920"/>
          </a:xfrm>
          <a:prstGeom prst="rect">
            <a:avLst/>
          </a:prstGeom>
          <a:noFill/>
          <a:ln/>
        </p:spPr>
        <p:txBody>
          <a:bodyPr wrap="square" lIns="0" tIns="0" rIns="0" bIns="0" rtlCol="0" anchor="ctr"/>
          <a:lstStyle/>
          <a:p>
            <a:pPr algn="ctr" indent="0" marL="0">
              <a:buNone/>
            </a:pPr>
            <a:r>
              <a:rPr lang="en-US" sz="2600" b="1" spc="-100" kern="0" dirty="0">
                <a:solidFill>
                  <a:schemeClr val="tx1"/>
                </a:solidFill>
              </a:rPr>
              <a:t>1943</a:t>
            </a:r>
            <a:endParaRPr lang="en-US" sz="2600" dirty="0"/>
          </a:p>
        </p:txBody>
      </p:sp>
      <p:sp>
        <p:nvSpPr>
          <p:cNvPr id="21" name="Text 177"/>
          <p:cNvSpPr txBox="1"/>
          <p:nvPr/>
        </p:nvSpPr>
        <p:spPr>
          <a:xfrm>
            <a:off x="5630091" y="3886200"/>
            <a:ext cx="2194560" cy="320040"/>
          </a:xfrm>
          <a:prstGeom prst="rect">
            <a:avLst/>
          </a:prstGeom>
          <a:noFill/>
          <a:ln/>
        </p:spPr>
        <p:txBody>
          <a:bodyPr wrap="square" lIns="0" tIns="0" rIns="0" bIns="0" rtlCol="0" anchor="ctr"/>
          <a:lstStyle/>
          <a:p>
            <a:pPr algn="ctr" indent="0" marL="0">
              <a:buNone/>
            </a:pPr>
            <a:r>
              <a:rPr lang="en-US" sz="1600" b="1" dirty="0">
                <a:solidFill>
                  <a:schemeClr val="tx1"/>
                </a:solidFill>
              </a:rPr>
              <a:t>C-69 first flight</a:t>
            </a:r>
            <a:endParaRPr lang="en-US" sz="1600" dirty="0"/>
          </a:p>
        </p:txBody>
      </p:sp>
      <p:sp>
        <p:nvSpPr>
          <p:cNvPr id="22" name="Text 178"/>
          <p:cNvSpPr txBox="1"/>
          <p:nvPr/>
        </p:nvSpPr>
        <p:spPr>
          <a:xfrm>
            <a:off x="5630091" y="4206240"/>
            <a:ext cx="2194560" cy="274320"/>
          </a:xfrm>
          <a:prstGeom prst="rect">
            <a:avLst/>
          </a:prstGeom>
          <a:noFill/>
          <a:ln/>
        </p:spPr>
        <p:txBody>
          <a:bodyPr wrap="square" lIns="0" tIns="0" rIns="0" bIns="0" rtlCol="0" anchor="ctr"/>
          <a:lstStyle/>
          <a:p>
            <a:pPr algn="ctr" indent="0" marL="0">
              <a:buNone/>
            </a:pPr>
            <a:r>
              <a:rPr lang="en-US" sz="1300" dirty="0">
                <a:solidFill>
                  <a:schemeClr val="tx2"/>
                </a:solidFill>
              </a:rPr>
              <a:t>January 9</a:t>
            </a:r>
            <a:endParaRPr lang="en-US" sz="1300" dirty="0"/>
          </a:p>
        </p:txBody>
      </p:sp>
      <p:sp>
        <p:nvSpPr>
          <p:cNvPr id="23" name="Circle 179"/>
          <p:cNvSpPr/>
          <p:nvPr/>
        </p:nvSpPr>
        <p:spPr>
          <a:xfrm>
            <a:off x="10506456" y="3511296"/>
            <a:ext cx="201168" cy="201168"/>
          </a:xfrm>
          <a:prstGeom prst="ellipse">
            <a:avLst/>
          </a:prstGeom>
          <a:solidFill>
            <a:schemeClr val="accent1"/>
          </a:solidFill>
          <a:ln/>
        </p:spPr>
      </p:sp>
      <p:sp>
        <p:nvSpPr>
          <p:cNvPr id="24" name="Text 180"/>
          <p:cNvSpPr txBox="1"/>
          <p:nvPr/>
        </p:nvSpPr>
        <p:spPr>
          <a:xfrm>
            <a:off x="9509760" y="2834640"/>
            <a:ext cx="2194560" cy="502920"/>
          </a:xfrm>
          <a:prstGeom prst="rect">
            <a:avLst/>
          </a:prstGeom>
          <a:noFill/>
          <a:ln/>
        </p:spPr>
        <p:txBody>
          <a:bodyPr wrap="square" lIns="0" tIns="0" rIns="0" bIns="0" rtlCol="0" anchor="ctr"/>
          <a:lstStyle/>
          <a:p>
            <a:pPr algn="ctr" indent="0" marL="0">
              <a:buNone/>
            </a:pPr>
            <a:r>
              <a:rPr lang="en-US" sz="2600" b="1" spc="-100" kern="0" dirty="0">
                <a:solidFill>
                  <a:schemeClr val="accent1"/>
                </a:solidFill>
              </a:rPr>
              <a:t>1946</a:t>
            </a:r>
            <a:endParaRPr lang="en-US" sz="2600" dirty="0"/>
          </a:p>
        </p:txBody>
      </p:sp>
      <p:sp>
        <p:nvSpPr>
          <p:cNvPr id="25" name="Text 181"/>
          <p:cNvSpPr txBox="1"/>
          <p:nvPr/>
        </p:nvSpPr>
        <p:spPr>
          <a:xfrm>
            <a:off x="9509760" y="3886200"/>
            <a:ext cx="2194560" cy="320040"/>
          </a:xfrm>
          <a:prstGeom prst="rect">
            <a:avLst/>
          </a:prstGeom>
          <a:noFill/>
          <a:ln/>
        </p:spPr>
        <p:txBody>
          <a:bodyPr wrap="square" lIns="0" tIns="0" rIns="0" bIns="0" rtlCol="0" anchor="ctr"/>
          <a:lstStyle/>
          <a:p>
            <a:pPr algn="ctr" indent="0" marL="0">
              <a:buNone/>
            </a:pPr>
            <a:r>
              <a:rPr lang="en-US" sz="1600" b="1" dirty="0">
                <a:solidFill>
                  <a:schemeClr val="tx1"/>
                </a:solidFill>
              </a:rPr>
              <a:t>TWA airline service</a:t>
            </a:r>
            <a:endParaRPr lang="en-US" sz="1600" dirty="0"/>
          </a:p>
        </p:txBody>
      </p:sp>
      <p:sp>
        <p:nvSpPr>
          <p:cNvPr id="26" name="Text 182"/>
          <p:cNvSpPr txBox="1"/>
          <p:nvPr/>
        </p:nvSpPr>
        <p:spPr>
          <a:xfrm>
            <a:off x="9509760" y="4206240"/>
            <a:ext cx="2194560" cy="274320"/>
          </a:xfrm>
          <a:prstGeom prst="rect">
            <a:avLst/>
          </a:prstGeom>
          <a:noFill/>
          <a:ln/>
        </p:spPr>
        <p:txBody>
          <a:bodyPr wrap="square" lIns="0" tIns="0" rIns="0" bIns="0" rtlCol="0" anchor="ctr"/>
          <a:lstStyle/>
          <a:p>
            <a:pPr algn="ctr" indent="0" marL="0">
              <a:buNone/>
            </a:pPr>
            <a:r>
              <a:rPr lang="en-US" sz="1300" dirty="0">
                <a:solidFill>
                  <a:schemeClr val="tx2"/>
                </a:solidFill>
              </a:rPr>
              <a:t>Transatlantic, from February</a:t>
            </a:r>
            <a:endParaRPr lang="en-US" sz="1300" dirty="0"/>
          </a:p>
        </p:txBody>
      </p:sp>
      <p:sp>
        <p:nvSpPr>
          <p:cNvPr id="25" name="Slide Number Placeholder 0"/>
          <p:cNvSpPr>
            <a:spLocks noGrp="1"/>
          </p:cNvSpPr>
          <p:nvPr>
            <p:ph type="sldNum" sz="quarter" idx="4294967295"/>
          </p:nvPr>
        </p:nvSpPr>
        <p:spPr>
          <a:xfrm>
            <a:off x="1127455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36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183"/>
          <p:cNvSpPr txBox="1"/>
          <p:nvPr/>
        </p:nvSpPr>
        <p:spPr>
          <a:xfrm>
            <a:off x="6309360" y="685800"/>
            <a:ext cx="5120640" cy="1188720"/>
          </a:xfrm>
          <a:prstGeom prst="rect">
            <a:avLst/>
          </a:prstGeom>
          <a:noFill/>
          <a:ln/>
        </p:spPr>
        <p:txBody>
          <a:bodyPr wrap="square" lIns="0" tIns="0" rIns="0" bIns="0" rtlCol="0" anchor="t"/>
          <a:lstStyle/>
          <a:p>
            <a:pPr indent="0" marL="0">
              <a:buNone/>
            </a:pPr>
            <a:r>
              <a:rPr lang="en-US" sz="3600" b="1" spc="-100" kern="0" dirty="0">
                <a:solidFill>
                  <a:schemeClr val="tx1"/>
                </a:solidFill>
              </a:rPr>
              <a:t>Connie is a family</a:t>
            </a:r>
            <a:endParaRPr lang="en-US" sz="3600" dirty="0"/>
          </a:p>
          <a:p>
            <a:pPr indent="0" marL="0">
              <a:buNone/>
            </a:pPr>
            <a:r>
              <a:rPr lang="en-US" sz="3600" b="1" spc="-100" kern="0" dirty="0">
                <a:solidFill>
                  <a:schemeClr val="tx1"/>
                </a:solidFill>
              </a:rPr>
              <a:t>that kept evolving</a:t>
            </a:r>
            <a:endParaRPr lang="en-US" sz="3600" dirty="0"/>
          </a:p>
        </p:txBody>
      </p:sp>
      <p:sp>
        <p:nvSpPr>
          <p:cNvPr id="3" name="Text 184"/>
          <p:cNvSpPr txBox="1"/>
          <p:nvPr/>
        </p:nvSpPr>
        <p:spPr>
          <a:xfrm>
            <a:off x="6309360" y="1920240"/>
            <a:ext cx="5120640" cy="640080"/>
          </a:xfrm>
          <a:prstGeom prst="rect">
            <a:avLst/>
          </a:prstGeom>
          <a:noFill/>
          <a:ln/>
        </p:spPr>
        <p:txBody>
          <a:bodyPr wrap="square" lIns="0" tIns="0" rIns="0" bIns="0" rtlCol="0" anchor="t"/>
          <a:lstStyle/>
          <a:p>
            <a:pPr indent="0" marL="0">
              <a:lnSpc>
                <a:spcPct val="110000"/>
              </a:lnSpc>
              <a:buNone/>
            </a:pPr>
            <a:r>
              <a:rPr lang="en-US" sz="1600" dirty="0">
                <a:solidFill>
                  <a:schemeClr val="tx2"/>
                </a:solidFill>
              </a:rPr>
              <a:t>Representative models and the year each entered service. Models don't share one specification.</a:t>
            </a:r>
            <a:endParaRPr lang="en-US" sz="1600" dirty="0"/>
          </a:p>
        </p:txBody>
      </p:sp>
      <p:sp>
        <p:nvSpPr>
          <p:cNvPr id="4" name="Line 185"/>
          <p:cNvSpPr/>
          <p:nvPr/>
        </p:nvSpPr>
        <p:spPr>
          <a:xfrm>
            <a:off x="6400800" y="3063240"/>
            <a:ext cx="0" cy="2011680"/>
          </a:xfrm>
          <a:prstGeom prst="line">
            <a:avLst/>
          </a:prstGeom>
          <a:noFill/>
          <a:ln w="12700">
            <a:solidFill>
              <a:schemeClr val="accent2"/>
            </a:solidFill>
            <a:prstDash val="solid"/>
          </a:ln>
        </p:spPr>
      </p:sp>
      <p:sp>
        <p:nvSpPr>
          <p:cNvPr id="5" name="Circle 186"/>
          <p:cNvSpPr/>
          <p:nvPr/>
        </p:nvSpPr>
        <p:spPr>
          <a:xfrm>
            <a:off x="6327648" y="2990088"/>
            <a:ext cx="146304" cy="146304"/>
          </a:xfrm>
          <a:prstGeom prst="ellipse">
            <a:avLst/>
          </a:prstGeom>
          <a:solidFill>
            <a:schemeClr val="accent1"/>
          </a:solidFill>
          <a:ln/>
        </p:spPr>
      </p:sp>
      <p:sp>
        <p:nvSpPr>
          <p:cNvPr id="6" name="Text 187"/>
          <p:cNvSpPr txBox="1"/>
          <p:nvPr/>
        </p:nvSpPr>
        <p:spPr>
          <a:xfrm>
            <a:off x="6766560" y="2862072"/>
            <a:ext cx="4663440" cy="411480"/>
          </a:xfrm>
          <a:prstGeom prst="rect">
            <a:avLst/>
          </a:prstGeom>
          <a:noFill/>
          <a:ln/>
        </p:spPr>
        <p:txBody>
          <a:bodyPr wrap="square" lIns="0" tIns="0" rIns="0" bIns="0" rtlCol="0" anchor="ctr"/>
          <a:lstStyle/>
          <a:p>
            <a:pPr indent="0" marL="0">
              <a:buNone/>
            </a:pPr>
            <a:r>
              <a:rPr lang="en-US" sz="2200" b="1" dirty="0">
                <a:solidFill>
                  <a:schemeClr val="tx1"/>
                </a:solidFill>
              </a:rPr>
              <a:t>L-049</a:t>
            </a:r>
            <a:pPr indent="0" marL="0">
              <a:buNone/>
            </a:pPr>
            <a:r>
              <a:rPr lang="en-US" sz="1500" b="1" dirty="0">
                <a:solidFill>
                  <a:schemeClr val="accent1"/>
                </a:solidFill>
              </a:rPr>
              <a:t>   1946</a:t>
            </a:r>
            <a:endParaRPr lang="en-US" sz="2200" dirty="0"/>
          </a:p>
        </p:txBody>
      </p:sp>
      <p:sp>
        <p:nvSpPr>
          <p:cNvPr id="7" name="Text 188"/>
          <p:cNvSpPr txBox="1"/>
          <p:nvPr/>
        </p:nvSpPr>
        <p:spPr>
          <a:xfrm>
            <a:off x="6766560" y="3273552"/>
            <a:ext cx="4663440" cy="274320"/>
          </a:xfrm>
          <a:prstGeom prst="rect">
            <a:avLst/>
          </a:prstGeom>
          <a:noFill/>
          <a:ln/>
        </p:spPr>
        <p:txBody>
          <a:bodyPr wrap="square" lIns="0" tIns="0" rIns="0" bIns="0" rtlCol="0" anchor="t"/>
          <a:lstStyle/>
          <a:p>
            <a:pPr indent="0" marL="0">
              <a:buNone/>
            </a:pPr>
            <a:r>
              <a:rPr lang="en-US" sz="1400" dirty="0">
                <a:solidFill>
                  <a:schemeClr val="tx2"/>
                </a:solidFill>
              </a:rPr>
              <a:t>Postwar airline service</a:t>
            </a:r>
            <a:endParaRPr lang="en-US" sz="1400" dirty="0"/>
          </a:p>
        </p:txBody>
      </p:sp>
      <p:sp>
        <p:nvSpPr>
          <p:cNvPr id="8" name="Circle 189"/>
          <p:cNvSpPr/>
          <p:nvPr/>
        </p:nvSpPr>
        <p:spPr>
          <a:xfrm>
            <a:off x="6327648" y="3995928"/>
            <a:ext cx="146304" cy="146304"/>
          </a:xfrm>
          <a:prstGeom prst="ellipse">
            <a:avLst/>
          </a:prstGeom>
          <a:solidFill>
            <a:schemeClr val="accent1"/>
          </a:solidFill>
          <a:ln/>
        </p:spPr>
      </p:sp>
      <p:sp>
        <p:nvSpPr>
          <p:cNvPr id="9" name="Text 190"/>
          <p:cNvSpPr txBox="1"/>
          <p:nvPr/>
        </p:nvSpPr>
        <p:spPr>
          <a:xfrm>
            <a:off x="6766560" y="3867912"/>
            <a:ext cx="4663440" cy="411480"/>
          </a:xfrm>
          <a:prstGeom prst="rect">
            <a:avLst/>
          </a:prstGeom>
          <a:noFill/>
          <a:ln/>
        </p:spPr>
        <p:txBody>
          <a:bodyPr wrap="square" lIns="0" tIns="0" rIns="0" bIns="0" rtlCol="0" anchor="ctr"/>
          <a:lstStyle/>
          <a:p>
            <a:pPr indent="0" marL="0">
              <a:buNone/>
            </a:pPr>
            <a:r>
              <a:rPr lang="en-US" sz="2200" b="1" dirty="0">
                <a:solidFill>
                  <a:schemeClr val="tx1"/>
                </a:solidFill>
              </a:rPr>
              <a:t>L-1049</a:t>
            </a:r>
            <a:pPr indent="0" marL="0">
              <a:buNone/>
            </a:pPr>
            <a:r>
              <a:rPr lang="en-US" sz="1500" b="1" dirty="0">
                <a:solidFill>
                  <a:schemeClr val="accent1"/>
                </a:solidFill>
              </a:rPr>
              <a:t>   1951</a:t>
            </a:r>
            <a:endParaRPr lang="en-US" sz="2200" dirty="0"/>
          </a:p>
        </p:txBody>
      </p:sp>
      <p:sp>
        <p:nvSpPr>
          <p:cNvPr id="10" name="Text 191"/>
          <p:cNvSpPr txBox="1"/>
          <p:nvPr/>
        </p:nvSpPr>
        <p:spPr>
          <a:xfrm>
            <a:off x="6766560" y="4279392"/>
            <a:ext cx="4663440" cy="274320"/>
          </a:xfrm>
          <a:prstGeom prst="rect">
            <a:avLst/>
          </a:prstGeom>
          <a:noFill/>
          <a:ln/>
        </p:spPr>
        <p:txBody>
          <a:bodyPr wrap="square" lIns="0" tIns="0" rIns="0" bIns="0" rtlCol="0" anchor="t"/>
          <a:lstStyle/>
          <a:p>
            <a:pPr indent="0" marL="0">
              <a:buNone/>
            </a:pPr>
            <a:r>
              <a:rPr lang="en-US" sz="1400" dirty="0">
                <a:solidFill>
                  <a:schemeClr val="tx2"/>
                </a:solidFill>
              </a:rPr>
              <a:t>Stretched fuselage, more capacity</a:t>
            </a:r>
            <a:endParaRPr lang="en-US" sz="1400" dirty="0"/>
          </a:p>
        </p:txBody>
      </p:sp>
      <p:sp>
        <p:nvSpPr>
          <p:cNvPr id="11" name="Circle 192"/>
          <p:cNvSpPr/>
          <p:nvPr/>
        </p:nvSpPr>
        <p:spPr>
          <a:xfrm>
            <a:off x="6327648" y="5001768"/>
            <a:ext cx="146304" cy="146304"/>
          </a:xfrm>
          <a:prstGeom prst="ellipse">
            <a:avLst/>
          </a:prstGeom>
          <a:solidFill>
            <a:schemeClr val="accent1"/>
          </a:solidFill>
          <a:ln/>
        </p:spPr>
      </p:sp>
      <p:sp>
        <p:nvSpPr>
          <p:cNvPr id="12" name="Text 193"/>
          <p:cNvSpPr txBox="1"/>
          <p:nvPr/>
        </p:nvSpPr>
        <p:spPr>
          <a:xfrm>
            <a:off x="6766560" y="4873752"/>
            <a:ext cx="4663440" cy="411480"/>
          </a:xfrm>
          <a:prstGeom prst="rect">
            <a:avLst/>
          </a:prstGeom>
          <a:noFill/>
          <a:ln/>
        </p:spPr>
        <p:txBody>
          <a:bodyPr wrap="square" lIns="0" tIns="0" rIns="0" bIns="0" rtlCol="0" anchor="ctr"/>
          <a:lstStyle/>
          <a:p>
            <a:pPr indent="0" marL="0">
              <a:buNone/>
            </a:pPr>
            <a:r>
              <a:rPr lang="en-US" sz="2200" b="1" dirty="0">
                <a:solidFill>
                  <a:schemeClr val="tx1"/>
                </a:solidFill>
              </a:rPr>
              <a:t>L-1649A</a:t>
            </a:r>
            <a:pPr indent="0" marL="0">
              <a:buNone/>
            </a:pPr>
            <a:r>
              <a:rPr lang="en-US" sz="1500" b="1" dirty="0">
                <a:solidFill>
                  <a:schemeClr val="accent1"/>
                </a:solidFill>
              </a:rPr>
              <a:t>   1957</a:t>
            </a:r>
            <a:endParaRPr lang="en-US" sz="2200" dirty="0"/>
          </a:p>
        </p:txBody>
      </p:sp>
      <p:sp>
        <p:nvSpPr>
          <p:cNvPr id="13" name="Text 194"/>
          <p:cNvSpPr txBox="1"/>
          <p:nvPr/>
        </p:nvSpPr>
        <p:spPr>
          <a:xfrm>
            <a:off x="6766560" y="5285232"/>
            <a:ext cx="4663440" cy="274320"/>
          </a:xfrm>
          <a:prstGeom prst="rect">
            <a:avLst/>
          </a:prstGeom>
          <a:noFill/>
          <a:ln/>
        </p:spPr>
        <p:txBody>
          <a:bodyPr wrap="square" lIns="0" tIns="0" rIns="0" bIns="0" rtlCol="0" anchor="t"/>
          <a:lstStyle/>
          <a:p>
            <a:pPr indent="0" marL="0">
              <a:buNone/>
            </a:pPr>
            <a:r>
              <a:rPr lang="en-US" sz="1400" dirty="0">
                <a:solidFill>
                  <a:schemeClr val="tx2"/>
                </a:solidFill>
              </a:rPr>
              <a:t>Starliner: new wing, longer range</a:t>
            </a:r>
            <a:endParaRPr lang="en-US" sz="1400" dirty="0"/>
          </a:p>
        </p:txBody>
      </p:sp>
      <p:sp>
        <p:nvSpPr>
          <p:cNvPr id="14" name="Text 195"/>
          <p:cNvSpPr txBox="1"/>
          <p:nvPr/>
        </p:nvSpPr>
        <p:spPr>
          <a:xfrm>
            <a:off x="6309360" y="5943600"/>
            <a:ext cx="5120640" cy="502920"/>
          </a:xfrm>
          <a:prstGeom prst="rect">
            <a:avLst/>
          </a:prstGeom>
          <a:noFill/>
          <a:ln/>
        </p:spPr>
        <p:txBody>
          <a:bodyPr wrap="square" lIns="0" tIns="0" rIns="0" bIns="0" rtlCol="0" anchor="t"/>
          <a:lstStyle/>
          <a:p>
            <a:pPr indent="0" marL="0">
              <a:buNone/>
            </a:pPr>
            <a:r>
              <a:rPr lang="en-US" sz="1100" dirty="0">
                <a:solidFill>
                  <a:schemeClr val="tx2"/>
                </a:solidFill>
              </a:rPr>
              <a:t>Years are when representative models entered service, not first flights. Left: Constellation from Lockheed's history page.</a:t>
            </a:r>
            <a:endParaRPr lang="en-US" sz="1100" dirty="0"/>
          </a:p>
        </p:txBody>
      </p:sp>
      <p:sp>
        <p:nvSpPr>
          <p:cNvPr id="25" name="Slide Number Placeholder 0"/>
          <p:cNvSpPr>
            <a:spLocks noGrp="1"/>
          </p:cNvSpPr>
          <p:nvPr>
            <p:ph type="sldNum" sz="quarter" idx="4294967295"/>
          </p:nvPr>
        </p:nvSpPr>
        <p:spPr>
          <a:xfrm>
            <a:off x="1127455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36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731520" y="475488"/>
            <a:ext cx="10728655" cy="731520"/>
          </a:xfrm>
          <a:prstGeom prst="rect">
            <a:avLst/>
          </a:prstGeom>
          <a:noFill/>
          <a:ln/>
        </p:spPr>
        <p:txBody>
          <a:bodyPr wrap="square" lIns="0" tIns="0" rIns="0" bIns="0" rtlCol="0" anchor="ctr"/>
          <a:lstStyle/>
          <a:p>
            <a:pPr algn="ctr" indent="0" marL="0">
              <a:buNone/>
            </a:pPr>
            <a:r>
              <a:rPr lang="en-US" sz="3600" b="1" spc="-100" kern="0" dirty="0">
                <a:solidFill>
                  <a:schemeClr val="tx1"/>
                </a:solidFill>
              </a:rPr>
              <a:t>856 aircraft: how big is that?</a:t>
            </a:r>
            <a:endParaRPr lang="en-US" sz="3600" dirty="0"/>
          </a:p>
        </p:txBody>
      </p:sp>
      <p:sp>
        <p:nvSpPr>
          <p:cNvPr id="3" name="Text 0"/>
          <p:cNvSpPr/>
          <p:nvPr>
            <p:ph idx="101" type="body" hasCustomPrompt="1"/>
          </p:nvPr>
        </p:nvSpPr>
        <p:spPr>
          <a:xfrm>
            <a:off x="1280160" y="1225296"/>
            <a:ext cx="9631375" cy="411480"/>
          </a:xfrm>
          <a:prstGeom prst="rect">
            <a:avLst/>
          </a:prstGeom>
          <a:noFill/>
          <a:ln/>
        </p:spPr>
        <p:txBody>
          <a:bodyPr wrap="square" lIns="0" tIns="0" rIns="0" bIns="0" rtlCol="0" anchor="t"/>
          <a:lstStyle/>
          <a:p>
            <a:pPr algn="ctr" indent="0" marL="0">
              <a:buNone/>
            </a:pPr>
            <a:r>
              <a:rPr lang="en-US" sz="1800" dirty="0">
                <a:solidFill>
                  <a:schemeClr val="tx2"/>
                </a:solidFill>
              </a:rPr>
              <a:t>Total production across the family, civil and military</a:t>
            </a:r>
            <a:endParaRPr lang="en-US" sz="1800" dirty="0"/>
          </a:p>
        </p:txBody>
      </p:sp>
      <p:sp>
        <p:nvSpPr>
          <p:cNvPr id="4" name="Text 0"/>
          <p:cNvSpPr/>
          <p:nvPr>
            <p:ph idx="102" type="body" hasCustomPrompt="1"/>
          </p:nvPr>
        </p:nvSpPr>
        <p:spPr>
          <a:xfrm>
            <a:off x="1280160" y="5413248"/>
            <a:ext cx="9631375" cy="457200"/>
          </a:xfrm>
          <a:prstGeom prst="rect">
            <a:avLst/>
          </a:prstGeom>
          <a:noFill/>
          <a:ln/>
        </p:spPr>
        <p:txBody>
          <a:bodyPr wrap="square" lIns="0" tIns="0" rIns="0" bIns="0" rtlCol="0" anchor="ctr"/>
          <a:lstStyle/>
          <a:p>
            <a:pPr algn="ctr" indent="0" marL="0">
              <a:buNone/>
            </a:pPr>
            <a:r>
              <a:rPr lang="en-US" sz="2000" dirty="0">
                <a:solidFill>
                  <a:schemeClr val="tx1"/>
                </a:solidFill>
              </a:rPr>
              <a:t>A successful family doesn't give every generation the same market window</a:t>
            </a:r>
            <a:endParaRPr lang="en-US" sz="2000" dirty="0"/>
          </a:p>
        </p:txBody>
      </p:sp>
      <p:sp>
        <p:nvSpPr>
          <p:cNvPr id="5" name="Text 0"/>
          <p:cNvSpPr/>
          <p:nvPr>
            <p:ph idx="103" type="body" hasCustomPrompt="1"/>
          </p:nvPr>
        </p:nvSpPr>
        <p:spPr>
          <a:xfrm>
            <a:off x="1280160" y="5961888"/>
            <a:ext cx="9631375" cy="502920"/>
          </a:xfrm>
          <a:prstGeom prst="rect">
            <a:avLst/>
          </a:prstGeom>
          <a:noFill/>
          <a:ln/>
        </p:spPr>
        <p:txBody>
          <a:bodyPr wrap="square" lIns="0" tIns="0" rIns="0" bIns="0" rtlCol="0" anchor="t"/>
          <a:lstStyle/>
          <a:p>
            <a:pPr algn="ctr" indent="0" marL="0">
              <a:buNone/>
            </a:pPr>
            <a:r>
              <a:rPr lang="en-US" sz="1100" dirty="0">
                <a:solidFill>
                  <a:schemeClr val="tx2"/>
                </a:solidFill>
              </a:rPr>
              <a:t>Each full cell is 10 aircraft; split cells show the exact count. Amber marks the 44 Starliners (44 ÷ 856 ≈ 5.1%). Source: SCFA History L-1049.</a:t>
            </a:r>
            <a:endParaRPr lang="en-US" sz="1100" dirty="0"/>
          </a:p>
        </p:txBody>
      </p:sp>
      <p:sp>
        <p:nvSpPr>
          <p:cNvPr id="7" name="Rounded 196"/>
          <p:cNvSpPr/>
          <p:nvPr/>
        </p:nvSpPr>
        <p:spPr>
          <a:xfrm>
            <a:off x="1371600" y="1920240"/>
            <a:ext cx="274320" cy="274320"/>
          </a:xfrm>
          <a:prstGeom prst="roundRect">
            <a:avLst>
              <a:gd name="adj" fmla="val 13333"/>
            </a:avLst>
          </a:prstGeom>
          <a:solidFill>
            <a:schemeClr val="accent6"/>
          </a:solidFill>
          <a:ln/>
        </p:spPr>
      </p:sp>
      <p:sp>
        <p:nvSpPr>
          <p:cNvPr id="8" name="Rounded 197"/>
          <p:cNvSpPr/>
          <p:nvPr/>
        </p:nvSpPr>
        <p:spPr>
          <a:xfrm>
            <a:off x="1719072" y="1920240"/>
            <a:ext cx="274320" cy="274320"/>
          </a:xfrm>
          <a:prstGeom prst="roundRect">
            <a:avLst>
              <a:gd name="adj" fmla="val 13333"/>
            </a:avLst>
          </a:prstGeom>
          <a:solidFill>
            <a:schemeClr val="accent6"/>
          </a:solidFill>
          <a:ln/>
        </p:spPr>
      </p:sp>
      <p:sp>
        <p:nvSpPr>
          <p:cNvPr id="9" name="Rounded 198"/>
          <p:cNvSpPr/>
          <p:nvPr/>
        </p:nvSpPr>
        <p:spPr>
          <a:xfrm>
            <a:off x="2066544" y="1920240"/>
            <a:ext cx="274320" cy="274320"/>
          </a:xfrm>
          <a:prstGeom prst="roundRect">
            <a:avLst>
              <a:gd name="adj" fmla="val 13333"/>
            </a:avLst>
          </a:prstGeom>
          <a:solidFill>
            <a:schemeClr val="accent6"/>
          </a:solidFill>
          <a:ln/>
        </p:spPr>
      </p:sp>
      <p:sp>
        <p:nvSpPr>
          <p:cNvPr id="10" name="Rounded 199"/>
          <p:cNvSpPr/>
          <p:nvPr/>
        </p:nvSpPr>
        <p:spPr>
          <a:xfrm>
            <a:off x="2414016" y="1920240"/>
            <a:ext cx="274320" cy="274320"/>
          </a:xfrm>
          <a:prstGeom prst="roundRect">
            <a:avLst>
              <a:gd name="adj" fmla="val 13333"/>
            </a:avLst>
          </a:prstGeom>
          <a:solidFill>
            <a:schemeClr val="accent6"/>
          </a:solidFill>
          <a:ln/>
        </p:spPr>
      </p:sp>
      <p:sp>
        <p:nvSpPr>
          <p:cNvPr id="11" name="Rounded 200"/>
          <p:cNvSpPr/>
          <p:nvPr/>
        </p:nvSpPr>
        <p:spPr>
          <a:xfrm>
            <a:off x="2761488" y="1920240"/>
            <a:ext cx="274320" cy="274320"/>
          </a:xfrm>
          <a:prstGeom prst="roundRect">
            <a:avLst>
              <a:gd name="adj" fmla="val 13333"/>
            </a:avLst>
          </a:prstGeom>
          <a:solidFill>
            <a:schemeClr val="accent6"/>
          </a:solidFill>
          <a:ln/>
        </p:spPr>
      </p:sp>
      <p:sp>
        <p:nvSpPr>
          <p:cNvPr id="12" name="Rounded 201"/>
          <p:cNvSpPr/>
          <p:nvPr/>
        </p:nvSpPr>
        <p:spPr>
          <a:xfrm>
            <a:off x="3108960" y="1920240"/>
            <a:ext cx="274320" cy="274320"/>
          </a:xfrm>
          <a:prstGeom prst="roundRect">
            <a:avLst>
              <a:gd name="adj" fmla="val 13333"/>
            </a:avLst>
          </a:prstGeom>
          <a:solidFill>
            <a:schemeClr val="accent6"/>
          </a:solidFill>
          <a:ln/>
        </p:spPr>
      </p:sp>
      <p:sp>
        <p:nvSpPr>
          <p:cNvPr id="13" name="Rounded 202"/>
          <p:cNvSpPr/>
          <p:nvPr/>
        </p:nvSpPr>
        <p:spPr>
          <a:xfrm>
            <a:off x="3456432" y="1920240"/>
            <a:ext cx="274320" cy="274320"/>
          </a:xfrm>
          <a:prstGeom prst="roundRect">
            <a:avLst>
              <a:gd name="adj" fmla="val 13333"/>
            </a:avLst>
          </a:prstGeom>
          <a:solidFill>
            <a:schemeClr val="accent6"/>
          </a:solidFill>
          <a:ln/>
        </p:spPr>
      </p:sp>
      <p:sp>
        <p:nvSpPr>
          <p:cNvPr id="14" name="Rounded 203"/>
          <p:cNvSpPr/>
          <p:nvPr/>
        </p:nvSpPr>
        <p:spPr>
          <a:xfrm>
            <a:off x="3803904" y="1920240"/>
            <a:ext cx="274320" cy="274320"/>
          </a:xfrm>
          <a:prstGeom prst="roundRect">
            <a:avLst>
              <a:gd name="adj" fmla="val 13333"/>
            </a:avLst>
          </a:prstGeom>
          <a:solidFill>
            <a:schemeClr val="accent6"/>
          </a:solidFill>
          <a:ln/>
        </p:spPr>
      </p:sp>
      <p:sp>
        <p:nvSpPr>
          <p:cNvPr id="15" name="Rounded 204"/>
          <p:cNvSpPr/>
          <p:nvPr/>
        </p:nvSpPr>
        <p:spPr>
          <a:xfrm>
            <a:off x="4151376" y="1920240"/>
            <a:ext cx="274320" cy="274320"/>
          </a:xfrm>
          <a:prstGeom prst="roundRect">
            <a:avLst>
              <a:gd name="adj" fmla="val 13333"/>
            </a:avLst>
          </a:prstGeom>
          <a:solidFill>
            <a:schemeClr val="accent6"/>
          </a:solidFill>
          <a:ln/>
        </p:spPr>
      </p:sp>
      <p:sp>
        <p:nvSpPr>
          <p:cNvPr id="16" name="Rounded 205"/>
          <p:cNvSpPr/>
          <p:nvPr/>
        </p:nvSpPr>
        <p:spPr>
          <a:xfrm>
            <a:off x="4498848" y="1920240"/>
            <a:ext cx="274320" cy="274320"/>
          </a:xfrm>
          <a:prstGeom prst="roundRect">
            <a:avLst>
              <a:gd name="adj" fmla="val 13333"/>
            </a:avLst>
          </a:prstGeom>
          <a:solidFill>
            <a:schemeClr val="accent6"/>
          </a:solidFill>
          <a:ln/>
        </p:spPr>
      </p:sp>
      <p:sp>
        <p:nvSpPr>
          <p:cNvPr id="17" name="Rounded 206"/>
          <p:cNvSpPr/>
          <p:nvPr/>
        </p:nvSpPr>
        <p:spPr>
          <a:xfrm>
            <a:off x="1371600" y="2267712"/>
            <a:ext cx="274320" cy="274320"/>
          </a:xfrm>
          <a:prstGeom prst="roundRect">
            <a:avLst>
              <a:gd name="adj" fmla="val 13333"/>
            </a:avLst>
          </a:prstGeom>
          <a:solidFill>
            <a:schemeClr val="accent6"/>
          </a:solidFill>
          <a:ln/>
        </p:spPr>
      </p:sp>
      <p:sp>
        <p:nvSpPr>
          <p:cNvPr id="18" name="Rounded 207"/>
          <p:cNvSpPr/>
          <p:nvPr/>
        </p:nvSpPr>
        <p:spPr>
          <a:xfrm>
            <a:off x="1719072" y="2267712"/>
            <a:ext cx="274320" cy="274320"/>
          </a:xfrm>
          <a:prstGeom prst="roundRect">
            <a:avLst>
              <a:gd name="adj" fmla="val 13333"/>
            </a:avLst>
          </a:prstGeom>
          <a:solidFill>
            <a:schemeClr val="accent6"/>
          </a:solidFill>
          <a:ln/>
        </p:spPr>
      </p:sp>
      <p:sp>
        <p:nvSpPr>
          <p:cNvPr id="19" name="Rounded 208"/>
          <p:cNvSpPr/>
          <p:nvPr/>
        </p:nvSpPr>
        <p:spPr>
          <a:xfrm>
            <a:off x="2066544" y="2267712"/>
            <a:ext cx="274320" cy="274320"/>
          </a:xfrm>
          <a:prstGeom prst="roundRect">
            <a:avLst>
              <a:gd name="adj" fmla="val 13333"/>
            </a:avLst>
          </a:prstGeom>
          <a:solidFill>
            <a:schemeClr val="accent6"/>
          </a:solidFill>
          <a:ln/>
        </p:spPr>
      </p:sp>
      <p:sp>
        <p:nvSpPr>
          <p:cNvPr id="20" name="Rounded 209"/>
          <p:cNvSpPr/>
          <p:nvPr/>
        </p:nvSpPr>
        <p:spPr>
          <a:xfrm>
            <a:off x="2414016" y="2267712"/>
            <a:ext cx="274320" cy="274320"/>
          </a:xfrm>
          <a:prstGeom prst="roundRect">
            <a:avLst>
              <a:gd name="adj" fmla="val 13333"/>
            </a:avLst>
          </a:prstGeom>
          <a:solidFill>
            <a:schemeClr val="accent6"/>
          </a:solidFill>
          <a:ln/>
        </p:spPr>
      </p:sp>
      <p:sp>
        <p:nvSpPr>
          <p:cNvPr id="21" name="Rounded 210"/>
          <p:cNvSpPr/>
          <p:nvPr/>
        </p:nvSpPr>
        <p:spPr>
          <a:xfrm>
            <a:off x="2761488" y="2267712"/>
            <a:ext cx="274320" cy="274320"/>
          </a:xfrm>
          <a:prstGeom prst="roundRect">
            <a:avLst>
              <a:gd name="adj" fmla="val 13333"/>
            </a:avLst>
          </a:prstGeom>
          <a:solidFill>
            <a:schemeClr val="accent6"/>
          </a:solidFill>
          <a:ln/>
        </p:spPr>
      </p:sp>
      <p:sp>
        <p:nvSpPr>
          <p:cNvPr id="22" name="Rounded 211"/>
          <p:cNvSpPr/>
          <p:nvPr/>
        </p:nvSpPr>
        <p:spPr>
          <a:xfrm>
            <a:off x="3108960" y="2267712"/>
            <a:ext cx="274320" cy="274320"/>
          </a:xfrm>
          <a:prstGeom prst="roundRect">
            <a:avLst>
              <a:gd name="adj" fmla="val 13333"/>
            </a:avLst>
          </a:prstGeom>
          <a:solidFill>
            <a:schemeClr val="accent6"/>
          </a:solidFill>
          <a:ln/>
        </p:spPr>
      </p:sp>
      <p:sp>
        <p:nvSpPr>
          <p:cNvPr id="23" name="Rounded 212"/>
          <p:cNvSpPr/>
          <p:nvPr/>
        </p:nvSpPr>
        <p:spPr>
          <a:xfrm>
            <a:off x="3456432" y="2267712"/>
            <a:ext cx="274320" cy="274320"/>
          </a:xfrm>
          <a:prstGeom prst="roundRect">
            <a:avLst>
              <a:gd name="adj" fmla="val 13333"/>
            </a:avLst>
          </a:prstGeom>
          <a:solidFill>
            <a:schemeClr val="accent6"/>
          </a:solidFill>
          <a:ln/>
        </p:spPr>
      </p:sp>
      <p:sp>
        <p:nvSpPr>
          <p:cNvPr id="24" name="Rounded 213"/>
          <p:cNvSpPr/>
          <p:nvPr/>
        </p:nvSpPr>
        <p:spPr>
          <a:xfrm>
            <a:off x="3803904" y="2267712"/>
            <a:ext cx="274320" cy="274320"/>
          </a:xfrm>
          <a:prstGeom prst="roundRect">
            <a:avLst>
              <a:gd name="adj" fmla="val 13333"/>
            </a:avLst>
          </a:prstGeom>
          <a:solidFill>
            <a:schemeClr val="accent6"/>
          </a:solidFill>
          <a:ln/>
        </p:spPr>
      </p:sp>
      <p:sp>
        <p:nvSpPr>
          <p:cNvPr id="25" name="Rounded 214"/>
          <p:cNvSpPr/>
          <p:nvPr/>
        </p:nvSpPr>
        <p:spPr>
          <a:xfrm>
            <a:off x="4151376" y="2267712"/>
            <a:ext cx="274320" cy="274320"/>
          </a:xfrm>
          <a:prstGeom prst="roundRect">
            <a:avLst>
              <a:gd name="adj" fmla="val 13333"/>
            </a:avLst>
          </a:prstGeom>
          <a:solidFill>
            <a:schemeClr val="accent6"/>
          </a:solidFill>
          <a:ln/>
        </p:spPr>
      </p:sp>
      <p:sp>
        <p:nvSpPr>
          <p:cNvPr id="26" name="Rounded 215"/>
          <p:cNvSpPr/>
          <p:nvPr/>
        </p:nvSpPr>
        <p:spPr>
          <a:xfrm>
            <a:off x="4498848" y="2267712"/>
            <a:ext cx="274320" cy="274320"/>
          </a:xfrm>
          <a:prstGeom prst="roundRect">
            <a:avLst>
              <a:gd name="adj" fmla="val 13333"/>
            </a:avLst>
          </a:prstGeom>
          <a:solidFill>
            <a:schemeClr val="accent6"/>
          </a:solidFill>
          <a:ln/>
        </p:spPr>
      </p:sp>
      <p:sp>
        <p:nvSpPr>
          <p:cNvPr id="27" name="Rounded 216"/>
          <p:cNvSpPr/>
          <p:nvPr/>
        </p:nvSpPr>
        <p:spPr>
          <a:xfrm>
            <a:off x="1371600" y="2615184"/>
            <a:ext cx="274320" cy="274320"/>
          </a:xfrm>
          <a:prstGeom prst="roundRect">
            <a:avLst>
              <a:gd name="adj" fmla="val 13333"/>
            </a:avLst>
          </a:prstGeom>
          <a:solidFill>
            <a:schemeClr val="accent6"/>
          </a:solidFill>
          <a:ln/>
        </p:spPr>
      </p:sp>
      <p:sp>
        <p:nvSpPr>
          <p:cNvPr id="28" name="Rounded 217"/>
          <p:cNvSpPr/>
          <p:nvPr/>
        </p:nvSpPr>
        <p:spPr>
          <a:xfrm>
            <a:off x="1719072" y="2615184"/>
            <a:ext cx="274320" cy="274320"/>
          </a:xfrm>
          <a:prstGeom prst="roundRect">
            <a:avLst>
              <a:gd name="adj" fmla="val 13333"/>
            </a:avLst>
          </a:prstGeom>
          <a:solidFill>
            <a:schemeClr val="accent6"/>
          </a:solidFill>
          <a:ln/>
        </p:spPr>
      </p:sp>
      <p:sp>
        <p:nvSpPr>
          <p:cNvPr id="29" name="Rounded 218"/>
          <p:cNvSpPr/>
          <p:nvPr/>
        </p:nvSpPr>
        <p:spPr>
          <a:xfrm>
            <a:off x="2066544" y="2615184"/>
            <a:ext cx="274320" cy="274320"/>
          </a:xfrm>
          <a:prstGeom prst="roundRect">
            <a:avLst>
              <a:gd name="adj" fmla="val 13333"/>
            </a:avLst>
          </a:prstGeom>
          <a:solidFill>
            <a:schemeClr val="accent6"/>
          </a:solidFill>
          <a:ln/>
        </p:spPr>
      </p:sp>
      <p:sp>
        <p:nvSpPr>
          <p:cNvPr id="30" name="Rounded 219"/>
          <p:cNvSpPr/>
          <p:nvPr/>
        </p:nvSpPr>
        <p:spPr>
          <a:xfrm>
            <a:off x="2414016" y="2615184"/>
            <a:ext cx="274320" cy="274320"/>
          </a:xfrm>
          <a:prstGeom prst="roundRect">
            <a:avLst>
              <a:gd name="adj" fmla="val 13333"/>
            </a:avLst>
          </a:prstGeom>
          <a:solidFill>
            <a:schemeClr val="accent6"/>
          </a:solidFill>
          <a:ln/>
        </p:spPr>
      </p:sp>
      <p:sp>
        <p:nvSpPr>
          <p:cNvPr id="31" name="Rounded 220"/>
          <p:cNvSpPr/>
          <p:nvPr/>
        </p:nvSpPr>
        <p:spPr>
          <a:xfrm>
            <a:off x="2761488" y="2615184"/>
            <a:ext cx="274320" cy="274320"/>
          </a:xfrm>
          <a:prstGeom prst="roundRect">
            <a:avLst>
              <a:gd name="adj" fmla="val 13333"/>
            </a:avLst>
          </a:prstGeom>
          <a:solidFill>
            <a:schemeClr val="accent6"/>
          </a:solidFill>
          <a:ln/>
        </p:spPr>
      </p:sp>
      <p:sp>
        <p:nvSpPr>
          <p:cNvPr id="32" name="Rounded 221"/>
          <p:cNvSpPr/>
          <p:nvPr/>
        </p:nvSpPr>
        <p:spPr>
          <a:xfrm>
            <a:off x="3108960" y="2615184"/>
            <a:ext cx="274320" cy="274320"/>
          </a:xfrm>
          <a:prstGeom prst="roundRect">
            <a:avLst>
              <a:gd name="adj" fmla="val 13333"/>
            </a:avLst>
          </a:prstGeom>
          <a:solidFill>
            <a:schemeClr val="accent6"/>
          </a:solidFill>
          <a:ln/>
        </p:spPr>
      </p:sp>
      <p:sp>
        <p:nvSpPr>
          <p:cNvPr id="33" name="Rounded 222"/>
          <p:cNvSpPr/>
          <p:nvPr/>
        </p:nvSpPr>
        <p:spPr>
          <a:xfrm>
            <a:off x="3456432" y="2615184"/>
            <a:ext cx="274320" cy="274320"/>
          </a:xfrm>
          <a:prstGeom prst="roundRect">
            <a:avLst>
              <a:gd name="adj" fmla="val 13333"/>
            </a:avLst>
          </a:prstGeom>
          <a:solidFill>
            <a:schemeClr val="accent6"/>
          </a:solidFill>
          <a:ln/>
        </p:spPr>
      </p:sp>
      <p:sp>
        <p:nvSpPr>
          <p:cNvPr id="34" name="Rounded 223"/>
          <p:cNvSpPr/>
          <p:nvPr/>
        </p:nvSpPr>
        <p:spPr>
          <a:xfrm>
            <a:off x="3803904" y="2615184"/>
            <a:ext cx="274320" cy="274320"/>
          </a:xfrm>
          <a:prstGeom prst="roundRect">
            <a:avLst>
              <a:gd name="adj" fmla="val 13333"/>
            </a:avLst>
          </a:prstGeom>
          <a:solidFill>
            <a:schemeClr val="accent6"/>
          </a:solidFill>
          <a:ln/>
        </p:spPr>
      </p:sp>
      <p:sp>
        <p:nvSpPr>
          <p:cNvPr id="35" name="Rounded 224"/>
          <p:cNvSpPr/>
          <p:nvPr/>
        </p:nvSpPr>
        <p:spPr>
          <a:xfrm>
            <a:off x="4151376" y="2615184"/>
            <a:ext cx="274320" cy="274320"/>
          </a:xfrm>
          <a:prstGeom prst="roundRect">
            <a:avLst>
              <a:gd name="adj" fmla="val 13333"/>
            </a:avLst>
          </a:prstGeom>
          <a:solidFill>
            <a:schemeClr val="accent6"/>
          </a:solidFill>
          <a:ln/>
        </p:spPr>
      </p:sp>
      <p:sp>
        <p:nvSpPr>
          <p:cNvPr id="36" name="Rounded 225"/>
          <p:cNvSpPr/>
          <p:nvPr/>
        </p:nvSpPr>
        <p:spPr>
          <a:xfrm>
            <a:off x="4498848" y="2615184"/>
            <a:ext cx="274320" cy="274320"/>
          </a:xfrm>
          <a:prstGeom prst="roundRect">
            <a:avLst>
              <a:gd name="adj" fmla="val 13333"/>
            </a:avLst>
          </a:prstGeom>
          <a:solidFill>
            <a:schemeClr val="accent6"/>
          </a:solidFill>
          <a:ln/>
        </p:spPr>
      </p:sp>
      <p:sp>
        <p:nvSpPr>
          <p:cNvPr id="37" name="Rounded 226"/>
          <p:cNvSpPr/>
          <p:nvPr/>
        </p:nvSpPr>
        <p:spPr>
          <a:xfrm>
            <a:off x="1371600" y="2962656"/>
            <a:ext cx="274320" cy="274320"/>
          </a:xfrm>
          <a:prstGeom prst="roundRect">
            <a:avLst>
              <a:gd name="adj" fmla="val 13333"/>
            </a:avLst>
          </a:prstGeom>
          <a:solidFill>
            <a:schemeClr val="accent6"/>
          </a:solidFill>
          <a:ln/>
        </p:spPr>
      </p:sp>
      <p:sp>
        <p:nvSpPr>
          <p:cNvPr id="38" name="Rounded 227"/>
          <p:cNvSpPr/>
          <p:nvPr/>
        </p:nvSpPr>
        <p:spPr>
          <a:xfrm>
            <a:off x="1719072" y="2962656"/>
            <a:ext cx="274320" cy="274320"/>
          </a:xfrm>
          <a:prstGeom prst="roundRect">
            <a:avLst>
              <a:gd name="adj" fmla="val 13333"/>
            </a:avLst>
          </a:prstGeom>
          <a:solidFill>
            <a:schemeClr val="accent6"/>
          </a:solidFill>
          <a:ln/>
        </p:spPr>
      </p:sp>
      <p:sp>
        <p:nvSpPr>
          <p:cNvPr id="39" name="Rounded 228"/>
          <p:cNvSpPr/>
          <p:nvPr/>
        </p:nvSpPr>
        <p:spPr>
          <a:xfrm>
            <a:off x="2066544" y="2962656"/>
            <a:ext cx="274320" cy="274320"/>
          </a:xfrm>
          <a:prstGeom prst="roundRect">
            <a:avLst>
              <a:gd name="adj" fmla="val 13333"/>
            </a:avLst>
          </a:prstGeom>
          <a:solidFill>
            <a:schemeClr val="accent6"/>
          </a:solidFill>
          <a:ln/>
        </p:spPr>
      </p:sp>
      <p:sp>
        <p:nvSpPr>
          <p:cNvPr id="40" name="Rounded 229"/>
          <p:cNvSpPr/>
          <p:nvPr/>
        </p:nvSpPr>
        <p:spPr>
          <a:xfrm>
            <a:off x="2414016" y="2962656"/>
            <a:ext cx="274320" cy="274320"/>
          </a:xfrm>
          <a:prstGeom prst="roundRect">
            <a:avLst>
              <a:gd name="adj" fmla="val 13333"/>
            </a:avLst>
          </a:prstGeom>
          <a:solidFill>
            <a:schemeClr val="accent6"/>
          </a:solidFill>
          <a:ln/>
        </p:spPr>
      </p:sp>
      <p:sp>
        <p:nvSpPr>
          <p:cNvPr id="41" name="Rounded 230"/>
          <p:cNvSpPr/>
          <p:nvPr/>
        </p:nvSpPr>
        <p:spPr>
          <a:xfrm>
            <a:off x="2761488" y="2962656"/>
            <a:ext cx="274320" cy="274320"/>
          </a:xfrm>
          <a:prstGeom prst="roundRect">
            <a:avLst>
              <a:gd name="adj" fmla="val 13333"/>
            </a:avLst>
          </a:prstGeom>
          <a:solidFill>
            <a:schemeClr val="accent6"/>
          </a:solidFill>
          <a:ln/>
        </p:spPr>
      </p:sp>
      <p:sp>
        <p:nvSpPr>
          <p:cNvPr id="42" name="Rounded 231"/>
          <p:cNvSpPr/>
          <p:nvPr/>
        </p:nvSpPr>
        <p:spPr>
          <a:xfrm>
            <a:off x="3108960" y="2962656"/>
            <a:ext cx="274320" cy="274320"/>
          </a:xfrm>
          <a:prstGeom prst="roundRect">
            <a:avLst>
              <a:gd name="adj" fmla="val 13333"/>
            </a:avLst>
          </a:prstGeom>
          <a:solidFill>
            <a:schemeClr val="accent6"/>
          </a:solidFill>
          <a:ln/>
        </p:spPr>
      </p:sp>
      <p:sp>
        <p:nvSpPr>
          <p:cNvPr id="43" name="Rounded 232"/>
          <p:cNvSpPr/>
          <p:nvPr/>
        </p:nvSpPr>
        <p:spPr>
          <a:xfrm>
            <a:off x="3456432" y="2962656"/>
            <a:ext cx="274320" cy="274320"/>
          </a:xfrm>
          <a:prstGeom prst="roundRect">
            <a:avLst>
              <a:gd name="adj" fmla="val 13333"/>
            </a:avLst>
          </a:prstGeom>
          <a:solidFill>
            <a:schemeClr val="accent6"/>
          </a:solidFill>
          <a:ln/>
        </p:spPr>
      </p:sp>
      <p:sp>
        <p:nvSpPr>
          <p:cNvPr id="44" name="Rounded 233"/>
          <p:cNvSpPr/>
          <p:nvPr/>
        </p:nvSpPr>
        <p:spPr>
          <a:xfrm>
            <a:off x="3803904" y="2962656"/>
            <a:ext cx="274320" cy="274320"/>
          </a:xfrm>
          <a:prstGeom prst="roundRect">
            <a:avLst>
              <a:gd name="adj" fmla="val 13333"/>
            </a:avLst>
          </a:prstGeom>
          <a:solidFill>
            <a:schemeClr val="accent6"/>
          </a:solidFill>
          <a:ln/>
        </p:spPr>
      </p:sp>
      <p:sp>
        <p:nvSpPr>
          <p:cNvPr id="45" name="Rounded 234"/>
          <p:cNvSpPr/>
          <p:nvPr/>
        </p:nvSpPr>
        <p:spPr>
          <a:xfrm>
            <a:off x="4151376" y="2962656"/>
            <a:ext cx="274320" cy="274320"/>
          </a:xfrm>
          <a:prstGeom prst="roundRect">
            <a:avLst>
              <a:gd name="adj" fmla="val 13333"/>
            </a:avLst>
          </a:prstGeom>
          <a:solidFill>
            <a:schemeClr val="accent6"/>
          </a:solidFill>
          <a:ln/>
        </p:spPr>
      </p:sp>
      <p:sp>
        <p:nvSpPr>
          <p:cNvPr id="46" name="Rounded 235"/>
          <p:cNvSpPr/>
          <p:nvPr/>
        </p:nvSpPr>
        <p:spPr>
          <a:xfrm>
            <a:off x="4498848" y="2962656"/>
            <a:ext cx="274320" cy="274320"/>
          </a:xfrm>
          <a:prstGeom prst="roundRect">
            <a:avLst>
              <a:gd name="adj" fmla="val 13333"/>
            </a:avLst>
          </a:prstGeom>
          <a:solidFill>
            <a:schemeClr val="accent6"/>
          </a:solidFill>
          <a:ln/>
        </p:spPr>
      </p:sp>
      <p:sp>
        <p:nvSpPr>
          <p:cNvPr id="47" name="Rounded 236"/>
          <p:cNvSpPr/>
          <p:nvPr/>
        </p:nvSpPr>
        <p:spPr>
          <a:xfrm>
            <a:off x="1371600" y="3310128"/>
            <a:ext cx="274320" cy="274320"/>
          </a:xfrm>
          <a:prstGeom prst="roundRect">
            <a:avLst>
              <a:gd name="adj" fmla="val 13333"/>
            </a:avLst>
          </a:prstGeom>
          <a:solidFill>
            <a:schemeClr val="accent6"/>
          </a:solidFill>
          <a:ln/>
        </p:spPr>
      </p:sp>
      <p:sp>
        <p:nvSpPr>
          <p:cNvPr id="48" name="Rounded 237"/>
          <p:cNvSpPr/>
          <p:nvPr/>
        </p:nvSpPr>
        <p:spPr>
          <a:xfrm>
            <a:off x="1719072" y="3310128"/>
            <a:ext cx="274320" cy="274320"/>
          </a:xfrm>
          <a:prstGeom prst="roundRect">
            <a:avLst>
              <a:gd name="adj" fmla="val 13333"/>
            </a:avLst>
          </a:prstGeom>
          <a:solidFill>
            <a:schemeClr val="accent6"/>
          </a:solidFill>
          <a:ln/>
        </p:spPr>
      </p:sp>
      <p:sp>
        <p:nvSpPr>
          <p:cNvPr id="49" name="Rounded 238"/>
          <p:cNvSpPr/>
          <p:nvPr/>
        </p:nvSpPr>
        <p:spPr>
          <a:xfrm>
            <a:off x="2066544" y="3310128"/>
            <a:ext cx="274320" cy="274320"/>
          </a:xfrm>
          <a:prstGeom prst="roundRect">
            <a:avLst>
              <a:gd name="adj" fmla="val 13333"/>
            </a:avLst>
          </a:prstGeom>
          <a:solidFill>
            <a:schemeClr val="accent6"/>
          </a:solidFill>
          <a:ln/>
        </p:spPr>
      </p:sp>
      <p:sp>
        <p:nvSpPr>
          <p:cNvPr id="50" name="Rounded 239"/>
          <p:cNvSpPr/>
          <p:nvPr/>
        </p:nvSpPr>
        <p:spPr>
          <a:xfrm>
            <a:off x="2414016" y="3310128"/>
            <a:ext cx="274320" cy="274320"/>
          </a:xfrm>
          <a:prstGeom prst="roundRect">
            <a:avLst>
              <a:gd name="adj" fmla="val 13333"/>
            </a:avLst>
          </a:prstGeom>
          <a:solidFill>
            <a:schemeClr val="accent6"/>
          </a:solidFill>
          <a:ln/>
        </p:spPr>
      </p:sp>
      <p:sp>
        <p:nvSpPr>
          <p:cNvPr id="51" name="Rounded 240"/>
          <p:cNvSpPr/>
          <p:nvPr/>
        </p:nvSpPr>
        <p:spPr>
          <a:xfrm>
            <a:off x="2761488" y="3310128"/>
            <a:ext cx="274320" cy="274320"/>
          </a:xfrm>
          <a:prstGeom prst="roundRect">
            <a:avLst>
              <a:gd name="adj" fmla="val 13333"/>
            </a:avLst>
          </a:prstGeom>
          <a:solidFill>
            <a:schemeClr val="accent6"/>
          </a:solidFill>
          <a:ln/>
        </p:spPr>
      </p:sp>
      <p:sp>
        <p:nvSpPr>
          <p:cNvPr id="52" name="Rounded 241"/>
          <p:cNvSpPr/>
          <p:nvPr/>
        </p:nvSpPr>
        <p:spPr>
          <a:xfrm>
            <a:off x="3108960" y="3310128"/>
            <a:ext cx="274320" cy="274320"/>
          </a:xfrm>
          <a:prstGeom prst="roundRect">
            <a:avLst>
              <a:gd name="adj" fmla="val 13333"/>
            </a:avLst>
          </a:prstGeom>
          <a:solidFill>
            <a:schemeClr val="accent6"/>
          </a:solidFill>
          <a:ln/>
        </p:spPr>
      </p:sp>
      <p:sp>
        <p:nvSpPr>
          <p:cNvPr id="53" name="Rounded 242"/>
          <p:cNvSpPr/>
          <p:nvPr/>
        </p:nvSpPr>
        <p:spPr>
          <a:xfrm>
            <a:off x="3456432" y="3310128"/>
            <a:ext cx="274320" cy="274320"/>
          </a:xfrm>
          <a:prstGeom prst="roundRect">
            <a:avLst>
              <a:gd name="adj" fmla="val 13333"/>
            </a:avLst>
          </a:prstGeom>
          <a:solidFill>
            <a:schemeClr val="accent6"/>
          </a:solidFill>
          <a:ln/>
        </p:spPr>
      </p:sp>
      <p:sp>
        <p:nvSpPr>
          <p:cNvPr id="54" name="Rounded 243"/>
          <p:cNvSpPr/>
          <p:nvPr/>
        </p:nvSpPr>
        <p:spPr>
          <a:xfrm>
            <a:off x="3803904" y="3310128"/>
            <a:ext cx="274320" cy="274320"/>
          </a:xfrm>
          <a:prstGeom prst="roundRect">
            <a:avLst>
              <a:gd name="adj" fmla="val 13333"/>
            </a:avLst>
          </a:prstGeom>
          <a:solidFill>
            <a:schemeClr val="accent6"/>
          </a:solidFill>
          <a:ln/>
        </p:spPr>
      </p:sp>
      <p:sp>
        <p:nvSpPr>
          <p:cNvPr id="55" name="Rounded 244"/>
          <p:cNvSpPr/>
          <p:nvPr/>
        </p:nvSpPr>
        <p:spPr>
          <a:xfrm>
            <a:off x="4151376" y="3310128"/>
            <a:ext cx="274320" cy="274320"/>
          </a:xfrm>
          <a:prstGeom prst="roundRect">
            <a:avLst>
              <a:gd name="adj" fmla="val 13333"/>
            </a:avLst>
          </a:prstGeom>
          <a:solidFill>
            <a:schemeClr val="accent6"/>
          </a:solidFill>
          <a:ln/>
        </p:spPr>
      </p:sp>
      <p:sp>
        <p:nvSpPr>
          <p:cNvPr id="56" name="Rounded 245"/>
          <p:cNvSpPr/>
          <p:nvPr/>
        </p:nvSpPr>
        <p:spPr>
          <a:xfrm>
            <a:off x="4498848" y="3310128"/>
            <a:ext cx="274320" cy="274320"/>
          </a:xfrm>
          <a:prstGeom prst="roundRect">
            <a:avLst>
              <a:gd name="adj" fmla="val 13333"/>
            </a:avLst>
          </a:prstGeom>
          <a:solidFill>
            <a:schemeClr val="accent6"/>
          </a:solidFill>
          <a:ln/>
        </p:spPr>
      </p:sp>
      <p:sp>
        <p:nvSpPr>
          <p:cNvPr id="57" name="Rounded 246"/>
          <p:cNvSpPr/>
          <p:nvPr/>
        </p:nvSpPr>
        <p:spPr>
          <a:xfrm>
            <a:off x="1371600" y="3657600"/>
            <a:ext cx="274320" cy="274320"/>
          </a:xfrm>
          <a:prstGeom prst="roundRect">
            <a:avLst>
              <a:gd name="adj" fmla="val 13333"/>
            </a:avLst>
          </a:prstGeom>
          <a:solidFill>
            <a:schemeClr val="accent6"/>
          </a:solidFill>
          <a:ln/>
        </p:spPr>
      </p:sp>
      <p:sp>
        <p:nvSpPr>
          <p:cNvPr id="58" name="Rounded 247"/>
          <p:cNvSpPr/>
          <p:nvPr/>
        </p:nvSpPr>
        <p:spPr>
          <a:xfrm>
            <a:off x="1719072" y="3657600"/>
            <a:ext cx="274320" cy="274320"/>
          </a:xfrm>
          <a:prstGeom prst="roundRect">
            <a:avLst>
              <a:gd name="adj" fmla="val 13333"/>
            </a:avLst>
          </a:prstGeom>
          <a:solidFill>
            <a:schemeClr val="accent6"/>
          </a:solidFill>
          <a:ln/>
        </p:spPr>
      </p:sp>
      <p:sp>
        <p:nvSpPr>
          <p:cNvPr id="59" name="Rounded 248"/>
          <p:cNvSpPr/>
          <p:nvPr/>
        </p:nvSpPr>
        <p:spPr>
          <a:xfrm>
            <a:off x="2066544" y="3657600"/>
            <a:ext cx="274320" cy="274320"/>
          </a:xfrm>
          <a:prstGeom prst="roundRect">
            <a:avLst>
              <a:gd name="adj" fmla="val 13333"/>
            </a:avLst>
          </a:prstGeom>
          <a:solidFill>
            <a:schemeClr val="accent6"/>
          </a:solidFill>
          <a:ln/>
        </p:spPr>
      </p:sp>
      <p:sp>
        <p:nvSpPr>
          <p:cNvPr id="60" name="Rounded 249"/>
          <p:cNvSpPr/>
          <p:nvPr/>
        </p:nvSpPr>
        <p:spPr>
          <a:xfrm>
            <a:off x="2414016" y="3657600"/>
            <a:ext cx="274320" cy="274320"/>
          </a:xfrm>
          <a:prstGeom prst="roundRect">
            <a:avLst>
              <a:gd name="adj" fmla="val 13333"/>
            </a:avLst>
          </a:prstGeom>
          <a:solidFill>
            <a:schemeClr val="accent6"/>
          </a:solidFill>
          <a:ln/>
        </p:spPr>
      </p:sp>
      <p:sp>
        <p:nvSpPr>
          <p:cNvPr id="61" name="Rounded 250"/>
          <p:cNvSpPr/>
          <p:nvPr/>
        </p:nvSpPr>
        <p:spPr>
          <a:xfrm>
            <a:off x="2761488" y="3657600"/>
            <a:ext cx="274320" cy="274320"/>
          </a:xfrm>
          <a:prstGeom prst="roundRect">
            <a:avLst>
              <a:gd name="adj" fmla="val 13333"/>
            </a:avLst>
          </a:prstGeom>
          <a:solidFill>
            <a:schemeClr val="accent6"/>
          </a:solidFill>
          <a:ln/>
        </p:spPr>
      </p:sp>
      <p:sp>
        <p:nvSpPr>
          <p:cNvPr id="62" name="Rounded 251"/>
          <p:cNvSpPr/>
          <p:nvPr/>
        </p:nvSpPr>
        <p:spPr>
          <a:xfrm>
            <a:off x="3108960" y="3657600"/>
            <a:ext cx="274320" cy="274320"/>
          </a:xfrm>
          <a:prstGeom prst="roundRect">
            <a:avLst>
              <a:gd name="adj" fmla="val 13333"/>
            </a:avLst>
          </a:prstGeom>
          <a:solidFill>
            <a:schemeClr val="accent6"/>
          </a:solidFill>
          <a:ln/>
        </p:spPr>
      </p:sp>
      <p:sp>
        <p:nvSpPr>
          <p:cNvPr id="63" name="Rounded 252"/>
          <p:cNvSpPr/>
          <p:nvPr/>
        </p:nvSpPr>
        <p:spPr>
          <a:xfrm>
            <a:off x="3456432" y="3657600"/>
            <a:ext cx="274320" cy="274320"/>
          </a:xfrm>
          <a:prstGeom prst="roundRect">
            <a:avLst>
              <a:gd name="adj" fmla="val 13333"/>
            </a:avLst>
          </a:prstGeom>
          <a:solidFill>
            <a:schemeClr val="accent6"/>
          </a:solidFill>
          <a:ln/>
        </p:spPr>
      </p:sp>
      <p:sp>
        <p:nvSpPr>
          <p:cNvPr id="64" name="Rounded 253"/>
          <p:cNvSpPr/>
          <p:nvPr/>
        </p:nvSpPr>
        <p:spPr>
          <a:xfrm>
            <a:off x="3803904" y="3657600"/>
            <a:ext cx="274320" cy="274320"/>
          </a:xfrm>
          <a:prstGeom prst="roundRect">
            <a:avLst>
              <a:gd name="adj" fmla="val 13333"/>
            </a:avLst>
          </a:prstGeom>
          <a:solidFill>
            <a:schemeClr val="accent6"/>
          </a:solidFill>
          <a:ln/>
        </p:spPr>
      </p:sp>
      <p:sp>
        <p:nvSpPr>
          <p:cNvPr id="65" name="Rounded 254"/>
          <p:cNvSpPr/>
          <p:nvPr/>
        </p:nvSpPr>
        <p:spPr>
          <a:xfrm>
            <a:off x="4151376" y="3657600"/>
            <a:ext cx="274320" cy="274320"/>
          </a:xfrm>
          <a:prstGeom prst="roundRect">
            <a:avLst>
              <a:gd name="adj" fmla="val 13333"/>
            </a:avLst>
          </a:prstGeom>
          <a:solidFill>
            <a:schemeClr val="accent6"/>
          </a:solidFill>
          <a:ln/>
        </p:spPr>
      </p:sp>
      <p:sp>
        <p:nvSpPr>
          <p:cNvPr id="66" name="Rounded 255"/>
          <p:cNvSpPr/>
          <p:nvPr/>
        </p:nvSpPr>
        <p:spPr>
          <a:xfrm>
            <a:off x="4498848" y="3657600"/>
            <a:ext cx="274320" cy="274320"/>
          </a:xfrm>
          <a:prstGeom prst="roundRect">
            <a:avLst>
              <a:gd name="adj" fmla="val 13333"/>
            </a:avLst>
          </a:prstGeom>
          <a:solidFill>
            <a:schemeClr val="accent6"/>
          </a:solidFill>
          <a:ln/>
        </p:spPr>
      </p:sp>
      <p:sp>
        <p:nvSpPr>
          <p:cNvPr id="67" name="Rounded 256"/>
          <p:cNvSpPr/>
          <p:nvPr/>
        </p:nvSpPr>
        <p:spPr>
          <a:xfrm>
            <a:off x="1371600" y="4005072"/>
            <a:ext cx="274320" cy="274320"/>
          </a:xfrm>
          <a:prstGeom prst="roundRect">
            <a:avLst>
              <a:gd name="adj" fmla="val 13333"/>
            </a:avLst>
          </a:prstGeom>
          <a:solidFill>
            <a:schemeClr val="accent6"/>
          </a:solidFill>
          <a:ln/>
        </p:spPr>
      </p:sp>
      <p:sp>
        <p:nvSpPr>
          <p:cNvPr id="68" name="Rounded 257"/>
          <p:cNvSpPr/>
          <p:nvPr/>
        </p:nvSpPr>
        <p:spPr>
          <a:xfrm>
            <a:off x="1719072" y="4005072"/>
            <a:ext cx="274320" cy="274320"/>
          </a:xfrm>
          <a:prstGeom prst="roundRect">
            <a:avLst>
              <a:gd name="adj" fmla="val 13333"/>
            </a:avLst>
          </a:prstGeom>
          <a:solidFill>
            <a:schemeClr val="accent6"/>
          </a:solidFill>
          <a:ln/>
        </p:spPr>
      </p:sp>
      <p:sp>
        <p:nvSpPr>
          <p:cNvPr id="69" name="Rounded 258"/>
          <p:cNvSpPr/>
          <p:nvPr/>
        </p:nvSpPr>
        <p:spPr>
          <a:xfrm>
            <a:off x="2066544" y="4005072"/>
            <a:ext cx="274320" cy="274320"/>
          </a:xfrm>
          <a:prstGeom prst="roundRect">
            <a:avLst>
              <a:gd name="adj" fmla="val 13333"/>
            </a:avLst>
          </a:prstGeom>
          <a:solidFill>
            <a:schemeClr val="accent6"/>
          </a:solidFill>
          <a:ln/>
        </p:spPr>
      </p:sp>
      <p:sp>
        <p:nvSpPr>
          <p:cNvPr id="70" name="Rounded 259"/>
          <p:cNvSpPr/>
          <p:nvPr/>
        </p:nvSpPr>
        <p:spPr>
          <a:xfrm>
            <a:off x="2414016" y="4005072"/>
            <a:ext cx="274320" cy="274320"/>
          </a:xfrm>
          <a:prstGeom prst="roundRect">
            <a:avLst>
              <a:gd name="adj" fmla="val 13333"/>
            </a:avLst>
          </a:prstGeom>
          <a:solidFill>
            <a:schemeClr val="accent6"/>
          </a:solidFill>
          <a:ln/>
        </p:spPr>
      </p:sp>
      <p:sp>
        <p:nvSpPr>
          <p:cNvPr id="71" name="Rounded 260"/>
          <p:cNvSpPr/>
          <p:nvPr/>
        </p:nvSpPr>
        <p:spPr>
          <a:xfrm>
            <a:off x="2761488" y="4005072"/>
            <a:ext cx="274320" cy="274320"/>
          </a:xfrm>
          <a:prstGeom prst="roundRect">
            <a:avLst>
              <a:gd name="adj" fmla="val 13333"/>
            </a:avLst>
          </a:prstGeom>
          <a:solidFill>
            <a:schemeClr val="accent6"/>
          </a:solidFill>
          <a:ln/>
        </p:spPr>
      </p:sp>
      <p:sp>
        <p:nvSpPr>
          <p:cNvPr id="72" name="Rounded 261"/>
          <p:cNvSpPr/>
          <p:nvPr/>
        </p:nvSpPr>
        <p:spPr>
          <a:xfrm>
            <a:off x="3108960" y="4005072"/>
            <a:ext cx="274320" cy="274320"/>
          </a:xfrm>
          <a:prstGeom prst="roundRect">
            <a:avLst>
              <a:gd name="adj" fmla="val 13333"/>
            </a:avLst>
          </a:prstGeom>
          <a:solidFill>
            <a:schemeClr val="accent6"/>
          </a:solidFill>
          <a:ln/>
        </p:spPr>
      </p:sp>
      <p:sp>
        <p:nvSpPr>
          <p:cNvPr id="73" name="Rounded 262"/>
          <p:cNvSpPr/>
          <p:nvPr/>
        </p:nvSpPr>
        <p:spPr>
          <a:xfrm>
            <a:off x="3456432" y="4005072"/>
            <a:ext cx="274320" cy="274320"/>
          </a:xfrm>
          <a:prstGeom prst="roundRect">
            <a:avLst>
              <a:gd name="adj" fmla="val 13333"/>
            </a:avLst>
          </a:prstGeom>
          <a:solidFill>
            <a:schemeClr val="accent6"/>
          </a:solidFill>
          <a:ln/>
        </p:spPr>
      </p:sp>
      <p:sp>
        <p:nvSpPr>
          <p:cNvPr id="74" name="Rounded 263"/>
          <p:cNvSpPr/>
          <p:nvPr/>
        </p:nvSpPr>
        <p:spPr>
          <a:xfrm>
            <a:off x="3803904" y="4005072"/>
            <a:ext cx="274320" cy="274320"/>
          </a:xfrm>
          <a:prstGeom prst="roundRect">
            <a:avLst>
              <a:gd name="adj" fmla="val 13333"/>
            </a:avLst>
          </a:prstGeom>
          <a:solidFill>
            <a:schemeClr val="accent6"/>
          </a:solidFill>
          <a:ln/>
        </p:spPr>
      </p:sp>
      <p:sp>
        <p:nvSpPr>
          <p:cNvPr id="75" name="Rounded 264"/>
          <p:cNvSpPr/>
          <p:nvPr/>
        </p:nvSpPr>
        <p:spPr>
          <a:xfrm>
            <a:off x="4151376" y="4005072"/>
            <a:ext cx="274320" cy="274320"/>
          </a:xfrm>
          <a:prstGeom prst="roundRect">
            <a:avLst>
              <a:gd name="adj" fmla="val 13333"/>
            </a:avLst>
          </a:prstGeom>
          <a:solidFill>
            <a:schemeClr val="accent6"/>
          </a:solidFill>
          <a:ln/>
        </p:spPr>
      </p:sp>
      <p:sp>
        <p:nvSpPr>
          <p:cNvPr id="76" name="Rounded 265"/>
          <p:cNvSpPr/>
          <p:nvPr/>
        </p:nvSpPr>
        <p:spPr>
          <a:xfrm>
            <a:off x="4498848" y="4005072"/>
            <a:ext cx="274320" cy="274320"/>
          </a:xfrm>
          <a:prstGeom prst="roundRect">
            <a:avLst>
              <a:gd name="adj" fmla="val 13333"/>
            </a:avLst>
          </a:prstGeom>
          <a:solidFill>
            <a:schemeClr val="accent6"/>
          </a:solidFill>
          <a:ln/>
        </p:spPr>
      </p:sp>
      <p:sp>
        <p:nvSpPr>
          <p:cNvPr id="77" name="Rounded 266"/>
          <p:cNvSpPr/>
          <p:nvPr/>
        </p:nvSpPr>
        <p:spPr>
          <a:xfrm>
            <a:off x="1371600" y="4352544"/>
            <a:ext cx="274320" cy="274320"/>
          </a:xfrm>
          <a:prstGeom prst="roundRect">
            <a:avLst>
              <a:gd name="adj" fmla="val 13333"/>
            </a:avLst>
          </a:prstGeom>
          <a:solidFill>
            <a:schemeClr val="accent6"/>
          </a:solidFill>
          <a:ln/>
        </p:spPr>
      </p:sp>
      <p:sp>
        <p:nvSpPr>
          <p:cNvPr id="78" name="Rounded 267"/>
          <p:cNvSpPr/>
          <p:nvPr/>
        </p:nvSpPr>
        <p:spPr>
          <a:xfrm>
            <a:off x="1719072" y="4352544"/>
            <a:ext cx="274320" cy="274320"/>
          </a:xfrm>
          <a:prstGeom prst="roundRect">
            <a:avLst>
              <a:gd name="adj" fmla="val 13333"/>
            </a:avLst>
          </a:prstGeom>
          <a:solidFill>
            <a:schemeClr val="accent6"/>
          </a:solidFill>
          <a:ln/>
        </p:spPr>
      </p:sp>
      <p:sp>
        <p:nvSpPr>
          <p:cNvPr id="79" name="Rounded 268"/>
          <p:cNvSpPr/>
          <p:nvPr/>
        </p:nvSpPr>
        <p:spPr>
          <a:xfrm>
            <a:off x="2066544" y="4352544"/>
            <a:ext cx="274320" cy="274320"/>
          </a:xfrm>
          <a:prstGeom prst="roundRect">
            <a:avLst>
              <a:gd name="adj" fmla="val 13333"/>
            </a:avLst>
          </a:prstGeom>
          <a:solidFill>
            <a:schemeClr val="accent6"/>
          </a:solidFill>
          <a:ln/>
        </p:spPr>
      </p:sp>
      <p:sp>
        <p:nvSpPr>
          <p:cNvPr id="80" name="Rounded 269"/>
          <p:cNvSpPr/>
          <p:nvPr/>
        </p:nvSpPr>
        <p:spPr>
          <a:xfrm>
            <a:off x="2414016" y="4352544"/>
            <a:ext cx="274320" cy="274320"/>
          </a:xfrm>
          <a:prstGeom prst="roundRect">
            <a:avLst>
              <a:gd name="adj" fmla="val 13333"/>
            </a:avLst>
          </a:prstGeom>
          <a:solidFill>
            <a:schemeClr val="accent6"/>
          </a:solidFill>
          <a:ln/>
        </p:spPr>
      </p:sp>
      <p:sp>
        <p:nvSpPr>
          <p:cNvPr id="81" name="Rounded 270"/>
          <p:cNvSpPr/>
          <p:nvPr/>
        </p:nvSpPr>
        <p:spPr>
          <a:xfrm>
            <a:off x="2761488" y="4352544"/>
            <a:ext cx="274320" cy="274320"/>
          </a:xfrm>
          <a:prstGeom prst="roundRect">
            <a:avLst>
              <a:gd name="adj" fmla="val 13333"/>
            </a:avLst>
          </a:prstGeom>
          <a:solidFill>
            <a:schemeClr val="accent6"/>
          </a:solidFill>
          <a:ln/>
        </p:spPr>
      </p:sp>
      <p:sp>
        <p:nvSpPr>
          <p:cNvPr id="82" name="Rounded 271"/>
          <p:cNvSpPr/>
          <p:nvPr/>
        </p:nvSpPr>
        <p:spPr>
          <a:xfrm>
            <a:off x="3108960" y="4352544"/>
            <a:ext cx="274320" cy="274320"/>
          </a:xfrm>
          <a:prstGeom prst="roundRect">
            <a:avLst>
              <a:gd name="adj" fmla="val 13333"/>
            </a:avLst>
          </a:prstGeom>
          <a:solidFill>
            <a:schemeClr val="accent6"/>
          </a:solidFill>
          <a:ln/>
        </p:spPr>
      </p:sp>
      <p:sp>
        <p:nvSpPr>
          <p:cNvPr id="83" name="Rounded 272"/>
          <p:cNvSpPr/>
          <p:nvPr/>
        </p:nvSpPr>
        <p:spPr>
          <a:xfrm>
            <a:off x="3456432" y="4352544"/>
            <a:ext cx="274320" cy="274320"/>
          </a:xfrm>
          <a:prstGeom prst="roundRect">
            <a:avLst>
              <a:gd name="adj" fmla="val 13333"/>
            </a:avLst>
          </a:prstGeom>
          <a:solidFill>
            <a:schemeClr val="accent6"/>
          </a:solidFill>
          <a:ln/>
        </p:spPr>
      </p:sp>
      <p:sp>
        <p:nvSpPr>
          <p:cNvPr id="84" name="Rounded 273"/>
          <p:cNvSpPr/>
          <p:nvPr/>
        </p:nvSpPr>
        <p:spPr>
          <a:xfrm>
            <a:off x="3803904" y="4352544"/>
            <a:ext cx="274320" cy="274320"/>
          </a:xfrm>
          <a:prstGeom prst="roundRect">
            <a:avLst>
              <a:gd name="adj" fmla="val 13333"/>
            </a:avLst>
          </a:prstGeom>
          <a:solidFill>
            <a:schemeClr val="accent6"/>
          </a:solidFill>
          <a:ln/>
        </p:spPr>
      </p:sp>
      <p:sp>
        <p:nvSpPr>
          <p:cNvPr id="85" name="Rounded 274"/>
          <p:cNvSpPr/>
          <p:nvPr/>
        </p:nvSpPr>
        <p:spPr>
          <a:xfrm>
            <a:off x="4151376" y="4352544"/>
            <a:ext cx="274320" cy="274320"/>
          </a:xfrm>
          <a:prstGeom prst="roundRect">
            <a:avLst>
              <a:gd name="adj" fmla="val 13333"/>
            </a:avLst>
          </a:prstGeom>
          <a:solidFill>
            <a:schemeClr val="accent6"/>
          </a:solidFill>
          <a:ln/>
        </p:spPr>
      </p:sp>
      <p:sp>
        <p:nvSpPr>
          <p:cNvPr id="86" name="Rounded 275"/>
          <p:cNvSpPr/>
          <p:nvPr/>
        </p:nvSpPr>
        <p:spPr>
          <a:xfrm>
            <a:off x="4498848" y="4352544"/>
            <a:ext cx="274320" cy="274320"/>
          </a:xfrm>
          <a:prstGeom prst="roundRect">
            <a:avLst>
              <a:gd name="adj" fmla="val 13333"/>
            </a:avLst>
          </a:prstGeom>
          <a:solidFill>
            <a:schemeClr val="accent6"/>
          </a:solidFill>
          <a:ln/>
        </p:spPr>
      </p:sp>
      <p:sp>
        <p:nvSpPr>
          <p:cNvPr id="87" name="Rounded 276"/>
          <p:cNvSpPr/>
          <p:nvPr/>
        </p:nvSpPr>
        <p:spPr>
          <a:xfrm>
            <a:off x="1371600" y="4700016"/>
            <a:ext cx="274320" cy="274320"/>
          </a:xfrm>
          <a:prstGeom prst="roundRect">
            <a:avLst>
              <a:gd name="adj" fmla="val 13333"/>
            </a:avLst>
          </a:prstGeom>
          <a:solidFill>
            <a:schemeClr val="accent6"/>
          </a:solidFill>
          <a:ln/>
        </p:spPr>
      </p:sp>
      <p:sp>
        <p:nvSpPr>
          <p:cNvPr id="88" name="Rounded 277"/>
          <p:cNvSpPr/>
          <p:nvPr/>
        </p:nvSpPr>
        <p:spPr>
          <a:xfrm>
            <a:off x="1719072" y="4700016"/>
            <a:ext cx="54864" cy="274320"/>
          </a:xfrm>
          <a:prstGeom prst="roundRect">
            <a:avLst>
              <a:gd name="adj" fmla="val 66667"/>
            </a:avLst>
          </a:prstGeom>
          <a:solidFill>
            <a:schemeClr val="accent6"/>
          </a:solidFill>
          <a:ln/>
        </p:spPr>
      </p:sp>
      <p:sp>
        <p:nvSpPr>
          <p:cNvPr id="89" name="Rounded 278"/>
          <p:cNvSpPr/>
          <p:nvPr/>
        </p:nvSpPr>
        <p:spPr>
          <a:xfrm>
            <a:off x="1773936" y="4700016"/>
            <a:ext cx="219456" cy="274320"/>
          </a:xfrm>
          <a:prstGeom prst="roundRect">
            <a:avLst>
              <a:gd name="adj" fmla="val 16667"/>
            </a:avLst>
          </a:prstGeom>
          <a:solidFill>
            <a:schemeClr val="accent1"/>
          </a:solidFill>
          <a:ln/>
        </p:spPr>
      </p:sp>
      <p:sp>
        <p:nvSpPr>
          <p:cNvPr id="90" name="Rounded 279"/>
          <p:cNvSpPr/>
          <p:nvPr/>
        </p:nvSpPr>
        <p:spPr>
          <a:xfrm>
            <a:off x="2066544" y="4700016"/>
            <a:ext cx="274320" cy="274320"/>
          </a:xfrm>
          <a:prstGeom prst="roundRect">
            <a:avLst>
              <a:gd name="adj" fmla="val 13333"/>
            </a:avLst>
          </a:prstGeom>
          <a:solidFill>
            <a:schemeClr val="accent1"/>
          </a:solidFill>
          <a:ln/>
        </p:spPr>
      </p:sp>
      <p:sp>
        <p:nvSpPr>
          <p:cNvPr id="91" name="Rounded 280"/>
          <p:cNvSpPr/>
          <p:nvPr/>
        </p:nvSpPr>
        <p:spPr>
          <a:xfrm>
            <a:off x="2414016" y="4700016"/>
            <a:ext cx="274320" cy="274320"/>
          </a:xfrm>
          <a:prstGeom prst="roundRect">
            <a:avLst>
              <a:gd name="adj" fmla="val 13333"/>
            </a:avLst>
          </a:prstGeom>
          <a:solidFill>
            <a:schemeClr val="accent1"/>
          </a:solidFill>
          <a:ln/>
        </p:spPr>
      </p:sp>
      <p:sp>
        <p:nvSpPr>
          <p:cNvPr id="92" name="Rounded 281"/>
          <p:cNvSpPr/>
          <p:nvPr/>
        </p:nvSpPr>
        <p:spPr>
          <a:xfrm>
            <a:off x="2761488" y="4700016"/>
            <a:ext cx="274320" cy="274320"/>
          </a:xfrm>
          <a:prstGeom prst="roundRect">
            <a:avLst>
              <a:gd name="adj" fmla="val 13333"/>
            </a:avLst>
          </a:prstGeom>
          <a:solidFill>
            <a:schemeClr val="accent1"/>
          </a:solidFill>
          <a:ln/>
        </p:spPr>
      </p:sp>
      <p:sp>
        <p:nvSpPr>
          <p:cNvPr id="93" name="Rounded 282"/>
          <p:cNvSpPr/>
          <p:nvPr/>
        </p:nvSpPr>
        <p:spPr>
          <a:xfrm>
            <a:off x="3108960" y="4700016"/>
            <a:ext cx="164592" cy="274320"/>
          </a:xfrm>
          <a:prstGeom prst="roundRect">
            <a:avLst>
              <a:gd name="adj" fmla="val 22222"/>
            </a:avLst>
          </a:prstGeom>
          <a:solidFill>
            <a:schemeClr val="accent1"/>
          </a:solidFill>
          <a:ln/>
        </p:spPr>
      </p:sp>
      <p:sp>
        <p:nvSpPr>
          <p:cNvPr id="94" name="Text 283"/>
          <p:cNvSpPr txBox="1"/>
          <p:nvPr/>
        </p:nvSpPr>
        <p:spPr>
          <a:xfrm>
            <a:off x="6035040" y="1965960"/>
            <a:ext cx="5029200" cy="365760"/>
          </a:xfrm>
          <a:prstGeom prst="rect">
            <a:avLst/>
          </a:prstGeom>
          <a:noFill/>
          <a:ln/>
        </p:spPr>
        <p:txBody>
          <a:bodyPr wrap="square" lIns="0" tIns="0" rIns="0" bIns="0" rtlCol="0" anchor="ctr"/>
          <a:lstStyle/>
          <a:p>
            <a:pPr indent="0" marL="0">
              <a:buNone/>
            </a:pPr>
            <a:r>
              <a:rPr lang="en-US" sz="2000" dirty="0">
                <a:solidFill>
                  <a:schemeClr val="tx2"/>
                </a:solidFill>
              </a:rPr>
              <a:t>800 + 56</a:t>
            </a:r>
            <a:endParaRPr lang="en-US" sz="2000" dirty="0"/>
          </a:p>
        </p:txBody>
      </p:sp>
      <p:sp>
        <p:nvSpPr>
          <p:cNvPr id="95" name="Text 284"/>
          <p:cNvSpPr txBox="1"/>
          <p:nvPr/>
        </p:nvSpPr>
        <p:spPr>
          <a:xfrm>
            <a:off x="6035040" y="2331720"/>
            <a:ext cx="5486400" cy="822960"/>
          </a:xfrm>
          <a:prstGeom prst="rect">
            <a:avLst/>
          </a:prstGeom>
          <a:noFill/>
          <a:ln/>
        </p:spPr>
        <p:txBody>
          <a:bodyPr wrap="square" lIns="0" tIns="0" rIns="0" bIns="0" rtlCol="0" anchor="ctr"/>
          <a:lstStyle/>
          <a:p>
            <a:pPr indent="0" marL="0">
              <a:buNone/>
            </a:pPr>
            <a:r>
              <a:rPr lang="en-US" sz="5400" b="1" spc="-200" kern="0" dirty="0">
                <a:solidFill>
                  <a:schemeClr val="tx1"/>
                </a:solidFill>
              </a:rPr>
              <a:t>= 856 aircraft</a:t>
            </a:r>
            <a:endParaRPr lang="en-US" sz="5400" dirty="0"/>
          </a:p>
        </p:txBody>
      </p:sp>
      <p:sp>
        <p:nvSpPr>
          <p:cNvPr id="96" name="Line 285"/>
          <p:cNvSpPr/>
          <p:nvPr/>
        </p:nvSpPr>
        <p:spPr>
          <a:xfrm>
            <a:off x="6035040" y="3429000"/>
            <a:ext cx="4754880" cy="0"/>
          </a:xfrm>
          <a:prstGeom prst="line">
            <a:avLst/>
          </a:prstGeom>
          <a:noFill/>
          <a:ln w="9525">
            <a:solidFill>
              <a:schemeClr val="accent2"/>
            </a:solidFill>
            <a:prstDash val="solid"/>
          </a:ln>
        </p:spPr>
      </p:sp>
      <p:sp>
        <p:nvSpPr>
          <p:cNvPr id="97" name="Text 286"/>
          <p:cNvSpPr txBox="1"/>
          <p:nvPr/>
        </p:nvSpPr>
        <p:spPr>
          <a:xfrm>
            <a:off x="6035040" y="3611880"/>
            <a:ext cx="5486400" cy="822960"/>
          </a:xfrm>
          <a:prstGeom prst="rect">
            <a:avLst/>
          </a:prstGeom>
          <a:noFill/>
          <a:ln/>
        </p:spPr>
        <p:txBody>
          <a:bodyPr wrap="square" lIns="0" tIns="0" rIns="0" bIns="0" rtlCol="0" anchor="ctr"/>
          <a:lstStyle/>
          <a:p>
            <a:pPr indent="0" marL="0">
              <a:buNone/>
            </a:pPr>
            <a:r>
              <a:rPr lang="en-US" sz="5400" b="1" spc="-200" kern="0" dirty="0">
                <a:solidFill>
                  <a:schemeClr val="accent1"/>
                </a:solidFill>
              </a:rPr>
              <a:t>44</a:t>
            </a:r>
            <a:pPr indent="0" marL="0">
              <a:buNone/>
            </a:pPr>
            <a:r>
              <a:rPr lang="en-US" sz="2000" dirty="0">
                <a:solidFill>
                  <a:schemeClr val="tx1"/>
                </a:solidFill>
              </a:rPr>
              <a:t>  of them are Starliners</a:t>
            </a:r>
            <a:endParaRPr lang="en-US" sz="5400" dirty="0"/>
          </a:p>
        </p:txBody>
      </p:sp>
      <p:sp>
        <p:nvSpPr>
          <p:cNvPr id="98" name="Text 287"/>
          <p:cNvSpPr txBox="1"/>
          <p:nvPr/>
        </p:nvSpPr>
        <p:spPr>
          <a:xfrm>
            <a:off x="6035040" y="4434840"/>
            <a:ext cx="5029200" cy="365760"/>
          </a:xfrm>
          <a:prstGeom prst="rect">
            <a:avLst/>
          </a:prstGeom>
          <a:noFill/>
          <a:ln/>
        </p:spPr>
        <p:txBody>
          <a:bodyPr wrap="square" lIns="0" tIns="0" rIns="0" bIns="0" rtlCol="0" anchor="ctr"/>
          <a:lstStyle/>
          <a:p>
            <a:pPr indent="0" marL="0">
              <a:buNone/>
            </a:pPr>
            <a:r>
              <a:rPr lang="en-US" sz="1800" dirty="0">
                <a:solidFill>
                  <a:schemeClr val="tx2"/>
                </a:solidFill>
              </a:rPr>
              <a:t>About 5% of the whole family</a:t>
            </a:r>
            <a:endParaRPr lang="en-US" sz="1800" dirty="0"/>
          </a:p>
        </p:txBody>
      </p:sp>
      <p:sp>
        <p:nvSpPr>
          <p:cNvPr id="25" name="Slide Number Placeholder 0"/>
          <p:cNvSpPr>
            <a:spLocks noGrp="1"/>
          </p:cNvSpPr>
          <p:nvPr>
            <p:ph type="sldNum" sz="quarter" idx="4294967295"/>
          </p:nvPr>
        </p:nvSpPr>
        <p:spPr>
          <a:xfrm>
            <a:off x="1127455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36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731520" y="475488"/>
            <a:ext cx="10728655" cy="731520"/>
          </a:xfrm>
          <a:prstGeom prst="rect">
            <a:avLst/>
          </a:prstGeom>
          <a:noFill/>
          <a:ln/>
        </p:spPr>
        <p:txBody>
          <a:bodyPr wrap="square" lIns="0" tIns="0" rIns="0" bIns="0" rtlCol="0" anchor="ctr"/>
          <a:lstStyle/>
          <a:p>
            <a:pPr algn="ctr" indent="0" marL="0">
              <a:buNone/>
            </a:pPr>
            <a:r>
              <a:rPr lang="en-US" sz="3600" b="1" spc="-100" kern="0" dirty="0">
                <a:solidFill>
                  <a:schemeClr val="tx1"/>
                </a:solidFill>
              </a:rPr>
              <a:t>One family, several roles in history</a:t>
            </a:r>
            <a:endParaRPr lang="en-US" sz="3600" dirty="0"/>
          </a:p>
        </p:txBody>
      </p:sp>
      <p:sp>
        <p:nvSpPr>
          <p:cNvPr id="3" name="Text 0"/>
          <p:cNvSpPr/>
          <p:nvPr>
            <p:ph idx="101" type="body" hasCustomPrompt="1"/>
          </p:nvPr>
        </p:nvSpPr>
        <p:spPr>
          <a:xfrm>
            <a:off x="1280160" y="1225296"/>
            <a:ext cx="9631375" cy="411480"/>
          </a:xfrm>
          <a:prstGeom prst="rect">
            <a:avLst/>
          </a:prstGeom>
          <a:noFill/>
          <a:ln/>
        </p:spPr>
        <p:txBody>
          <a:bodyPr wrap="square" lIns="0" tIns="0" rIns="0" bIns="0" rtlCol="0" anchor="t"/>
          <a:lstStyle/>
          <a:p>
            <a:pPr algn="ctr" indent="0" marL="0">
              <a:buNone/>
            </a:pPr>
            <a:r>
              <a:rPr lang="en-US" sz="1800" dirty="0">
                <a:solidFill>
                  <a:schemeClr val="tx2"/>
                </a:solidFill>
              </a:rPr>
              <a:t>Different derivatives of the same design answered different needs</a:t>
            </a:r>
            <a:endParaRPr lang="en-US" sz="1800" dirty="0"/>
          </a:p>
        </p:txBody>
      </p:sp>
      <p:sp>
        <p:nvSpPr>
          <p:cNvPr id="4" name="Text 0"/>
          <p:cNvSpPr/>
          <p:nvPr>
            <p:ph idx="102" type="body" hasCustomPrompt="1"/>
          </p:nvPr>
        </p:nvSpPr>
        <p:spPr>
          <a:xfrm>
            <a:off x="1280160" y="5413248"/>
            <a:ext cx="9631375" cy="457200"/>
          </a:xfrm>
          <a:prstGeom prst="rect">
            <a:avLst/>
          </a:prstGeom>
          <a:noFill/>
          <a:ln/>
        </p:spPr>
        <p:txBody>
          <a:bodyPr wrap="square" lIns="0" tIns="0" rIns="0" bIns="0" rtlCol="0" anchor="ctr"/>
          <a:lstStyle/>
          <a:p>
            <a:pPr algn="ctr" indent="0" marL="0">
              <a:buNone/>
            </a:pPr>
            <a:r>
              <a:rPr lang="en-US" sz="2000" dirty="0">
                <a:solidFill>
                  <a:schemeClr val="tx1"/>
                </a:solidFill>
              </a:rPr>
              <a:t>Different derivatives of one design, three very different jobs</a:t>
            </a:r>
            <a:endParaRPr lang="en-US" sz="2000" dirty="0"/>
          </a:p>
        </p:txBody>
      </p:sp>
      <p:sp>
        <p:nvSpPr>
          <p:cNvPr id="5" name="Text 0"/>
          <p:cNvSpPr/>
          <p:nvPr>
            <p:ph idx="103" type="body" hasCustomPrompt="1"/>
          </p:nvPr>
        </p:nvSpPr>
        <p:spPr>
          <a:xfrm>
            <a:off x="1280160" y="5961888"/>
            <a:ext cx="9631375" cy="502920"/>
          </a:xfrm>
          <a:prstGeom prst="rect">
            <a:avLst/>
          </a:prstGeom>
          <a:noFill/>
          <a:ln/>
        </p:spPr>
        <p:txBody>
          <a:bodyPr wrap="square" lIns="0" tIns="0" rIns="0" bIns="0" rtlCol="0" anchor="t"/>
          <a:lstStyle/>
          <a:p>
            <a:pPr algn="ctr" indent="0" marL="0">
              <a:buNone/>
            </a:pPr>
            <a:r>
              <a:rPr lang="en-US" sz="1100" dirty="0">
                <a:solidFill>
                  <a:schemeClr val="tx2"/>
                </a:solidFill>
              </a:rPr>
              <a:t>Air Force One is the call sign used when the president is aboard a U.S. Air Force aircraft, not an aircraft type.</a:t>
            </a:r>
            <a:endParaRPr lang="en-US" sz="1100" dirty="0"/>
          </a:p>
        </p:txBody>
      </p:sp>
      <p:sp>
        <p:nvSpPr>
          <p:cNvPr id="7" name="Rounded 288"/>
          <p:cNvSpPr/>
          <p:nvPr/>
        </p:nvSpPr>
        <p:spPr>
          <a:xfrm>
            <a:off x="746608" y="1874520"/>
            <a:ext cx="3291840" cy="3246120"/>
          </a:xfrm>
          <a:prstGeom prst="roundRect">
            <a:avLst>
              <a:gd name="adj" fmla="val 6197"/>
            </a:avLst>
          </a:prstGeom>
          <a:solidFill>
            <a:schemeClr val="bg2"/>
          </a:solidFill>
          <a:ln/>
        </p:spPr>
      </p:sp>
      <p:sp>
        <p:nvSpPr>
          <p:cNvPr id="8" name="Circle 289"/>
          <p:cNvSpPr/>
          <p:nvPr/>
        </p:nvSpPr>
        <p:spPr>
          <a:xfrm>
            <a:off x="1158088" y="2286000"/>
            <a:ext cx="731520" cy="731520"/>
          </a:xfrm>
          <a:prstGeom prst="ellipse">
            <a:avLst/>
          </a:prstGeom>
          <a:solidFill>
            <a:schemeClr val="accent4"/>
          </a:solidFill>
          <a:ln/>
        </p:spPr>
      </p:sp>
      <p:pic>
        <p:nvPicPr>
          <p:cNvPr id="9" name="Icon 290" descr="preencoded.png">    </p:cNvPr>
          <p:cNvPicPr>
            <a:picLocks noChangeAspect="1"/>
          </p:cNvPicPr>
          <p:nvPr/>
        </p:nvPicPr>
        <p:blipFill>
          <a:blip r:embed="rId1"/>
          <a:stretch>
            <a:fillRect/>
          </a:stretch>
        </p:blipFill>
        <p:spPr>
          <a:xfrm>
            <a:off x="1340968" y="2468880"/>
            <a:ext cx="365760" cy="365760"/>
          </a:xfrm>
          <a:prstGeom prst="rect">
            <a:avLst/>
          </a:prstGeom>
        </p:spPr>
      </p:pic>
      <p:sp>
        <p:nvSpPr>
          <p:cNvPr id="10" name="Text 291"/>
          <p:cNvSpPr txBox="1"/>
          <p:nvPr/>
        </p:nvSpPr>
        <p:spPr>
          <a:xfrm>
            <a:off x="1158088" y="3291840"/>
            <a:ext cx="2468880" cy="274320"/>
          </a:xfrm>
          <a:prstGeom prst="rect">
            <a:avLst/>
          </a:prstGeom>
          <a:noFill/>
          <a:ln/>
        </p:spPr>
        <p:txBody>
          <a:bodyPr wrap="square" lIns="0" tIns="0" rIns="0" bIns="0" rtlCol="0" anchor="ctr"/>
          <a:lstStyle/>
          <a:p>
            <a:pPr algn="l" indent="0" marL="0">
              <a:buNone/>
            </a:pPr>
            <a:r>
              <a:rPr lang="en-US" sz="1100" b="1" spc="300" kern="0" dirty="0">
                <a:solidFill>
                  <a:schemeClr val="accent1"/>
                </a:solidFill>
              </a:rPr>
              <a:t>1944</a:t>
            </a:r>
            <a:endParaRPr lang="en-US" sz="1100" dirty="0"/>
          </a:p>
        </p:txBody>
      </p:sp>
      <p:sp>
        <p:nvSpPr>
          <p:cNvPr id="11" name="Text 292"/>
          <p:cNvSpPr txBox="1"/>
          <p:nvPr/>
        </p:nvSpPr>
        <p:spPr>
          <a:xfrm>
            <a:off x="1158088" y="3566160"/>
            <a:ext cx="2468880" cy="457200"/>
          </a:xfrm>
          <a:prstGeom prst="rect">
            <a:avLst/>
          </a:prstGeom>
          <a:noFill/>
          <a:ln/>
        </p:spPr>
        <p:txBody>
          <a:bodyPr wrap="square" lIns="0" tIns="0" rIns="0" bIns="0" rtlCol="0" anchor="t"/>
          <a:lstStyle/>
          <a:p>
            <a:pPr indent="0" marL="0">
              <a:buNone/>
            </a:pPr>
            <a:r>
              <a:rPr lang="en-US" sz="2400" b="1" spc="-50" kern="0" dirty="0">
                <a:solidFill>
                  <a:schemeClr val="tx1"/>
                </a:solidFill>
              </a:rPr>
              <a:t>Orville Wright</a:t>
            </a:r>
            <a:endParaRPr lang="en-US" sz="2400" dirty="0"/>
          </a:p>
        </p:txBody>
      </p:sp>
      <p:sp>
        <p:nvSpPr>
          <p:cNvPr id="12" name="Text 293"/>
          <p:cNvSpPr txBox="1"/>
          <p:nvPr/>
        </p:nvSpPr>
        <p:spPr>
          <a:xfrm>
            <a:off x="1158088" y="4114800"/>
            <a:ext cx="2468880" cy="731520"/>
          </a:xfrm>
          <a:prstGeom prst="rect">
            <a:avLst/>
          </a:prstGeom>
          <a:noFill/>
          <a:ln/>
        </p:spPr>
        <p:txBody>
          <a:bodyPr wrap="square" lIns="0" tIns="0" rIns="0" bIns="0" rtlCol="0" anchor="t"/>
          <a:lstStyle/>
          <a:p>
            <a:pPr indent="0" marL="0">
              <a:lnSpc>
                <a:spcPct val="110000"/>
              </a:lnSpc>
              <a:buNone/>
            </a:pPr>
            <a:r>
              <a:rPr lang="en-US" sz="1400" dirty="0">
                <a:solidFill>
                  <a:schemeClr val="tx2"/>
                </a:solidFill>
              </a:rPr>
              <a:t>His last flight was aboard a Constellation</a:t>
            </a:r>
            <a:endParaRPr lang="en-US" sz="1400" dirty="0"/>
          </a:p>
        </p:txBody>
      </p:sp>
      <p:sp>
        <p:nvSpPr>
          <p:cNvPr id="13" name="Rounded 294"/>
          <p:cNvSpPr/>
          <p:nvPr/>
        </p:nvSpPr>
        <p:spPr>
          <a:xfrm>
            <a:off x="4449928" y="1874520"/>
            <a:ext cx="3291840" cy="3246120"/>
          </a:xfrm>
          <a:prstGeom prst="roundRect">
            <a:avLst>
              <a:gd name="adj" fmla="val 6197"/>
            </a:avLst>
          </a:prstGeom>
          <a:solidFill>
            <a:schemeClr val="bg2"/>
          </a:solidFill>
          <a:ln/>
        </p:spPr>
      </p:sp>
      <p:sp>
        <p:nvSpPr>
          <p:cNvPr id="14" name="Circle 295"/>
          <p:cNvSpPr/>
          <p:nvPr/>
        </p:nvSpPr>
        <p:spPr>
          <a:xfrm>
            <a:off x="4861408" y="2286000"/>
            <a:ext cx="731520" cy="731520"/>
          </a:xfrm>
          <a:prstGeom prst="ellipse">
            <a:avLst/>
          </a:prstGeom>
          <a:solidFill>
            <a:schemeClr val="accent4"/>
          </a:solidFill>
          <a:ln/>
        </p:spPr>
      </p:sp>
      <p:pic>
        <p:nvPicPr>
          <p:cNvPr id="15" name="Icon 296" descr="preencoded.png">    </p:cNvPr>
          <p:cNvPicPr>
            <a:picLocks noChangeAspect="1"/>
          </p:cNvPicPr>
          <p:nvPr/>
        </p:nvPicPr>
        <p:blipFill>
          <a:blip r:embed="rId2"/>
          <a:stretch>
            <a:fillRect/>
          </a:stretch>
        </p:blipFill>
        <p:spPr>
          <a:xfrm>
            <a:off x="5044288" y="2468880"/>
            <a:ext cx="365760" cy="365760"/>
          </a:xfrm>
          <a:prstGeom prst="rect">
            <a:avLst/>
          </a:prstGeom>
        </p:spPr>
      </p:pic>
      <p:sp>
        <p:nvSpPr>
          <p:cNvPr id="16" name="Text 297"/>
          <p:cNvSpPr txBox="1"/>
          <p:nvPr/>
        </p:nvSpPr>
        <p:spPr>
          <a:xfrm>
            <a:off x="4861408" y="3291840"/>
            <a:ext cx="2468880" cy="274320"/>
          </a:xfrm>
          <a:prstGeom prst="rect">
            <a:avLst/>
          </a:prstGeom>
          <a:noFill/>
          <a:ln/>
        </p:spPr>
        <p:txBody>
          <a:bodyPr wrap="square" lIns="0" tIns="0" rIns="0" bIns="0" rtlCol="0" anchor="ctr"/>
          <a:lstStyle/>
          <a:p>
            <a:pPr algn="l" indent="0" marL="0">
              <a:buNone/>
            </a:pPr>
            <a:r>
              <a:rPr lang="en-US" sz="1100" b="1" spc="300" kern="0" dirty="0">
                <a:solidFill>
                  <a:schemeClr val="accent1"/>
                </a:solidFill>
              </a:rPr>
              <a:t>1953</a:t>
            </a:r>
            <a:endParaRPr lang="en-US" sz="1100" dirty="0"/>
          </a:p>
        </p:txBody>
      </p:sp>
      <p:sp>
        <p:nvSpPr>
          <p:cNvPr id="17" name="Text 298"/>
          <p:cNvSpPr txBox="1"/>
          <p:nvPr/>
        </p:nvSpPr>
        <p:spPr>
          <a:xfrm>
            <a:off x="4861408" y="3566160"/>
            <a:ext cx="2468880" cy="457200"/>
          </a:xfrm>
          <a:prstGeom prst="rect">
            <a:avLst/>
          </a:prstGeom>
          <a:noFill/>
          <a:ln/>
        </p:spPr>
        <p:txBody>
          <a:bodyPr wrap="square" lIns="0" tIns="0" rIns="0" bIns="0" rtlCol="0" anchor="t"/>
          <a:lstStyle/>
          <a:p>
            <a:pPr indent="0" marL="0">
              <a:buNone/>
            </a:pPr>
            <a:r>
              <a:rPr lang="en-US" sz="2400" b="1" spc="-50" kern="0" dirty="0">
                <a:solidFill>
                  <a:schemeClr val="tx1"/>
                </a:solidFill>
              </a:rPr>
              <a:t>Columbine II</a:t>
            </a:r>
            <a:endParaRPr lang="en-US" sz="2400" dirty="0"/>
          </a:p>
        </p:txBody>
      </p:sp>
      <p:sp>
        <p:nvSpPr>
          <p:cNvPr id="18" name="Text 299"/>
          <p:cNvSpPr txBox="1"/>
          <p:nvPr/>
        </p:nvSpPr>
        <p:spPr>
          <a:xfrm>
            <a:off x="4861408" y="4114800"/>
            <a:ext cx="2468880" cy="731520"/>
          </a:xfrm>
          <a:prstGeom prst="rect">
            <a:avLst/>
          </a:prstGeom>
          <a:noFill/>
          <a:ln/>
        </p:spPr>
        <p:txBody>
          <a:bodyPr wrap="square" lIns="0" tIns="0" rIns="0" bIns="0" rtlCol="0" anchor="t"/>
          <a:lstStyle/>
          <a:p>
            <a:pPr indent="0" marL="0">
              <a:lnSpc>
                <a:spcPct val="110000"/>
              </a:lnSpc>
              <a:buNone/>
            </a:pPr>
            <a:r>
              <a:rPr lang="en-US" sz="1400" dirty="0">
                <a:solidFill>
                  <a:schemeClr val="tx2"/>
                </a:solidFill>
              </a:rPr>
              <a:t>First aircraft to fly under the Air Force One call sign</a:t>
            </a:r>
            <a:endParaRPr lang="en-US" sz="1400" dirty="0"/>
          </a:p>
        </p:txBody>
      </p:sp>
      <p:sp>
        <p:nvSpPr>
          <p:cNvPr id="19" name="Rounded 300"/>
          <p:cNvSpPr/>
          <p:nvPr/>
        </p:nvSpPr>
        <p:spPr>
          <a:xfrm>
            <a:off x="8153248" y="1874520"/>
            <a:ext cx="3291840" cy="3246120"/>
          </a:xfrm>
          <a:prstGeom prst="roundRect">
            <a:avLst>
              <a:gd name="adj" fmla="val 6197"/>
            </a:avLst>
          </a:prstGeom>
          <a:solidFill>
            <a:schemeClr val="bg2"/>
          </a:solidFill>
          <a:ln/>
        </p:spPr>
      </p:sp>
      <p:sp>
        <p:nvSpPr>
          <p:cNvPr id="20" name="Circle 301"/>
          <p:cNvSpPr/>
          <p:nvPr/>
        </p:nvSpPr>
        <p:spPr>
          <a:xfrm>
            <a:off x="8564728" y="2286000"/>
            <a:ext cx="731520" cy="731520"/>
          </a:xfrm>
          <a:prstGeom prst="ellipse">
            <a:avLst/>
          </a:prstGeom>
          <a:solidFill>
            <a:schemeClr val="accent4"/>
          </a:solidFill>
          <a:ln/>
        </p:spPr>
      </p:sp>
      <p:pic>
        <p:nvPicPr>
          <p:cNvPr id="21" name="Icon 302" descr="preencoded.png">    </p:cNvPr>
          <p:cNvPicPr>
            <a:picLocks noChangeAspect="1"/>
          </p:cNvPicPr>
          <p:nvPr/>
        </p:nvPicPr>
        <p:blipFill>
          <a:blip r:embed="rId3"/>
          <a:stretch>
            <a:fillRect/>
          </a:stretch>
        </p:blipFill>
        <p:spPr>
          <a:xfrm>
            <a:off x="8747608" y="2468880"/>
            <a:ext cx="365760" cy="365760"/>
          </a:xfrm>
          <a:prstGeom prst="rect">
            <a:avLst/>
          </a:prstGeom>
        </p:spPr>
      </p:pic>
      <p:sp>
        <p:nvSpPr>
          <p:cNvPr id="22" name="Text 303"/>
          <p:cNvSpPr txBox="1"/>
          <p:nvPr/>
        </p:nvSpPr>
        <p:spPr>
          <a:xfrm>
            <a:off x="8564728" y="3291840"/>
            <a:ext cx="2468880" cy="274320"/>
          </a:xfrm>
          <a:prstGeom prst="rect">
            <a:avLst/>
          </a:prstGeom>
          <a:noFill/>
          <a:ln/>
        </p:spPr>
        <p:txBody>
          <a:bodyPr wrap="square" lIns="0" tIns="0" rIns="0" bIns="0" rtlCol="0" anchor="ctr"/>
          <a:lstStyle/>
          <a:p>
            <a:pPr algn="l" indent="0" marL="0">
              <a:buNone/>
            </a:pPr>
            <a:r>
              <a:rPr lang="en-US" sz="1100" b="1" spc="300" kern="0" dirty="0">
                <a:solidFill>
                  <a:schemeClr val="accent1"/>
                </a:solidFill>
              </a:rPr>
              <a:t>COLD WAR</a:t>
            </a:r>
            <a:endParaRPr lang="en-US" sz="1100" dirty="0"/>
          </a:p>
        </p:txBody>
      </p:sp>
      <p:sp>
        <p:nvSpPr>
          <p:cNvPr id="23" name="Text 304"/>
          <p:cNvSpPr txBox="1"/>
          <p:nvPr/>
        </p:nvSpPr>
        <p:spPr>
          <a:xfrm>
            <a:off x="8564728" y="3566160"/>
            <a:ext cx="2468880" cy="457200"/>
          </a:xfrm>
          <a:prstGeom prst="rect">
            <a:avLst/>
          </a:prstGeom>
          <a:noFill/>
          <a:ln/>
        </p:spPr>
        <p:txBody>
          <a:bodyPr wrap="square" lIns="0" tIns="0" rIns="0" bIns="0" rtlCol="0" anchor="t"/>
          <a:lstStyle/>
          <a:p>
            <a:pPr indent="0" marL="0">
              <a:buNone/>
            </a:pPr>
            <a:r>
              <a:rPr lang="en-US" sz="2400" b="1" spc="-50" kern="0" dirty="0">
                <a:solidFill>
                  <a:schemeClr val="tx1"/>
                </a:solidFill>
              </a:rPr>
              <a:t>EC-121</a:t>
            </a:r>
            <a:endParaRPr lang="en-US" sz="2400" dirty="0"/>
          </a:p>
        </p:txBody>
      </p:sp>
      <p:sp>
        <p:nvSpPr>
          <p:cNvPr id="24" name="Text 305"/>
          <p:cNvSpPr txBox="1"/>
          <p:nvPr/>
        </p:nvSpPr>
        <p:spPr>
          <a:xfrm>
            <a:off x="8564728" y="4114800"/>
            <a:ext cx="2468880" cy="731520"/>
          </a:xfrm>
          <a:prstGeom prst="rect">
            <a:avLst/>
          </a:prstGeom>
          <a:noFill/>
          <a:ln/>
        </p:spPr>
        <p:txBody>
          <a:bodyPr wrap="square" lIns="0" tIns="0" rIns="0" bIns="0" rtlCol="0" anchor="t"/>
          <a:lstStyle/>
          <a:p>
            <a:pPr indent="0" marL="0">
              <a:lnSpc>
                <a:spcPct val="110000"/>
              </a:lnSpc>
              <a:buNone/>
            </a:pPr>
            <a:r>
              <a:rPr lang="en-US" sz="1400" dirty="0">
                <a:solidFill>
                  <a:schemeClr val="tx2"/>
                </a:solidFill>
              </a:rPr>
              <a:t>Airborne radar early warning</a:t>
            </a:r>
            <a:endParaRPr lang="en-US" sz="1400" dirty="0"/>
          </a:p>
        </p:txBody>
      </p:sp>
      <p:sp>
        <p:nvSpPr>
          <p:cNvPr id="25" name="Slide Number Placeholder 0"/>
          <p:cNvSpPr>
            <a:spLocks noGrp="1"/>
          </p:cNvSpPr>
          <p:nvPr>
            <p:ph type="sldNum" sz="quarter" idx="4294967295"/>
          </p:nvPr>
        </p:nvSpPr>
        <p:spPr>
          <a:xfrm>
            <a:off x="1127455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36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731520" y="475488"/>
            <a:ext cx="10728655" cy="731520"/>
          </a:xfrm>
          <a:prstGeom prst="rect">
            <a:avLst/>
          </a:prstGeom>
          <a:noFill/>
          <a:ln/>
        </p:spPr>
        <p:txBody>
          <a:bodyPr wrap="square" lIns="0" tIns="0" rIns="0" bIns="0" rtlCol="0" anchor="ctr"/>
          <a:lstStyle/>
          <a:p>
            <a:pPr algn="ctr" indent="0" marL="0">
              <a:buNone/>
            </a:pPr>
            <a:r>
              <a:rPr lang="en-US" sz="3600" b="1" spc="-100" kern="0" dirty="0">
                <a:solidFill>
                  <a:schemeClr val="tx1"/>
                </a:solidFill>
              </a:rPr>
              <a:t>The next era arrived quickly</a:t>
            </a:r>
            <a:endParaRPr lang="en-US" sz="3600" dirty="0"/>
          </a:p>
        </p:txBody>
      </p:sp>
      <p:sp>
        <p:nvSpPr>
          <p:cNvPr id="3" name="Text 0"/>
          <p:cNvSpPr/>
          <p:nvPr>
            <p:ph idx="101" type="body" hasCustomPrompt="1"/>
          </p:nvPr>
        </p:nvSpPr>
        <p:spPr>
          <a:xfrm>
            <a:off x="1280160" y="1225296"/>
            <a:ext cx="9631375" cy="411480"/>
          </a:xfrm>
          <a:prstGeom prst="rect">
            <a:avLst/>
          </a:prstGeom>
          <a:noFill/>
          <a:ln/>
        </p:spPr>
        <p:txBody>
          <a:bodyPr wrap="square" lIns="0" tIns="0" rIns="0" bIns="0" rtlCol="0" anchor="t"/>
          <a:lstStyle/>
          <a:p>
            <a:pPr algn="ctr" indent="0" marL="0">
              <a:buNone/>
            </a:pPr>
            <a:r>
              <a:rPr lang="en-US" sz="1800" dirty="0">
                <a:solidFill>
                  <a:schemeClr val="tx2"/>
                </a:solidFill>
              </a:rPr>
              <a:t>Cruise speed: Lufthansa Super Star against the Boeing 707</a:t>
            </a:r>
            <a:endParaRPr lang="en-US" sz="1800" dirty="0"/>
          </a:p>
        </p:txBody>
      </p:sp>
      <p:sp>
        <p:nvSpPr>
          <p:cNvPr id="4" name="Text 0"/>
          <p:cNvSpPr/>
          <p:nvPr>
            <p:ph idx="102" type="body" hasCustomPrompt="1"/>
          </p:nvPr>
        </p:nvSpPr>
        <p:spPr>
          <a:xfrm>
            <a:off x="1280160" y="5413248"/>
            <a:ext cx="9631375" cy="457200"/>
          </a:xfrm>
          <a:prstGeom prst="rect">
            <a:avLst/>
          </a:prstGeom>
          <a:noFill/>
          <a:ln/>
        </p:spPr>
        <p:txBody>
          <a:bodyPr wrap="square" lIns="0" tIns="0" rIns="0" bIns="0" rtlCol="0" anchor="ctr"/>
          <a:lstStyle/>
          <a:p>
            <a:pPr algn="ctr" indent="0" marL="0">
              <a:buNone/>
            </a:pPr>
            <a:r>
              <a:rPr lang="en-US" sz="2000" dirty="0">
                <a:solidFill>
                  <a:schemeClr val="tx1"/>
                </a:solidFill>
              </a:rPr>
              <a:t>The last Connie's market window met a far faster jet</a:t>
            </a:r>
            <a:endParaRPr lang="en-US" sz="2000" dirty="0"/>
          </a:p>
        </p:txBody>
      </p:sp>
      <p:sp>
        <p:nvSpPr>
          <p:cNvPr id="5" name="Text 0"/>
          <p:cNvSpPr/>
          <p:nvPr>
            <p:ph idx="103" type="body" hasCustomPrompt="1"/>
          </p:nvPr>
        </p:nvSpPr>
        <p:spPr>
          <a:xfrm>
            <a:off x="1280160" y="5961888"/>
            <a:ext cx="9631375" cy="502920"/>
          </a:xfrm>
          <a:prstGeom prst="rect">
            <a:avLst/>
          </a:prstGeom>
          <a:noFill/>
          <a:ln/>
        </p:spPr>
        <p:txBody>
          <a:bodyPr wrap="square" lIns="0" tIns="0" rIns="0" bIns="0" rtlCol="0" anchor="t"/>
          <a:lstStyle/>
          <a:p>
            <a:pPr algn="ctr" indent="0" marL="0">
              <a:buNone/>
            </a:pPr>
            <a:r>
              <a:rPr lang="en-US" sz="1100" dirty="0">
                <a:solidFill>
                  <a:schemeClr val="tx2"/>
                </a:solidFill>
              </a:rPr>
              <a:t>Shared zero; the solid band shows the cruise range, with a thin line back to zero. Years are when Lufthansa introduced each type, not first flights.</a:t>
            </a:r>
            <a:endParaRPr lang="en-US" sz="1100" dirty="0"/>
          </a:p>
        </p:txBody>
      </p:sp>
      <p:sp>
        <p:nvSpPr>
          <p:cNvPr id="7" name="Text 306"/>
          <p:cNvSpPr txBox="1"/>
          <p:nvPr/>
        </p:nvSpPr>
        <p:spPr>
          <a:xfrm>
            <a:off x="822960" y="2121408"/>
            <a:ext cx="2011680" cy="274320"/>
          </a:xfrm>
          <a:prstGeom prst="rect">
            <a:avLst/>
          </a:prstGeom>
          <a:noFill/>
          <a:ln/>
        </p:spPr>
        <p:txBody>
          <a:bodyPr wrap="square" lIns="0" tIns="0" rIns="0" bIns="0" rtlCol="0" anchor="ctr"/>
          <a:lstStyle/>
          <a:p>
            <a:pPr algn="r" indent="0" marL="0">
              <a:buNone/>
            </a:pPr>
            <a:r>
              <a:rPr lang="en-US" sz="1100" b="1" spc="300" kern="0" dirty="0">
                <a:solidFill>
                  <a:schemeClr val="tx2"/>
                </a:solidFill>
              </a:rPr>
              <a:t>1957</a:t>
            </a:r>
            <a:endParaRPr lang="en-US" sz="1100" dirty="0"/>
          </a:p>
        </p:txBody>
      </p:sp>
      <p:sp>
        <p:nvSpPr>
          <p:cNvPr id="8" name="Text 307"/>
          <p:cNvSpPr txBox="1"/>
          <p:nvPr/>
        </p:nvSpPr>
        <p:spPr>
          <a:xfrm>
            <a:off x="822960" y="2395728"/>
            <a:ext cx="2011680" cy="411480"/>
          </a:xfrm>
          <a:prstGeom prst="rect">
            <a:avLst/>
          </a:prstGeom>
          <a:noFill/>
          <a:ln/>
        </p:spPr>
        <p:txBody>
          <a:bodyPr wrap="square" lIns="0" tIns="0" rIns="0" bIns="0" rtlCol="0" anchor="ctr"/>
          <a:lstStyle/>
          <a:p>
            <a:pPr algn="r" indent="0" marL="0">
              <a:buNone/>
            </a:pPr>
            <a:r>
              <a:rPr lang="en-US" sz="2200" b="1" dirty="0">
                <a:solidFill>
                  <a:schemeClr val="tx1"/>
                </a:solidFill>
              </a:rPr>
              <a:t>Super Star</a:t>
            </a:r>
            <a:endParaRPr lang="en-US" sz="2200" dirty="0"/>
          </a:p>
        </p:txBody>
      </p:sp>
      <p:sp>
        <p:nvSpPr>
          <p:cNvPr id="9" name="Shape 308"/>
          <p:cNvSpPr/>
          <p:nvPr/>
        </p:nvSpPr>
        <p:spPr>
          <a:xfrm>
            <a:off x="3108960" y="2560320"/>
            <a:ext cx="3413760" cy="36576"/>
          </a:xfrm>
          <a:prstGeom prst="rect">
            <a:avLst/>
          </a:prstGeom>
          <a:solidFill>
            <a:schemeClr val="accent2"/>
          </a:solidFill>
          <a:ln/>
        </p:spPr>
      </p:sp>
      <p:sp>
        <p:nvSpPr>
          <p:cNvPr id="10" name="Rounded 309"/>
          <p:cNvSpPr/>
          <p:nvPr/>
        </p:nvSpPr>
        <p:spPr>
          <a:xfrm>
            <a:off x="6522720" y="2377440"/>
            <a:ext cx="142240" cy="402336"/>
          </a:xfrm>
          <a:prstGeom prst="roundRect">
            <a:avLst>
              <a:gd name="adj" fmla="val 32143"/>
            </a:avLst>
          </a:prstGeom>
          <a:solidFill>
            <a:schemeClr val="accent1"/>
          </a:solidFill>
          <a:ln/>
        </p:spPr>
      </p:sp>
      <p:sp>
        <p:nvSpPr>
          <p:cNvPr id="11" name="Text 310"/>
          <p:cNvSpPr txBox="1"/>
          <p:nvPr/>
        </p:nvSpPr>
        <p:spPr>
          <a:xfrm>
            <a:off x="6893560" y="2331720"/>
            <a:ext cx="2194560" cy="493776"/>
          </a:xfrm>
          <a:prstGeom prst="rect">
            <a:avLst/>
          </a:prstGeom>
          <a:noFill/>
          <a:ln/>
        </p:spPr>
        <p:txBody>
          <a:bodyPr wrap="square" lIns="0" tIns="0" rIns="0" bIns="0" rtlCol="0" anchor="ctr"/>
          <a:lstStyle/>
          <a:p>
            <a:pPr indent="0" marL="0">
              <a:buNone/>
            </a:pPr>
            <a:r>
              <a:rPr lang="en-US" sz="1800" b="1" dirty="0">
                <a:solidFill>
                  <a:schemeClr val="tx1"/>
                </a:solidFill>
              </a:rPr>
              <a:t>480–500 km/h</a:t>
            </a:r>
            <a:endParaRPr lang="en-US" sz="1800" dirty="0"/>
          </a:p>
        </p:txBody>
      </p:sp>
      <p:sp>
        <p:nvSpPr>
          <p:cNvPr id="12" name="Text 311"/>
          <p:cNvSpPr txBox="1"/>
          <p:nvPr/>
        </p:nvSpPr>
        <p:spPr>
          <a:xfrm>
            <a:off x="822960" y="3493008"/>
            <a:ext cx="2011680" cy="274320"/>
          </a:xfrm>
          <a:prstGeom prst="rect">
            <a:avLst/>
          </a:prstGeom>
          <a:noFill/>
          <a:ln/>
        </p:spPr>
        <p:txBody>
          <a:bodyPr wrap="square" lIns="0" tIns="0" rIns="0" bIns="0" rtlCol="0" anchor="ctr"/>
          <a:lstStyle/>
          <a:p>
            <a:pPr algn="r" indent="0" marL="0">
              <a:buNone/>
            </a:pPr>
            <a:r>
              <a:rPr lang="en-US" sz="1100" b="1" spc="300" kern="0" dirty="0">
                <a:solidFill>
                  <a:schemeClr val="tx2"/>
                </a:solidFill>
              </a:rPr>
              <a:t>1960</a:t>
            </a:r>
            <a:endParaRPr lang="en-US" sz="1100" dirty="0"/>
          </a:p>
        </p:txBody>
      </p:sp>
      <p:sp>
        <p:nvSpPr>
          <p:cNvPr id="13" name="Text 312"/>
          <p:cNvSpPr txBox="1"/>
          <p:nvPr/>
        </p:nvSpPr>
        <p:spPr>
          <a:xfrm>
            <a:off x="822960" y="3767328"/>
            <a:ext cx="2011680" cy="411480"/>
          </a:xfrm>
          <a:prstGeom prst="rect">
            <a:avLst/>
          </a:prstGeom>
          <a:noFill/>
          <a:ln/>
        </p:spPr>
        <p:txBody>
          <a:bodyPr wrap="square" lIns="0" tIns="0" rIns="0" bIns="0" rtlCol="0" anchor="ctr"/>
          <a:lstStyle/>
          <a:p>
            <a:pPr algn="r" indent="0" marL="0">
              <a:buNone/>
            </a:pPr>
            <a:r>
              <a:rPr lang="en-US" sz="2200" b="1" dirty="0">
                <a:solidFill>
                  <a:schemeClr val="tx1"/>
                </a:solidFill>
              </a:rPr>
              <a:t>Boeing 707</a:t>
            </a:r>
            <a:endParaRPr lang="en-US" sz="2200" dirty="0"/>
          </a:p>
        </p:txBody>
      </p:sp>
      <p:sp>
        <p:nvSpPr>
          <p:cNvPr id="14" name="Shape 313"/>
          <p:cNvSpPr/>
          <p:nvPr/>
        </p:nvSpPr>
        <p:spPr>
          <a:xfrm>
            <a:off x="3108960" y="3931920"/>
            <a:ext cx="6258560" cy="36576"/>
          </a:xfrm>
          <a:prstGeom prst="rect">
            <a:avLst/>
          </a:prstGeom>
          <a:solidFill>
            <a:schemeClr val="accent2"/>
          </a:solidFill>
          <a:ln/>
        </p:spPr>
      </p:sp>
      <p:sp>
        <p:nvSpPr>
          <p:cNvPr id="15" name="Rounded 314"/>
          <p:cNvSpPr/>
          <p:nvPr/>
        </p:nvSpPr>
        <p:spPr>
          <a:xfrm>
            <a:off x="9367520" y="3749040"/>
            <a:ext cx="142240" cy="402336"/>
          </a:xfrm>
          <a:prstGeom prst="roundRect">
            <a:avLst>
              <a:gd name="adj" fmla="val 32143"/>
            </a:avLst>
          </a:prstGeom>
          <a:solidFill>
            <a:schemeClr val="accent5"/>
          </a:solidFill>
          <a:ln/>
        </p:spPr>
      </p:sp>
      <p:sp>
        <p:nvSpPr>
          <p:cNvPr id="16" name="Text 315"/>
          <p:cNvSpPr txBox="1"/>
          <p:nvPr/>
        </p:nvSpPr>
        <p:spPr>
          <a:xfrm>
            <a:off x="9738360" y="3703320"/>
            <a:ext cx="2194560" cy="493776"/>
          </a:xfrm>
          <a:prstGeom prst="rect">
            <a:avLst/>
          </a:prstGeom>
          <a:noFill/>
          <a:ln/>
        </p:spPr>
        <p:txBody>
          <a:bodyPr wrap="square" lIns="0" tIns="0" rIns="0" bIns="0" rtlCol="0" anchor="ctr"/>
          <a:lstStyle/>
          <a:p>
            <a:pPr indent="0" marL="0">
              <a:buNone/>
            </a:pPr>
            <a:r>
              <a:rPr lang="en-US" sz="1800" b="1" dirty="0">
                <a:solidFill>
                  <a:schemeClr val="tx1"/>
                </a:solidFill>
              </a:rPr>
              <a:t>880–900 km/h</a:t>
            </a:r>
            <a:endParaRPr lang="en-US" sz="1800" dirty="0"/>
          </a:p>
        </p:txBody>
      </p:sp>
      <p:sp>
        <p:nvSpPr>
          <p:cNvPr id="17" name="Line 316"/>
          <p:cNvSpPr/>
          <p:nvPr/>
        </p:nvSpPr>
        <p:spPr>
          <a:xfrm>
            <a:off x="3108960" y="4800600"/>
            <a:ext cx="6400800" cy="0"/>
          </a:xfrm>
          <a:prstGeom prst="line">
            <a:avLst/>
          </a:prstGeom>
          <a:noFill/>
          <a:ln w="9525">
            <a:solidFill>
              <a:schemeClr val="accent2"/>
            </a:solidFill>
            <a:prstDash val="solid"/>
          </a:ln>
        </p:spPr>
      </p:sp>
      <p:sp>
        <p:nvSpPr>
          <p:cNvPr id="18" name="Line 317"/>
          <p:cNvSpPr/>
          <p:nvPr/>
        </p:nvSpPr>
        <p:spPr>
          <a:xfrm>
            <a:off x="3108960" y="4745736"/>
            <a:ext cx="0" cy="109728"/>
          </a:xfrm>
          <a:prstGeom prst="line">
            <a:avLst/>
          </a:prstGeom>
          <a:noFill/>
          <a:ln w="9525">
            <a:solidFill>
              <a:schemeClr val="accent2"/>
            </a:solidFill>
            <a:prstDash val="solid"/>
          </a:ln>
        </p:spPr>
      </p:sp>
      <p:sp>
        <p:nvSpPr>
          <p:cNvPr id="19" name="Text 318"/>
          <p:cNvSpPr txBox="1"/>
          <p:nvPr/>
        </p:nvSpPr>
        <p:spPr>
          <a:xfrm>
            <a:off x="2651760" y="4910328"/>
            <a:ext cx="914400" cy="274320"/>
          </a:xfrm>
          <a:prstGeom prst="rect">
            <a:avLst/>
          </a:prstGeom>
          <a:noFill/>
          <a:ln/>
        </p:spPr>
        <p:txBody>
          <a:bodyPr wrap="square" lIns="0" tIns="0" rIns="0" bIns="0" rtlCol="0" anchor="ctr"/>
          <a:lstStyle/>
          <a:p>
            <a:pPr algn="ctr" indent="0" marL="0">
              <a:buNone/>
            </a:pPr>
            <a:r>
              <a:rPr lang="en-US" sz="1200" dirty="0">
                <a:solidFill>
                  <a:schemeClr val="tx2"/>
                </a:solidFill>
              </a:rPr>
              <a:t>0</a:t>
            </a:r>
            <a:endParaRPr lang="en-US" sz="1200" dirty="0"/>
          </a:p>
        </p:txBody>
      </p:sp>
      <p:sp>
        <p:nvSpPr>
          <p:cNvPr id="20" name="Line 319"/>
          <p:cNvSpPr/>
          <p:nvPr/>
        </p:nvSpPr>
        <p:spPr>
          <a:xfrm>
            <a:off x="5242560" y="4745736"/>
            <a:ext cx="0" cy="109728"/>
          </a:xfrm>
          <a:prstGeom prst="line">
            <a:avLst/>
          </a:prstGeom>
          <a:noFill/>
          <a:ln w="9525">
            <a:solidFill>
              <a:schemeClr val="accent2"/>
            </a:solidFill>
            <a:prstDash val="solid"/>
          </a:ln>
        </p:spPr>
      </p:sp>
      <p:sp>
        <p:nvSpPr>
          <p:cNvPr id="21" name="Text 320"/>
          <p:cNvSpPr txBox="1"/>
          <p:nvPr/>
        </p:nvSpPr>
        <p:spPr>
          <a:xfrm>
            <a:off x="4785360" y="4910328"/>
            <a:ext cx="914400" cy="274320"/>
          </a:xfrm>
          <a:prstGeom prst="rect">
            <a:avLst/>
          </a:prstGeom>
          <a:noFill/>
          <a:ln/>
        </p:spPr>
        <p:txBody>
          <a:bodyPr wrap="square" lIns="0" tIns="0" rIns="0" bIns="0" rtlCol="0" anchor="ctr"/>
          <a:lstStyle/>
          <a:p>
            <a:pPr algn="ctr" indent="0" marL="0">
              <a:buNone/>
            </a:pPr>
            <a:r>
              <a:rPr lang="en-US" sz="1200" dirty="0">
                <a:solidFill>
                  <a:schemeClr val="tx2"/>
                </a:solidFill>
              </a:rPr>
              <a:t>300</a:t>
            </a:r>
            <a:endParaRPr lang="en-US" sz="1200" dirty="0"/>
          </a:p>
        </p:txBody>
      </p:sp>
      <p:sp>
        <p:nvSpPr>
          <p:cNvPr id="22" name="Line 321"/>
          <p:cNvSpPr/>
          <p:nvPr/>
        </p:nvSpPr>
        <p:spPr>
          <a:xfrm>
            <a:off x="7376160" y="4745736"/>
            <a:ext cx="0" cy="109728"/>
          </a:xfrm>
          <a:prstGeom prst="line">
            <a:avLst/>
          </a:prstGeom>
          <a:noFill/>
          <a:ln w="9525">
            <a:solidFill>
              <a:schemeClr val="accent2"/>
            </a:solidFill>
            <a:prstDash val="solid"/>
          </a:ln>
        </p:spPr>
      </p:sp>
      <p:sp>
        <p:nvSpPr>
          <p:cNvPr id="23" name="Text 322"/>
          <p:cNvSpPr txBox="1"/>
          <p:nvPr/>
        </p:nvSpPr>
        <p:spPr>
          <a:xfrm>
            <a:off x="6918960" y="4910328"/>
            <a:ext cx="914400" cy="274320"/>
          </a:xfrm>
          <a:prstGeom prst="rect">
            <a:avLst/>
          </a:prstGeom>
          <a:noFill/>
          <a:ln/>
        </p:spPr>
        <p:txBody>
          <a:bodyPr wrap="square" lIns="0" tIns="0" rIns="0" bIns="0" rtlCol="0" anchor="ctr"/>
          <a:lstStyle/>
          <a:p>
            <a:pPr algn="ctr" indent="0" marL="0">
              <a:buNone/>
            </a:pPr>
            <a:r>
              <a:rPr lang="en-US" sz="1200" dirty="0">
                <a:solidFill>
                  <a:schemeClr val="tx2"/>
                </a:solidFill>
              </a:rPr>
              <a:t>600</a:t>
            </a:r>
            <a:endParaRPr lang="en-US" sz="1200" dirty="0"/>
          </a:p>
        </p:txBody>
      </p:sp>
      <p:sp>
        <p:nvSpPr>
          <p:cNvPr id="24" name="Line 323"/>
          <p:cNvSpPr/>
          <p:nvPr/>
        </p:nvSpPr>
        <p:spPr>
          <a:xfrm>
            <a:off x="9509760" y="4745736"/>
            <a:ext cx="0" cy="109728"/>
          </a:xfrm>
          <a:prstGeom prst="line">
            <a:avLst/>
          </a:prstGeom>
          <a:noFill/>
          <a:ln w="9525">
            <a:solidFill>
              <a:schemeClr val="accent2"/>
            </a:solidFill>
            <a:prstDash val="solid"/>
          </a:ln>
        </p:spPr>
      </p:sp>
      <p:sp>
        <p:nvSpPr>
          <p:cNvPr id="25" name="Text 324"/>
          <p:cNvSpPr txBox="1"/>
          <p:nvPr/>
        </p:nvSpPr>
        <p:spPr>
          <a:xfrm>
            <a:off x="9052560" y="4910328"/>
            <a:ext cx="914400" cy="274320"/>
          </a:xfrm>
          <a:prstGeom prst="rect">
            <a:avLst/>
          </a:prstGeom>
          <a:noFill/>
          <a:ln/>
        </p:spPr>
        <p:txBody>
          <a:bodyPr wrap="square" lIns="0" tIns="0" rIns="0" bIns="0" rtlCol="0" anchor="ctr"/>
          <a:lstStyle/>
          <a:p>
            <a:pPr algn="ctr" indent="0" marL="0">
              <a:buNone/>
            </a:pPr>
            <a:r>
              <a:rPr lang="en-US" sz="1200" dirty="0">
                <a:solidFill>
                  <a:schemeClr val="tx2"/>
                </a:solidFill>
              </a:rPr>
              <a:t>900</a:t>
            </a:r>
            <a:endParaRPr lang="en-US" sz="1200" dirty="0"/>
          </a:p>
        </p:txBody>
      </p:sp>
      <p:sp>
        <p:nvSpPr>
          <p:cNvPr id="26" name="Text 325"/>
          <p:cNvSpPr txBox="1"/>
          <p:nvPr/>
        </p:nvSpPr>
        <p:spPr>
          <a:xfrm>
            <a:off x="9784080" y="4910328"/>
            <a:ext cx="914400" cy="274320"/>
          </a:xfrm>
          <a:prstGeom prst="rect">
            <a:avLst/>
          </a:prstGeom>
          <a:noFill/>
          <a:ln/>
        </p:spPr>
        <p:txBody>
          <a:bodyPr wrap="square" lIns="0" tIns="0" rIns="0" bIns="0" rtlCol="0" anchor="ctr"/>
          <a:lstStyle/>
          <a:p>
            <a:pPr indent="0" marL="0">
              <a:buNone/>
            </a:pPr>
            <a:r>
              <a:rPr lang="en-US" sz="1200" dirty="0">
                <a:solidFill>
                  <a:schemeClr val="tx2"/>
                </a:solidFill>
              </a:rPr>
              <a:t>km/h</a:t>
            </a:r>
            <a:endParaRPr lang="en-US" sz="1200" dirty="0"/>
          </a:p>
        </p:txBody>
      </p:sp>
      <p:sp>
        <p:nvSpPr>
          <p:cNvPr id="25" name="Slide Number Placeholder 0"/>
          <p:cNvSpPr>
            <a:spLocks noGrp="1"/>
          </p:cNvSpPr>
          <p:nvPr>
            <p:ph type="sldNum" sz="quarter" idx="4294967295"/>
          </p:nvPr>
        </p:nvSpPr>
        <p:spPr>
          <a:xfrm>
            <a:off x="1127455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36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731520" y="475488"/>
            <a:ext cx="10728655" cy="731520"/>
          </a:xfrm>
          <a:prstGeom prst="rect">
            <a:avLst/>
          </a:prstGeom>
          <a:noFill/>
          <a:ln/>
        </p:spPr>
        <p:txBody>
          <a:bodyPr wrap="square" lIns="0" tIns="0" rIns="0" bIns="0" rtlCol="0" anchor="ctr"/>
          <a:lstStyle/>
          <a:p>
            <a:pPr algn="ctr" indent="0" marL="0">
              <a:buNone/>
            </a:pPr>
            <a:r>
              <a:rPr lang="en-US" sz="3600" b="1" spc="-100" kern="0" dirty="0">
                <a:solidFill>
                  <a:schemeClr val="tx1"/>
                </a:solidFill>
              </a:rPr>
              <a:t>€150 million: the real cost of preserving a legend</a:t>
            </a:r>
            <a:endParaRPr lang="en-US" sz="3600" dirty="0"/>
          </a:p>
        </p:txBody>
      </p:sp>
      <p:sp>
        <p:nvSpPr>
          <p:cNvPr id="3" name="Text 0"/>
          <p:cNvSpPr/>
          <p:nvPr>
            <p:ph idx="101" type="body" hasCustomPrompt="1"/>
          </p:nvPr>
        </p:nvSpPr>
        <p:spPr>
          <a:xfrm>
            <a:off x="1280160" y="1225296"/>
            <a:ext cx="9631375" cy="411480"/>
          </a:xfrm>
          <a:prstGeom prst="rect">
            <a:avLst/>
          </a:prstGeom>
          <a:noFill/>
          <a:ln/>
        </p:spPr>
        <p:txBody>
          <a:bodyPr wrap="square" lIns="0" tIns="0" rIns="0" bIns="0" rtlCol="0" anchor="t"/>
          <a:lstStyle/>
          <a:p>
            <a:pPr algn="ctr" indent="0" marL="0">
              <a:buNone/>
            </a:pPr>
            <a:r>
              <a:rPr lang="en-US" sz="1800" dirty="0">
                <a:solidFill>
                  <a:schemeClr val="tx2"/>
                </a:solidFill>
              </a:rPr>
              <a:t>L-1649A Super Star restoration project</a:t>
            </a:r>
            <a:endParaRPr lang="en-US" sz="1800" dirty="0"/>
          </a:p>
        </p:txBody>
      </p:sp>
      <p:sp>
        <p:nvSpPr>
          <p:cNvPr id="4" name="Text 0"/>
          <p:cNvSpPr/>
          <p:nvPr>
            <p:ph idx="102" type="body" hasCustomPrompt="1"/>
          </p:nvPr>
        </p:nvSpPr>
        <p:spPr>
          <a:xfrm>
            <a:off x="1280160" y="5413248"/>
            <a:ext cx="9631375" cy="457200"/>
          </a:xfrm>
          <a:prstGeom prst="rect">
            <a:avLst/>
          </a:prstGeom>
          <a:noFill/>
          <a:ln/>
        </p:spPr>
        <p:txBody>
          <a:bodyPr wrap="square" lIns="0" tIns="0" rIns="0" bIns="0" rtlCol="0" anchor="ctr"/>
          <a:lstStyle/>
          <a:p>
            <a:pPr algn="ctr" indent="0" marL="0">
              <a:buNone/>
            </a:pPr>
            <a:r>
              <a:rPr lang="en-US" sz="2000" dirty="0">
                <a:solidFill>
                  <a:schemeClr val="tx1"/>
                </a:solidFill>
              </a:rPr>
              <a:t>The goal shifted from returning to the sky to preservation and display</a:t>
            </a:r>
            <a:endParaRPr lang="en-US" sz="2000" dirty="0"/>
          </a:p>
        </p:txBody>
      </p:sp>
      <p:sp>
        <p:nvSpPr>
          <p:cNvPr id="5" name="Text 0"/>
          <p:cNvSpPr/>
          <p:nvPr>
            <p:ph idx="103" type="body" hasCustomPrompt="1"/>
          </p:nvPr>
        </p:nvSpPr>
        <p:spPr>
          <a:xfrm>
            <a:off x="1280160" y="5961888"/>
            <a:ext cx="9631375" cy="502920"/>
          </a:xfrm>
          <a:prstGeom prst="rect">
            <a:avLst/>
          </a:prstGeom>
          <a:noFill/>
          <a:ln/>
        </p:spPr>
        <p:txBody>
          <a:bodyPr wrap="square" lIns="0" tIns="0" rIns="0" bIns="0" rtlCol="0" anchor="t"/>
          <a:lstStyle/>
          <a:p>
            <a:pPr algn="ctr" indent="0" marL="0">
              <a:buNone/>
            </a:pPr>
            <a:r>
              <a:rPr lang="en-US" sz="1100" dirty="0">
                <a:solidFill>
                  <a:schemeClr val="tx2"/>
                </a:solidFill>
              </a:rPr>
              <a:t>Sequence of events, not to scale. €150m includes external donations and sponsorship; it is not the aircraft's market value or total spend through 2025.</a:t>
            </a:r>
            <a:endParaRPr lang="en-US" sz="1100" dirty="0"/>
          </a:p>
        </p:txBody>
      </p:sp>
      <p:sp>
        <p:nvSpPr>
          <p:cNvPr id="7" name="Text 326"/>
          <p:cNvSpPr txBox="1"/>
          <p:nvPr/>
        </p:nvSpPr>
        <p:spPr>
          <a:xfrm>
            <a:off x="1280160" y="1783080"/>
            <a:ext cx="9631375" cy="914400"/>
          </a:xfrm>
          <a:prstGeom prst="rect">
            <a:avLst/>
          </a:prstGeom>
          <a:noFill/>
          <a:ln/>
        </p:spPr>
        <p:txBody>
          <a:bodyPr wrap="square" lIns="0" tIns="0" rIns="0" bIns="0" rtlCol="0" anchor="ctr"/>
          <a:lstStyle/>
          <a:p>
            <a:pPr algn="ctr" indent="0" marL="0">
              <a:buNone/>
            </a:pPr>
            <a:r>
              <a:rPr lang="en-US" sz="6000" b="1" spc="-250" kern="0" dirty="0">
                <a:solidFill>
                  <a:schemeClr val="tx1"/>
                </a:solidFill>
              </a:rPr>
              <a:t>€150 million</a:t>
            </a:r>
            <a:endParaRPr lang="en-US" sz="6000" dirty="0"/>
          </a:p>
        </p:txBody>
      </p:sp>
      <p:sp>
        <p:nvSpPr>
          <p:cNvPr id="8" name="Text 327"/>
          <p:cNvSpPr txBox="1"/>
          <p:nvPr/>
        </p:nvSpPr>
        <p:spPr>
          <a:xfrm>
            <a:off x="1280160" y="2697480"/>
            <a:ext cx="9631375" cy="320040"/>
          </a:xfrm>
          <a:prstGeom prst="rect">
            <a:avLst/>
          </a:prstGeom>
          <a:noFill/>
          <a:ln/>
        </p:spPr>
        <p:txBody>
          <a:bodyPr wrap="square" lIns="0" tIns="0" rIns="0" bIns="0" rtlCol="0" anchor="ctr"/>
          <a:lstStyle/>
          <a:p>
            <a:pPr algn="ctr" indent="0" marL="0">
              <a:buNone/>
            </a:pPr>
            <a:r>
              <a:rPr lang="en-US" sz="1600" dirty="0">
                <a:solidFill>
                  <a:schemeClr val="tx2"/>
                </a:solidFill>
              </a:rPr>
              <a:t>Total project cost, 2007–2019</a:t>
            </a:r>
            <a:endParaRPr lang="en-US" sz="1600" dirty="0"/>
          </a:p>
        </p:txBody>
      </p:sp>
      <p:sp>
        <p:nvSpPr>
          <p:cNvPr id="9" name="Line 328"/>
          <p:cNvSpPr/>
          <p:nvPr/>
        </p:nvSpPr>
        <p:spPr>
          <a:xfrm>
            <a:off x="1737360" y="4160520"/>
            <a:ext cx="8714232" cy="0"/>
          </a:xfrm>
          <a:prstGeom prst="line">
            <a:avLst/>
          </a:prstGeom>
          <a:noFill/>
          <a:ln w="12700">
            <a:solidFill>
              <a:schemeClr val="accent2"/>
            </a:solidFill>
            <a:prstDash val="solid"/>
          </a:ln>
        </p:spPr>
      </p:sp>
      <p:sp>
        <p:nvSpPr>
          <p:cNvPr id="10" name="Circle 329"/>
          <p:cNvSpPr/>
          <p:nvPr/>
        </p:nvSpPr>
        <p:spPr>
          <a:xfrm>
            <a:off x="1645920" y="4069080"/>
            <a:ext cx="182880" cy="182880"/>
          </a:xfrm>
          <a:prstGeom prst="ellipse">
            <a:avLst/>
          </a:prstGeom>
          <a:solidFill>
            <a:schemeClr val="accent5"/>
          </a:solidFill>
          <a:ln/>
        </p:spPr>
      </p:sp>
      <p:sp>
        <p:nvSpPr>
          <p:cNvPr id="11" name="Text 330"/>
          <p:cNvSpPr txBox="1"/>
          <p:nvPr/>
        </p:nvSpPr>
        <p:spPr>
          <a:xfrm>
            <a:off x="548640" y="3520440"/>
            <a:ext cx="2377440" cy="411480"/>
          </a:xfrm>
          <a:prstGeom prst="rect">
            <a:avLst/>
          </a:prstGeom>
          <a:noFill/>
          <a:ln/>
        </p:spPr>
        <p:txBody>
          <a:bodyPr wrap="square" lIns="0" tIns="0" rIns="0" bIns="0" rtlCol="0" anchor="ctr"/>
          <a:lstStyle/>
          <a:p>
            <a:pPr algn="ctr" indent="0" marL="0">
              <a:buNone/>
            </a:pPr>
            <a:r>
              <a:rPr lang="en-US" sz="2200" b="1" spc="-50" kern="0" dirty="0">
                <a:solidFill>
                  <a:schemeClr val="tx1"/>
                </a:solidFill>
              </a:rPr>
              <a:t>2007</a:t>
            </a:r>
            <a:endParaRPr lang="en-US" sz="2200" dirty="0"/>
          </a:p>
        </p:txBody>
      </p:sp>
      <p:sp>
        <p:nvSpPr>
          <p:cNvPr id="12" name="Text 331"/>
          <p:cNvSpPr txBox="1"/>
          <p:nvPr/>
        </p:nvSpPr>
        <p:spPr>
          <a:xfrm>
            <a:off x="548640" y="4389120"/>
            <a:ext cx="2377440" cy="548640"/>
          </a:xfrm>
          <a:prstGeom prst="rect">
            <a:avLst/>
          </a:prstGeom>
          <a:noFill/>
          <a:ln/>
        </p:spPr>
        <p:txBody>
          <a:bodyPr wrap="square" lIns="0" tIns="0" rIns="0" bIns="0" rtlCol="0" anchor="t"/>
          <a:lstStyle/>
          <a:p>
            <a:pPr algn="ctr" indent="0" marL="0">
              <a:lnSpc>
                <a:spcPct val="110000"/>
              </a:lnSpc>
              <a:buNone/>
            </a:pPr>
            <a:r>
              <a:rPr lang="en-US" sz="1400" dirty="0">
                <a:solidFill>
                  <a:schemeClr val="tx2"/>
                </a:solidFill>
              </a:rPr>
              <a:t>Airframe purchased</a:t>
            </a:r>
            <a:endParaRPr lang="en-US" sz="1400" dirty="0"/>
          </a:p>
        </p:txBody>
      </p:sp>
      <p:sp>
        <p:nvSpPr>
          <p:cNvPr id="13" name="Circle 332"/>
          <p:cNvSpPr/>
          <p:nvPr/>
        </p:nvSpPr>
        <p:spPr>
          <a:xfrm>
            <a:off x="4550664" y="4069080"/>
            <a:ext cx="182880" cy="182880"/>
          </a:xfrm>
          <a:prstGeom prst="ellipse">
            <a:avLst/>
          </a:prstGeom>
          <a:solidFill>
            <a:schemeClr val="accent5"/>
          </a:solidFill>
          <a:ln/>
        </p:spPr>
      </p:sp>
      <p:sp>
        <p:nvSpPr>
          <p:cNvPr id="14" name="Text 333"/>
          <p:cNvSpPr txBox="1"/>
          <p:nvPr/>
        </p:nvSpPr>
        <p:spPr>
          <a:xfrm>
            <a:off x="3453384" y="3520440"/>
            <a:ext cx="2377440" cy="411480"/>
          </a:xfrm>
          <a:prstGeom prst="rect">
            <a:avLst/>
          </a:prstGeom>
          <a:noFill/>
          <a:ln/>
        </p:spPr>
        <p:txBody>
          <a:bodyPr wrap="square" lIns="0" tIns="0" rIns="0" bIns="0" rtlCol="0" anchor="ctr"/>
          <a:lstStyle/>
          <a:p>
            <a:pPr algn="ctr" indent="0" marL="0">
              <a:buNone/>
            </a:pPr>
            <a:r>
              <a:rPr lang="en-US" sz="2200" b="1" spc="-50" kern="0" dirty="0">
                <a:solidFill>
                  <a:schemeClr val="tx1"/>
                </a:solidFill>
              </a:rPr>
              <a:t>2018</a:t>
            </a:r>
            <a:endParaRPr lang="en-US" sz="2200" dirty="0"/>
          </a:p>
        </p:txBody>
      </p:sp>
      <p:sp>
        <p:nvSpPr>
          <p:cNvPr id="15" name="Text 334"/>
          <p:cNvSpPr txBox="1"/>
          <p:nvPr/>
        </p:nvSpPr>
        <p:spPr>
          <a:xfrm>
            <a:off x="3453384" y="4389120"/>
            <a:ext cx="2377440" cy="548640"/>
          </a:xfrm>
          <a:prstGeom prst="rect">
            <a:avLst/>
          </a:prstGeom>
          <a:noFill/>
          <a:ln/>
        </p:spPr>
        <p:txBody>
          <a:bodyPr wrap="square" lIns="0" tIns="0" rIns="0" bIns="0" rtlCol="0" anchor="t"/>
          <a:lstStyle/>
          <a:p>
            <a:pPr algn="ctr" indent="0" marL="0">
              <a:lnSpc>
                <a:spcPct val="110000"/>
              </a:lnSpc>
              <a:buNone/>
            </a:pPr>
            <a:r>
              <a:rPr lang="en-US" sz="1400" dirty="0">
                <a:solidFill>
                  <a:schemeClr val="tx2"/>
                </a:solidFill>
              </a:rPr>
              <a:t>Return-to-flight plan halted</a:t>
            </a:r>
            <a:endParaRPr lang="en-US" sz="1400" dirty="0"/>
          </a:p>
        </p:txBody>
      </p:sp>
      <p:sp>
        <p:nvSpPr>
          <p:cNvPr id="16" name="Circle 335"/>
          <p:cNvSpPr/>
          <p:nvPr/>
        </p:nvSpPr>
        <p:spPr>
          <a:xfrm>
            <a:off x="7455408" y="4069080"/>
            <a:ext cx="182880" cy="182880"/>
          </a:xfrm>
          <a:prstGeom prst="ellipse">
            <a:avLst/>
          </a:prstGeom>
          <a:solidFill>
            <a:schemeClr val="accent5"/>
          </a:solidFill>
          <a:ln/>
        </p:spPr>
      </p:sp>
      <p:sp>
        <p:nvSpPr>
          <p:cNvPr id="17" name="Text 336"/>
          <p:cNvSpPr txBox="1"/>
          <p:nvPr/>
        </p:nvSpPr>
        <p:spPr>
          <a:xfrm>
            <a:off x="6358128" y="3520440"/>
            <a:ext cx="2377440" cy="411480"/>
          </a:xfrm>
          <a:prstGeom prst="rect">
            <a:avLst/>
          </a:prstGeom>
          <a:noFill/>
          <a:ln/>
        </p:spPr>
        <p:txBody>
          <a:bodyPr wrap="square" lIns="0" tIns="0" rIns="0" bIns="0" rtlCol="0" anchor="ctr"/>
          <a:lstStyle/>
          <a:p>
            <a:pPr algn="ctr" indent="0" marL="0">
              <a:buNone/>
            </a:pPr>
            <a:r>
              <a:rPr lang="en-US" sz="2200" b="1" spc="-50" kern="0" dirty="0">
                <a:solidFill>
                  <a:schemeClr val="tx1"/>
                </a:solidFill>
              </a:rPr>
              <a:t>2019</a:t>
            </a:r>
            <a:endParaRPr lang="en-US" sz="2200" dirty="0"/>
          </a:p>
        </p:txBody>
      </p:sp>
      <p:sp>
        <p:nvSpPr>
          <p:cNvPr id="18" name="Text 337"/>
          <p:cNvSpPr txBox="1"/>
          <p:nvPr/>
        </p:nvSpPr>
        <p:spPr>
          <a:xfrm>
            <a:off x="6358128" y="4389120"/>
            <a:ext cx="2377440" cy="548640"/>
          </a:xfrm>
          <a:prstGeom prst="rect">
            <a:avLst/>
          </a:prstGeom>
          <a:noFill/>
          <a:ln/>
        </p:spPr>
        <p:txBody>
          <a:bodyPr wrap="square" lIns="0" tIns="0" rIns="0" bIns="0" rtlCol="0" anchor="t"/>
          <a:lstStyle/>
          <a:p>
            <a:pPr algn="ctr" indent="0" marL="0">
              <a:lnSpc>
                <a:spcPct val="110000"/>
              </a:lnSpc>
              <a:buNone/>
            </a:pPr>
            <a:r>
              <a:rPr lang="en-US" sz="1400" dirty="0">
                <a:solidFill>
                  <a:schemeClr val="tx2"/>
                </a:solidFill>
              </a:rPr>
              <a:t>Shipped back to Germany</a:t>
            </a:r>
            <a:endParaRPr lang="en-US" sz="1400" dirty="0"/>
          </a:p>
        </p:txBody>
      </p:sp>
      <p:sp>
        <p:nvSpPr>
          <p:cNvPr id="19" name="Circle 338"/>
          <p:cNvSpPr/>
          <p:nvPr/>
        </p:nvSpPr>
        <p:spPr>
          <a:xfrm>
            <a:off x="10360152" y="4069080"/>
            <a:ext cx="182880" cy="182880"/>
          </a:xfrm>
          <a:prstGeom prst="ellipse">
            <a:avLst/>
          </a:prstGeom>
          <a:solidFill>
            <a:schemeClr val="accent1"/>
          </a:solidFill>
          <a:ln/>
        </p:spPr>
      </p:sp>
      <p:sp>
        <p:nvSpPr>
          <p:cNvPr id="20" name="Text 339"/>
          <p:cNvSpPr txBox="1"/>
          <p:nvPr/>
        </p:nvSpPr>
        <p:spPr>
          <a:xfrm>
            <a:off x="9262872" y="3520440"/>
            <a:ext cx="2377440" cy="411480"/>
          </a:xfrm>
          <a:prstGeom prst="rect">
            <a:avLst/>
          </a:prstGeom>
          <a:noFill/>
          <a:ln/>
        </p:spPr>
        <p:txBody>
          <a:bodyPr wrap="square" lIns="0" tIns="0" rIns="0" bIns="0" rtlCol="0" anchor="ctr"/>
          <a:lstStyle/>
          <a:p>
            <a:pPr algn="ctr" indent="0" marL="0">
              <a:buNone/>
            </a:pPr>
            <a:r>
              <a:rPr lang="en-US" sz="2200" b="1" spc="-50" kern="0" dirty="0">
                <a:solidFill>
                  <a:schemeClr val="tx1"/>
                </a:solidFill>
              </a:rPr>
              <a:t>2025</a:t>
            </a:r>
            <a:endParaRPr lang="en-US" sz="2200" dirty="0"/>
          </a:p>
        </p:txBody>
      </p:sp>
      <p:sp>
        <p:nvSpPr>
          <p:cNvPr id="21" name="Text 340"/>
          <p:cNvSpPr txBox="1"/>
          <p:nvPr/>
        </p:nvSpPr>
        <p:spPr>
          <a:xfrm>
            <a:off x="9262872" y="4389120"/>
            <a:ext cx="2377440" cy="548640"/>
          </a:xfrm>
          <a:prstGeom prst="rect">
            <a:avLst/>
          </a:prstGeom>
          <a:noFill/>
          <a:ln/>
        </p:spPr>
        <p:txBody>
          <a:bodyPr wrap="square" lIns="0" tIns="0" rIns="0" bIns="0" rtlCol="0" anchor="t"/>
          <a:lstStyle/>
          <a:p>
            <a:pPr algn="ctr" indent="0" marL="0">
              <a:lnSpc>
                <a:spcPct val="110000"/>
              </a:lnSpc>
              <a:buNone/>
            </a:pPr>
            <a:r>
              <a:rPr lang="en-US" sz="1400" dirty="0">
                <a:solidFill>
                  <a:schemeClr val="tx2"/>
                </a:solidFill>
              </a:rPr>
              <a:t>Non-airworthy restoration completed</a:t>
            </a:r>
            <a:endParaRPr lang="en-US" sz="1400" dirty="0"/>
          </a:p>
        </p:txBody>
      </p:sp>
      <p:sp>
        <p:nvSpPr>
          <p:cNvPr id="25" name="Slide Number Placeholder 0"/>
          <p:cNvSpPr>
            <a:spLocks noGrp="1"/>
          </p:cNvSpPr>
          <p:nvPr>
            <p:ph type="sldNum" sz="quarter" idx="4294967295"/>
          </p:nvPr>
        </p:nvSpPr>
        <p:spPr>
          <a:xfrm>
            <a:off x="1127455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36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341"/>
          <p:cNvSpPr txBox="1"/>
          <p:nvPr/>
        </p:nvSpPr>
        <p:spPr>
          <a:xfrm>
            <a:off x="731520" y="822960"/>
            <a:ext cx="10728655" cy="822960"/>
          </a:xfrm>
          <a:prstGeom prst="rect">
            <a:avLst/>
          </a:prstGeom>
          <a:noFill/>
          <a:ln/>
        </p:spPr>
        <p:txBody>
          <a:bodyPr wrap="square" lIns="0" tIns="0" rIns="0" bIns="0" rtlCol="0" anchor="ctr"/>
          <a:lstStyle/>
          <a:p>
            <a:pPr algn="ctr" indent="0" marL="0">
              <a:buNone/>
            </a:pPr>
            <a:r>
              <a:rPr lang="en-US" sz="4000" b="1" spc="-150" kern="0" dirty="0">
                <a:solidFill>
                  <a:schemeClr val="tx1"/>
                </a:solidFill>
              </a:rPr>
              <a:t>What kind of journey would you choose?</a:t>
            </a:r>
            <a:endParaRPr lang="en-US" sz="4000" dirty="0"/>
          </a:p>
        </p:txBody>
      </p:sp>
      <p:sp>
        <p:nvSpPr>
          <p:cNvPr id="3" name="Circle 342"/>
          <p:cNvSpPr/>
          <p:nvPr/>
        </p:nvSpPr>
        <p:spPr>
          <a:xfrm>
            <a:off x="2209648" y="2194560"/>
            <a:ext cx="822960" cy="822960"/>
          </a:xfrm>
          <a:prstGeom prst="ellipse">
            <a:avLst/>
          </a:prstGeom>
          <a:solidFill>
            <a:schemeClr val="bg2"/>
          </a:solidFill>
          <a:ln/>
        </p:spPr>
      </p:sp>
      <p:pic>
        <p:nvPicPr>
          <p:cNvPr id="4" name="Icon 343" descr="preencoded.png">    </p:cNvPr>
          <p:cNvPicPr>
            <a:picLocks noChangeAspect="1"/>
          </p:cNvPicPr>
          <p:nvPr/>
        </p:nvPicPr>
        <p:blipFill>
          <a:blip r:embed="rId2"/>
          <a:stretch>
            <a:fillRect/>
          </a:stretch>
        </p:blipFill>
        <p:spPr>
          <a:xfrm>
            <a:off x="2415388" y="2400300"/>
            <a:ext cx="411480" cy="411480"/>
          </a:xfrm>
          <a:prstGeom prst="rect">
            <a:avLst/>
          </a:prstGeom>
        </p:spPr>
      </p:pic>
      <p:sp>
        <p:nvSpPr>
          <p:cNvPr id="5" name="Text 344"/>
          <p:cNvSpPr txBox="1"/>
          <p:nvPr/>
        </p:nvSpPr>
        <p:spPr>
          <a:xfrm>
            <a:off x="1158088" y="3200400"/>
            <a:ext cx="2926080" cy="731520"/>
          </a:xfrm>
          <a:prstGeom prst="rect">
            <a:avLst/>
          </a:prstGeom>
          <a:noFill/>
          <a:ln/>
        </p:spPr>
        <p:txBody>
          <a:bodyPr wrap="square" lIns="0" tIns="0" rIns="0" bIns="0" rtlCol="0" anchor="t"/>
          <a:lstStyle/>
          <a:p>
            <a:pPr algn="ctr" indent="0" marL="0">
              <a:lnSpc>
                <a:spcPct val="110000"/>
              </a:lnSpc>
              <a:buNone/>
            </a:pPr>
            <a:r>
              <a:rPr lang="en-US" sz="1800" dirty="0">
                <a:solidFill>
                  <a:schemeClr val="tx1"/>
                </a:solidFill>
              </a:rPr>
              <a:t>Change how long</a:t>
            </a:r>
            <a:endParaRPr lang="en-US" sz="1800" dirty="0"/>
          </a:p>
          <a:p>
            <a:pPr algn="ctr" indent="0" marL="0">
              <a:lnSpc>
                <a:spcPct val="110000"/>
              </a:lnSpc>
              <a:buNone/>
            </a:pPr>
            <a:r>
              <a:rPr lang="en-US" sz="1800" dirty="0">
                <a:solidFill>
                  <a:schemeClr val="tx1"/>
                </a:solidFill>
              </a:rPr>
              <a:t>a journey takes</a:t>
            </a:r>
            <a:endParaRPr lang="en-US" sz="1800" dirty="0"/>
          </a:p>
        </p:txBody>
      </p:sp>
      <p:sp>
        <p:nvSpPr>
          <p:cNvPr id="6" name="Circle 345"/>
          <p:cNvSpPr/>
          <p:nvPr/>
        </p:nvSpPr>
        <p:spPr>
          <a:xfrm>
            <a:off x="5684368" y="2194560"/>
            <a:ext cx="822960" cy="822960"/>
          </a:xfrm>
          <a:prstGeom prst="ellipse">
            <a:avLst/>
          </a:prstGeom>
          <a:solidFill>
            <a:schemeClr val="bg2"/>
          </a:solidFill>
          <a:ln/>
        </p:spPr>
      </p:sp>
      <p:pic>
        <p:nvPicPr>
          <p:cNvPr id="7" name="Icon 346" descr="preencoded.png">    </p:cNvPr>
          <p:cNvPicPr>
            <a:picLocks noChangeAspect="1"/>
          </p:cNvPicPr>
          <p:nvPr/>
        </p:nvPicPr>
        <p:blipFill>
          <a:blip r:embed="rId3"/>
          <a:stretch>
            <a:fillRect/>
          </a:stretch>
        </p:blipFill>
        <p:spPr>
          <a:xfrm>
            <a:off x="5890108" y="2400300"/>
            <a:ext cx="411480" cy="411480"/>
          </a:xfrm>
          <a:prstGeom prst="rect">
            <a:avLst/>
          </a:prstGeom>
        </p:spPr>
      </p:pic>
      <p:sp>
        <p:nvSpPr>
          <p:cNvPr id="8" name="Text 347"/>
          <p:cNvSpPr txBox="1"/>
          <p:nvPr/>
        </p:nvSpPr>
        <p:spPr>
          <a:xfrm>
            <a:off x="4632808" y="3200400"/>
            <a:ext cx="2926080" cy="731520"/>
          </a:xfrm>
          <a:prstGeom prst="rect">
            <a:avLst/>
          </a:prstGeom>
          <a:noFill/>
          <a:ln/>
        </p:spPr>
        <p:txBody>
          <a:bodyPr wrap="square" lIns="0" tIns="0" rIns="0" bIns="0" rtlCol="0" anchor="t"/>
          <a:lstStyle/>
          <a:p>
            <a:pPr algn="ctr" indent="0" marL="0">
              <a:lnSpc>
                <a:spcPct val="110000"/>
              </a:lnSpc>
              <a:buNone/>
            </a:pPr>
            <a:r>
              <a:rPr lang="en-US" sz="1800" dirty="0">
                <a:solidFill>
                  <a:schemeClr val="tx1"/>
                </a:solidFill>
              </a:rPr>
              <a:t>Enjoy the</a:t>
            </a:r>
            <a:endParaRPr lang="en-US" sz="1800" dirty="0"/>
          </a:p>
          <a:p>
            <a:pPr algn="ctr" indent="0" marL="0">
              <a:lnSpc>
                <a:spcPct val="110000"/>
              </a:lnSpc>
              <a:buNone/>
            </a:pPr>
            <a:r>
              <a:rPr lang="en-US" sz="1800" dirty="0">
                <a:solidFill>
                  <a:schemeClr val="tx1"/>
                </a:solidFill>
              </a:rPr>
              <a:t>journey itself</a:t>
            </a:r>
            <a:endParaRPr lang="en-US" sz="1800" dirty="0"/>
          </a:p>
        </p:txBody>
      </p:sp>
      <p:sp>
        <p:nvSpPr>
          <p:cNvPr id="9" name="Circle 348"/>
          <p:cNvSpPr/>
          <p:nvPr/>
        </p:nvSpPr>
        <p:spPr>
          <a:xfrm>
            <a:off x="9159088" y="2194560"/>
            <a:ext cx="822960" cy="822960"/>
          </a:xfrm>
          <a:prstGeom prst="ellipse">
            <a:avLst/>
          </a:prstGeom>
          <a:solidFill>
            <a:schemeClr val="bg2"/>
          </a:solidFill>
          <a:ln/>
        </p:spPr>
      </p:sp>
      <p:pic>
        <p:nvPicPr>
          <p:cNvPr id="10" name="Icon 349" descr="preencoded.png">    </p:cNvPr>
          <p:cNvPicPr>
            <a:picLocks noChangeAspect="1"/>
          </p:cNvPicPr>
          <p:nvPr/>
        </p:nvPicPr>
        <p:blipFill>
          <a:blip r:embed="rId4"/>
          <a:stretch>
            <a:fillRect/>
          </a:stretch>
        </p:blipFill>
        <p:spPr>
          <a:xfrm>
            <a:off x="9364828" y="2400300"/>
            <a:ext cx="411480" cy="411480"/>
          </a:xfrm>
          <a:prstGeom prst="rect">
            <a:avLst/>
          </a:prstGeom>
        </p:spPr>
      </p:pic>
      <p:sp>
        <p:nvSpPr>
          <p:cNvPr id="11" name="Text 350"/>
          <p:cNvSpPr txBox="1"/>
          <p:nvPr/>
        </p:nvSpPr>
        <p:spPr>
          <a:xfrm>
            <a:off x="8107528" y="3200400"/>
            <a:ext cx="2926080" cy="731520"/>
          </a:xfrm>
          <a:prstGeom prst="rect">
            <a:avLst/>
          </a:prstGeom>
          <a:noFill/>
          <a:ln/>
        </p:spPr>
        <p:txBody>
          <a:bodyPr wrap="square" lIns="0" tIns="0" rIns="0" bIns="0" rtlCol="0" anchor="t"/>
          <a:lstStyle/>
          <a:p>
            <a:pPr algn="ctr" indent="0" marL="0">
              <a:lnSpc>
                <a:spcPct val="110000"/>
              </a:lnSpc>
              <a:buNone/>
            </a:pPr>
            <a:r>
              <a:rPr lang="en-US" sz="1800" dirty="0">
                <a:solidFill>
                  <a:schemeClr val="tx1"/>
                </a:solidFill>
              </a:rPr>
              <a:t>Remember a</a:t>
            </a:r>
            <a:endParaRPr lang="en-US" sz="1800" dirty="0"/>
          </a:p>
          <a:p>
            <a:pPr algn="ctr" indent="0" marL="0">
              <a:lnSpc>
                <a:spcPct val="110000"/>
              </a:lnSpc>
              <a:buNone/>
            </a:pPr>
            <a:r>
              <a:rPr lang="en-US" sz="1800" dirty="0">
                <a:solidFill>
                  <a:schemeClr val="tx1"/>
                </a:solidFill>
              </a:rPr>
              <a:t>piece of history</a:t>
            </a:r>
            <a:endParaRPr lang="en-US" sz="1800" dirty="0"/>
          </a:p>
        </p:txBody>
      </p:sp>
      <p:sp>
        <p:nvSpPr>
          <p:cNvPr id="12" name="Text 351"/>
          <p:cNvSpPr txBox="1"/>
          <p:nvPr/>
        </p:nvSpPr>
        <p:spPr>
          <a:xfrm>
            <a:off x="731520" y="4434840"/>
            <a:ext cx="10728655" cy="731520"/>
          </a:xfrm>
          <a:prstGeom prst="rect">
            <a:avLst/>
          </a:prstGeom>
          <a:noFill/>
          <a:ln/>
        </p:spPr>
        <p:txBody>
          <a:bodyPr wrap="square" lIns="0" tIns="0" rIns="0" bIns="0" rtlCol="0" anchor="ctr"/>
          <a:lstStyle/>
          <a:p>
            <a:pPr algn="ctr" indent="0" marL="0">
              <a:buNone/>
            </a:pPr>
            <a:r>
              <a:rPr lang="en-US" sz="3200" b="1" spc="-100" kern="0" dirty="0">
                <a:solidFill>
                  <a:schemeClr val="accent1"/>
                </a:solidFill>
              </a:rPr>
              <a:t>Imagine yourself boarding Connie</a:t>
            </a:r>
            <a:endParaRPr lang="en-US" sz="3200" dirty="0"/>
          </a:p>
        </p:txBody>
      </p:sp>
      <p:sp>
        <p:nvSpPr>
          <p:cNvPr id="13" name="Text 352"/>
          <p:cNvSpPr txBox="1"/>
          <p:nvPr/>
        </p:nvSpPr>
        <p:spPr>
          <a:xfrm>
            <a:off x="731520" y="5669280"/>
            <a:ext cx="10728655" cy="274320"/>
          </a:xfrm>
          <a:prstGeom prst="rect">
            <a:avLst/>
          </a:prstGeom>
          <a:noFill/>
          <a:ln/>
        </p:spPr>
        <p:txBody>
          <a:bodyPr wrap="square" lIns="0" tIns="0" rIns="0" bIns="0" rtlCol="0" anchor="ctr"/>
          <a:lstStyle/>
          <a:p>
            <a:pPr algn="ctr" indent="0" marL="0">
              <a:buNone/>
            </a:pPr>
            <a:r>
              <a:rPr lang="en-US" sz="1100" b="1" spc="300" kern="0" dirty="0">
                <a:solidFill>
                  <a:schemeClr val="tx2"/>
                </a:solidFill>
              </a:rPr>
              <a:t>LOCKHEED CONSTELLATION</a:t>
            </a:r>
            <a:endParaRPr lang="en-US" sz="1100" dirty="0"/>
          </a:p>
        </p:txBody>
      </p:sp>
      <p:sp>
        <p:nvSpPr>
          <p:cNvPr id="25" name="Slide Number Placeholder 0"/>
          <p:cNvSpPr>
            <a:spLocks noGrp="1"/>
          </p:cNvSpPr>
          <p:nvPr>
            <p:ph type="sldNum" sz="quarter" idx="4294967295"/>
          </p:nvPr>
        </p:nvSpPr>
        <p:spPr>
          <a:xfrm>
            <a:off x="1127455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36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731520" y="475488"/>
            <a:ext cx="10728655" cy="731520"/>
          </a:xfrm>
          <a:prstGeom prst="rect">
            <a:avLst/>
          </a:prstGeom>
          <a:noFill/>
          <a:ln/>
        </p:spPr>
        <p:txBody>
          <a:bodyPr wrap="square" lIns="0" tIns="0" rIns="0" bIns="0" rtlCol="0" anchor="ctr"/>
          <a:lstStyle/>
          <a:p>
            <a:pPr algn="ctr" indent="0" marL="0">
              <a:buNone/>
            </a:pPr>
            <a:r>
              <a:rPr lang="en-US" sz="3600" b="1" spc="-100" kern="0" dirty="0">
                <a:solidFill>
                  <a:schemeClr val="tx1"/>
                </a:solidFill>
              </a:rPr>
              <a:t>Which example does each figure come from?</a:t>
            </a:r>
            <a:endParaRPr lang="en-US" sz="3600" dirty="0"/>
          </a:p>
        </p:txBody>
      </p:sp>
      <p:sp>
        <p:nvSpPr>
          <p:cNvPr id="3" name="Text 0"/>
          <p:cNvSpPr/>
          <p:nvPr>
            <p:ph idx="101" type="body" hasCustomPrompt="1"/>
          </p:nvPr>
        </p:nvSpPr>
        <p:spPr>
          <a:xfrm>
            <a:off x="1280160" y="1225296"/>
            <a:ext cx="9631375" cy="411480"/>
          </a:xfrm>
          <a:prstGeom prst="rect">
            <a:avLst/>
          </a:prstGeom>
          <a:noFill/>
          <a:ln/>
        </p:spPr>
        <p:txBody>
          <a:bodyPr wrap="square" lIns="0" tIns="0" rIns="0" bIns="0" rtlCol="0" anchor="t"/>
          <a:lstStyle/>
          <a:p>
            <a:pPr algn="ctr" indent="0" marL="0">
              <a:buNone/>
            </a:pPr>
            <a:r>
              <a:rPr lang="en-US" sz="1800" dirty="0">
                <a:solidFill>
                  <a:schemeClr val="tx2"/>
                </a:solidFill>
              </a:rPr>
              <a:t>Q&amp;A backup, not part of the main talk</a:t>
            </a:r>
            <a:endParaRPr lang="en-US" sz="1800" dirty="0"/>
          </a:p>
        </p:txBody>
      </p:sp>
      <p:sp>
        <p:nvSpPr>
          <p:cNvPr id="4" name="Text 0"/>
          <p:cNvSpPr/>
          <p:nvPr>
            <p:ph idx="102" type="body" hasCustomPrompt="1"/>
          </p:nvPr>
        </p:nvSpPr>
        <p:spPr>
          <a:xfrm>
            <a:off x="1280160" y="5961888"/>
            <a:ext cx="9631375" cy="502920"/>
          </a:xfrm>
          <a:prstGeom prst="rect">
            <a:avLst/>
          </a:prstGeom>
          <a:noFill/>
          <a:ln/>
        </p:spPr>
        <p:txBody>
          <a:bodyPr wrap="square" lIns="0" tIns="0" rIns="0" bIns="0" rtlCol="0" anchor="t"/>
          <a:lstStyle/>
          <a:p>
            <a:pPr algn="ctr" indent="0" marL="0">
              <a:buNone/>
            </a:pPr>
            <a:r>
              <a:rPr lang="en-US" sz="1100" dirty="0">
                <a:solidFill>
                  <a:schemeClr val="tx2"/>
                </a:solidFill>
              </a:rPr>
              <a:t>Fuel load, engine configuration, payload and operating conditions all affect performance. Published range does not mean every flight can cover the same distance.</a:t>
            </a:r>
            <a:endParaRPr lang="en-US" sz="1100" dirty="0"/>
          </a:p>
        </p:txBody>
      </p:sp>
      <p:sp>
        <p:nvSpPr>
          <p:cNvPr id="6" name="Rounded 353"/>
          <p:cNvSpPr/>
          <p:nvPr/>
        </p:nvSpPr>
        <p:spPr>
          <a:xfrm>
            <a:off x="732892" y="1874520"/>
            <a:ext cx="5120640" cy="3566160"/>
          </a:xfrm>
          <a:prstGeom prst="roundRect">
            <a:avLst>
              <a:gd name="adj" fmla="val 5641"/>
            </a:avLst>
          </a:prstGeom>
          <a:solidFill>
            <a:schemeClr val="bg2"/>
          </a:solidFill>
          <a:ln/>
        </p:spPr>
      </p:sp>
      <p:sp>
        <p:nvSpPr>
          <p:cNvPr id="7" name="Text 354"/>
          <p:cNvSpPr txBox="1"/>
          <p:nvPr/>
        </p:nvSpPr>
        <p:spPr>
          <a:xfrm>
            <a:off x="1144372" y="2240280"/>
            <a:ext cx="4297680" cy="411480"/>
          </a:xfrm>
          <a:prstGeom prst="rect">
            <a:avLst/>
          </a:prstGeom>
          <a:noFill/>
          <a:ln/>
        </p:spPr>
        <p:txBody>
          <a:bodyPr wrap="square" lIns="0" tIns="0" rIns="0" bIns="0" rtlCol="0" anchor="ctr"/>
          <a:lstStyle/>
          <a:p>
            <a:pPr indent="0" marL="0">
              <a:buNone/>
            </a:pPr>
            <a:r>
              <a:rPr lang="en-US" sz="2200" b="1" dirty="0">
                <a:solidFill>
                  <a:schemeClr val="tx1"/>
                </a:solidFill>
              </a:rPr>
              <a:t>L-1649A Super Star</a:t>
            </a:r>
            <a:endParaRPr lang="en-US" sz="2200" dirty="0"/>
          </a:p>
        </p:txBody>
      </p:sp>
      <p:sp>
        <p:nvSpPr>
          <p:cNvPr id="8" name="Text 355"/>
          <p:cNvSpPr txBox="1"/>
          <p:nvPr/>
        </p:nvSpPr>
        <p:spPr>
          <a:xfrm>
            <a:off x="1144372" y="2651760"/>
            <a:ext cx="4297680" cy="274320"/>
          </a:xfrm>
          <a:prstGeom prst="rect">
            <a:avLst/>
          </a:prstGeom>
          <a:noFill/>
          <a:ln/>
        </p:spPr>
        <p:txBody>
          <a:bodyPr wrap="square" lIns="0" tIns="0" rIns="0" bIns="0" rtlCol="0" anchor="ctr"/>
          <a:lstStyle/>
          <a:p>
            <a:pPr indent="0" marL="0">
              <a:buNone/>
            </a:pPr>
            <a:r>
              <a:rPr lang="en-US" sz="1200" dirty="0">
                <a:solidFill>
                  <a:schemeClr val="tx2"/>
                </a:solidFill>
              </a:rPr>
              <a:t>Lufthansa historical data</a:t>
            </a:r>
            <a:endParaRPr lang="en-US" sz="1200" dirty="0"/>
          </a:p>
        </p:txBody>
      </p:sp>
      <p:sp>
        <p:nvSpPr>
          <p:cNvPr id="9" name="Line 356"/>
          <p:cNvSpPr/>
          <p:nvPr/>
        </p:nvSpPr>
        <p:spPr>
          <a:xfrm>
            <a:off x="1144372" y="3127248"/>
            <a:ext cx="4297680" cy="0"/>
          </a:xfrm>
          <a:prstGeom prst="line">
            <a:avLst/>
          </a:prstGeom>
          <a:noFill/>
          <a:ln w="9525">
            <a:solidFill>
              <a:schemeClr val="accent4"/>
            </a:solidFill>
            <a:prstDash val="solid"/>
          </a:ln>
        </p:spPr>
      </p:sp>
      <p:sp>
        <p:nvSpPr>
          <p:cNvPr id="10" name="Text 357"/>
          <p:cNvSpPr txBox="1"/>
          <p:nvPr/>
        </p:nvSpPr>
        <p:spPr>
          <a:xfrm>
            <a:off x="1144372" y="3200400"/>
            <a:ext cx="1737360" cy="548640"/>
          </a:xfrm>
          <a:prstGeom prst="rect">
            <a:avLst/>
          </a:prstGeom>
          <a:noFill/>
          <a:ln/>
        </p:spPr>
        <p:txBody>
          <a:bodyPr wrap="square" lIns="0" tIns="0" rIns="0" bIns="0" rtlCol="0" anchor="ctr"/>
          <a:lstStyle/>
          <a:p>
            <a:pPr indent="0" marL="0">
              <a:buNone/>
            </a:pPr>
            <a:r>
              <a:rPr lang="en-US" sz="1400" dirty="0">
                <a:solidFill>
                  <a:schemeClr val="tx2"/>
                </a:solidFill>
              </a:rPr>
              <a:t>Total power</a:t>
            </a:r>
            <a:endParaRPr lang="en-US" sz="1400" dirty="0"/>
          </a:p>
        </p:txBody>
      </p:sp>
      <p:sp>
        <p:nvSpPr>
          <p:cNvPr id="11" name="Text 358"/>
          <p:cNvSpPr txBox="1"/>
          <p:nvPr/>
        </p:nvSpPr>
        <p:spPr>
          <a:xfrm>
            <a:off x="2927452" y="3200400"/>
            <a:ext cx="2514600" cy="548640"/>
          </a:xfrm>
          <a:prstGeom prst="rect">
            <a:avLst/>
          </a:prstGeom>
          <a:noFill/>
          <a:ln/>
        </p:spPr>
        <p:txBody>
          <a:bodyPr wrap="square" lIns="0" tIns="0" rIns="0" bIns="0" rtlCol="0" anchor="ctr"/>
          <a:lstStyle/>
          <a:p>
            <a:pPr indent="0" marL="0">
              <a:buNone/>
            </a:pPr>
            <a:r>
              <a:rPr lang="en-US" sz="2000" b="1" dirty="0">
                <a:solidFill>
                  <a:schemeClr val="tx1"/>
                </a:solidFill>
              </a:rPr>
              <a:t>≈ 13,600 hp</a:t>
            </a:r>
            <a:endParaRPr lang="en-US" sz="2000" dirty="0"/>
          </a:p>
        </p:txBody>
      </p:sp>
      <p:sp>
        <p:nvSpPr>
          <p:cNvPr id="12" name="Line 359"/>
          <p:cNvSpPr/>
          <p:nvPr/>
        </p:nvSpPr>
        <p:spPr>
          <a:xfrm>
            <a:off x="1144372" y="3840480"/>
            <a:ext cx="4297680" cy="0"/>
          </a:xfrm>
          <a:prstGeom prst="line">
            <a:avLst/>
          </a:prstGeom>
          <a:noFill/>
          <a:ln w="9525">
            <a:solidFill>
              <a:schemeClr val="accent4"/>
            </a:solidFill>
            <a:prstDash val="solid"/>
          </a:ln>
        </p:spPr>
      </p:sp>
      <p:sp>
        <p:nvSpPr>
          <p:cNvPr id="13" name="Text 360"/>
          <p:cNvSpPr txBox="1"/>
          <p:nvPr/>
        </p:nvSpPr>
        <p:spPr>
          <a:xfrm>
            <a:off x="1144372" y="3913632"/>
            <a:ext cx="1737360" cy="548640"/>
          </a:xfrm>
          <a:prstGeom prst="rect">
            <a:avLst/>
          </a:prstGeom>
          <a:noFill/>
          <a:ln/>
        </p:spPr>
        <p:txBody>
          <a:bodyPr wrap="square" lIns="0" tIns="0" rIns="0" bIns="0" rtlCol="0" anchor="ctr"/>
          <a:lstStyle/>
          <a:p>
            <a:pPr indent="0" marL="0">
              <a:buNone/>
            </a:pPr>
            <a:r>
              <a:rPr lang="en-US" sz="1400" dirty="0">
                <a:solidFill>
                  <a:schemeClr val="tx2"/>
                </a:solidFill>
              </a:rPr>
              <a:t>Cruise speed</a:t>
            </a:r>
            <a:endParaRPr lang="en-US" sz="1400" dirty="0"/>
          </a:p>
        </p:txBody>
      </p:sp>
      <p:sp>
        <p:nvSpPr>
          <p:cNvPr id="14" name="Text 361"/>
          <p:cNvSpPr txBox="1"/>
          <p:nvPr/>
        </p:nvSpPr>
        <p:spPr>
          <a:xfrm>
            <a:off x="2927452" y="3913632"/>
            <a:ext cx="2514600" cy="548640"/>
          </a:xfrm>
          <a:prstGeom prst="rect">
            <a:avLst/>
          </a:prstGeom>
          <a:noFill/>
          <a:ln/>
        </p:spPr>
        <p:txBody>
          <a:bodyPr wrap="square" lIns="0" tIns="0" rIns="0" bIns="0" rtlCol="0" anchor="ctr"/>
          <a:lstStyle/>
          <a:p>
            <a:pPr indent="0" marL="0">
              <a:buNone/>
            </a:pPr>
            <a:r>
              <a:rPr lang="en-US" sz="2000" b="1" dirty="0">
                <a:solidFill>
                  <a:schemeClr val="tx1"/>
                </a:solidFill>
              </a:rPr>
              <a:t>≈ 480–500 km/h</a:t>
            </a:r>
            <a:endParaRPr lang="en-US" sz="2000" dirty="0"/>
          </a:p>
        </p:txBody>
      </p:sp>
      <p:sp>
        <p:nvSpPr>
          <p:cNvPr id="15" name="Line 362"/>
          <p:cNvSpPr/>
          <p:nvPr/>
        </p:nvSpPr>
        <p:spPr>
          <a:xfrm>
            <a:off x="1144372" y="4553712"/>
            <a:ext cx="4297680" cy="0"/>
          </a:xfrm>
          <a:prstGeom prst="line">
            <a:avLst/>
          </a:prstGeom>
          <a:noFill/>
          <a:ln w="9525">
            <a:solidFill>
              <a:schemeClr val="accent4"/>
            </a:solidFill>
            <a:prstDash val="solid"/>
          </a:ln>
        </p:spPr>
      </p:sp>
      <p:sp>
        <p:nvSpPr>
          <p:cNvPr id="16" name="Text 363"/>
          <p:cNvSpPr txBox="1"/>
          <p:nvPr/>
        </p:nvSpPr>
        <p:spPr>
          <a:xfrm>
            <a:off x="1144372" y="4626864"/>
            <a:ext cx="1737360" cy="548640"/>
          </a:xfrm>
          <a:prstGeom prst="rect">
            <a:avLst/>
          </a:prstGeom>
          <a:noFill/>
          <a:ln/>
        </p:spPr>
        <p:txBody>
          <a:bodyPr wrap="square" lIns="0" tIns="0" rIns="0" bIns="0" rtlCol="0" anchor="ctr"/>
          <a:lstStyle/>
          <a:p>
            <a:pPr indent="0" marL="0">
              <a:buNone/>
            </a:pPr>
            <a:r>
              <a:rPr lang="en-US" sz="1400" dirty="0">
                <a:solidFill>
                  <a:schemeClr val="tx2"/>
                </a:solidFill>
              </a:rPr>
              <a:t>Published range</a:t>
            </a:r>
            <a:endParaRPr lang="en-US" sz="1400" dirty="0"/>
          </a:p>
        </p:txBody>
      </p:sp>
      <p:sp>
        <p:nvSpPr>
          <p:cNvPr id="17" name="Text 364"/>
          <p:cNvSpPr txBox="1"/>
          <p:nvPr/>
        </p:nvSpPr>
        <p:spPr>
          <a:xfrm>
            <a:off x="2927452" y="4626864"/>
            <a:ext cx="2514600" cy="548640"/>
          </a:xfrm>
          <a:prstGeom prst="rect">
            <a:avLst/>
          </a:prstGeom>
          <a:noFill/>
          <a:ln/>
        </p:spPr>
        <p:txBody>
          <a:bodyPr wrap="square" lIns="0" tIns="0" rIns="0" bIns="0" rtlCol="0" anchor="ctr"/>
          <a:lstStyle/>
          <a:p>
            <a:pPr indent="0" marL="0">
              <a:buNone/>
            </a:pPr>
            <a:r>
              <a:rPr lang="en-US" sz="2000" b="1" dirty="0">
                <a:solidFill>
                  <a:schemeClr val="tx1"/>
                </a:solidFill>
              </a:rPr>
              <a:t>≈ 9,500–10,000 km</a:t>
            </a:r>
            <a:endParaRPr lang="en-US" sz="2000" dirty="0"/>
          </a:p>
        </p:txBody>
      </p:sp>
      <p:sp>
        <p:nvSpPr>
          <p:cNvPr id="18" name="Rounded 365"/>
          <p:cNvSpPr/>
          <p:nvPr/>
        </p:nvSpPr>
        <p:spPr>
          <a:xfrm>
            <a:off x="6338164" y="1874520"/>
            <a:ext cx="5120640" cy="3566160"/>
          </a:xfrm>
          <a:prstGeom prst="roundRect">
            <a:avLst>
              <a:gd name="adj" fmla="val 5641"/>
            </a:avLst>
          </a:prstGeom>
          <a:solidFill>
            <a:schemeClr val="bg2"/>
          </a:solidFill>
          <a:ln/>
        </p:spPr>
      </p:sp>
      <p:sp>
        <p:nvSpPr>
          <p:cNvPr id="19" name="Text 366"/>
          <p:cNvSpPr txBox="1"/>
          <p:nvPr/>
        </p:nvSpPr>
        <p:spPr>
          <a:xfrm>
            <a:off x="6749644" y="2240280"/>
            <a:ext cx="4297680" cy="411480"/>
          </a:xfrm>
          <a:prstGeom prst="rect">
            <a:avLst/>
          </a:prstGeom>
          <a:noFill/>
          <a:ln/>
        </p:spPr>
        <p:txBody>
          <a:bodyPr wrap="square" lIns="0" tIns="0" rIns="0" bIns="0" rtlCol="0" anchor="ctr"/>
          <a:lstStyle/>
          <a:p>
            <a:pPr indent="0" marL="0">
              <a:buNone/>
            </a:pPr>
            <a:r>
              <a:rPr lang="en-US" sz="2200" b="1" dirty="0">
                <a:solidFill>
                  <a:schemeClr val="tx1"/>
                </a:solidFill>
              </a:rPr>
              <a:t>HB-RSC Super Constellation</a:t>
            </a:r>
            <a:endParaRPr lang="en-US" sz="2200" dirty="0"/>
          </a:p>
        </p:txBody>
      </p:sp>
      <p:sp>
        <p:nvSpPr>
          <p:cNvPr id="20" name="Text 367"/>
          <p:cNvSpPr txBox="1"/>
          <p:nvPr/>
        </p:nvSpPr>
        <p:spPr>
          <a:xfrm>
            <a:off x="6749644" y="2651760"/>
            <a:ext cx="4297680" cy="274320"/>
          </a:xfrm>
          <a:prstGeom prst="rect">
            <a:avLst/>
          </a:prstGeom>
          <a:noFill/>
          <a:ln/>
        </p:spPr>
        <p:txBody>
          <a:bodyPr wrap="square" lIns="0" tIns="0" rIns="0" bIns="0" rtlCol="0" anchor="ctr"/>
          <a:lstStyle/>
          <a:p>
            <a:pPr indent="0" marL="0">
              <a:buNone/>
            </a:pPr>
            <a:r>
              <a:rPr lang="en-US" sz="1200" dirty="0">
                <a:solidFill>
                  <a:schemeClr val="tx2"/>
                </a:solidFill>
              </a:rPr>
              <a:t>SCFA published data</a:t>
            </a:r>
            <a:endParaRPr lang="en-US" sz="1200" dirty="0"/>
          </a:p>
        </p:txBody>
      </p:sp>
      <p:sp>
        <p:nvSpPr>
          <p:cNvPr id="21" name="Line 368"/>
          <p:cNvSpPr/>
          <p:nvPr/>
        </p:nvSpPr>
        <p:spPr>
          <a:xfrm>
            <a:off x="6749644" y="3127248"/>
            <a:ext cx="4297680" cy="0"/>
          </a:xfrm>
          <a:prstGeom prst="line">
            <a:avLst/>
          </a:prstGeom>
          <a:noFill/>
          <a:ln w="9525">
            <a:solidFill>
              <a:schemeClr val="accent4"/>
            </a:solidFill>
            <a:prstDash val="solid"/>
          </a:ln>
        </p:spPr>
      </p:sp>
      <p:sp>
        <p:nvSpPr>
          <p:cNvPr id="22" name="Text 369"/>
          <p:cNvSpPr txBox="1"/>
          <p:nvPr/>
        </p:nvSpPr>
        <p:spPr>
          <a:xfrm>
            <a:off x="6749644" y="3200400"/>
            <a:ext cx="1737360" cy="548640"/>
          </a:xfrm>
          <a:prstGeom prst="rect">
            <a:avLst/>
          </a:prstGeom>
          <a:noFill/>
          <a:ln/>
        </p:spPr>
        <p:txBody>
          <a:bodyPr wrap="square" lIns="0" tIns="0" rIns="0" bIns="0" rtlCol="0" anchor="ctr"/>
          <a:lstStyle/>
          <a:p>
            <a:pPr indent="0" marL="0">
              <a:buNone/>
            </a:pPr>
            <a:r>
              <a:rPr lang="en-US" sz="1400" dirty="0">
                <a:solidFill>
                  <a:schemeClr val="tx2"/>
                </a:solidFill>
              </a:rPr>
              <a:t>Full wingspan</a:t>
            </a:r>
            <a:endParaRPr lang="en-US" sz="1400" dirty="0"/>
          </a:p>
        </p:txBody>
      </p:sp>
      <p:sp>
        <p:nvSpPr>
          <p:cNvPr id="23" name="Text 370"/>
          <p:cNvSpPr txBox="1"/>
          <p:nvPr/>
        </p:nvSpPr>
        <p:spPr>
          <a:xfrm>
            <a:off x="8532724" y="3200400"/>
            <a:ext cx="2514600" cy="548640"/>
          </a:xfrm>
          <a:prstGeom prst="rect">
            <a:avLst/>
          </a:prstGeom>
          <a:noFill/>
          <a:ln/>
        </p:spPr>
        <p:txBody>
          <a:bodyPr wrap="square" lIns="0" tIns="0" rIns="0" bIns="0" rtlCol="0" anchor="ctr"/>
          <a:lstStyle/>
          <a:p>
            <a:pPr indent="0" marL="0">
              <a:buNone/>
            </a:pPr>
            <a:r>
              <a:rPr lang="en-US" sz="2000" b="1" dirty="0">
                <a:solidFill>
                  <a:schemeClr val="tx1"/>
                </a:solidFill>
              </a:rPr>
              <a:t>123 ft</a:t>
            </a:r>
            <a:endParaRPr lang="en-US" sz="2000" dirty="0"/>
          </a:p>
        </p:txBody>
      </p:sp>
      <p:sp>
        <p:nvSpPr>
          <p:cNvPr id="24" name="Line 371"/>
          <p:cNvSpPr/>
          <p:nvPr/>
        </p:nvSpPr>
        <p:spPr>
          <a:xfrm>
            <a:off x="6749644" y="3840480"/>
            <a:ext cx="4297680" cy="0"/>
          </a:xfrm>
          <a:prstGeom prst="line">
            <a:avLst/>
          </a:prstGeom>
          <a:noFill/>
          <a:ln w="9525">
            <a:solidFill>
              <a:schemeClr val="accent4"/>
            </a:solidFill>
            <a:prstDash val="solid"/>
          </a:ln>
        </p:spPr>
      </p:sp>
      <p:sp>
        <p:nvSpPr>
          <p:cNvPr id="25" name="Text 372"/>
          <p:cNvSpPr txBox="1"/>
          <p:nvPr/>
        </p:nvSpPr>
        <p:spPr>
          <a:xfrm>
            <a:off x="6749644" y="3913632"/>
            <a:ext cx="1737360" cy="548640"/>
          </a:xfrm>
          <a:prstGeom prst="rect">
            <a:avLst/>
          </a:prstGeom>
          <a:noFill/>
          <a:ln/>
        </p:spPr>
        <p:txBody>
          <a:bodyPr wrap="square" lIns="0" tIns="0" rIns="0" bIns="0" rtlCol="0" anchor="ctr"/>
          <a:lstStyle/>
          <a:p>
            <a:pPr indent="0" marL="0">
              <a:buNone/>
            </a:pPr>
            <a:r>
              <a:rPr lang="en-US" sz="1400" dirty="0">
                <a:solidFill>
                  <a:schemeClr val="tx2"/>
                </a:solidFill>
              </a:rPr>
              <a:t>Power per engine</a:t>
            </a:r>
            <a:endParaRPr lang="en-US" sz="1400" dirty="0"/>
          </a:p>
        </p:txBody>
      </p:sp>
      <p:sp>
        <p:nvSpPr>
          <p:cNvPr id="26" name="Text 373"/>
          <p:cNvSpPr txBox="1"/>
          <p:nvPr/>
        </p:nvSpPr>
        <p:spPr>
          <a:xfrm>
            <a:off x="8532724" y="3913632"/>
            <a:ext cx="2514600" cy="548640"/>
          </a:xfrm>
          <a:prstGeom prst="rect">
            <a:avLst/>
          </a:prstGeom>
          <a:noFill/>
          <a:ln/>
        </p:spPr>
        <p:txBody>
          <a:bodyPr wrap="square" lIns="0" tIns="0" rIns="0" bIns="0" rtlCol="0" anchor="ctr"/>
          <a:lstStyle/>
          <a:p>
            <a:pPr indent="0" marL="0">
              <a:buNone/>
            </a:pPr>
            <a:r>
              <a:rPr lang="en-US" sz="2000" b="1" dirty="0">
                <a:solidFill>
                  <a:schemeClr val="tx1"/>
                </a:solidFill>
              </a:rPr>
              <a:t>3,250 hp</a:t>
            </a:r>
            <a:endParaRPr lang="en-US" sz="2000" dirty="0"/>
          </a:p>
        </p:txBody>
      </p:sp>
      <p:sp>
        <p:nvSpPr>
          <p:cNvPr id="27" name="Line 374"/>
          <p:cNvSpPr/>
          <p:nvPr/>
        </p:nvSpPr>
        <p:spPr>
          <a:xfrm>
            <a:off x="6749644" y="4553712"/>
            <a:ext cx="4297680" cy="0"/>
          </a:xfrm>
          <a:prstGeom prst="line">
            <a:avLst/>
          </a:prstGeom>
          <a:noFill/>
          <a:ln w="9525">
            <a:solidFill>
              <a:schemeClr val="accent4"/>
            </a:solidFill>
            <a:prstDash val="solid"/>
          </a:ln>
        </p:spPr>
      </p:sp>
      <p:sp>
        <p:nvSpPr>
          <p:cNvPr id="28" name="Text 375"/>
          <p:cNvSpPr txBox="1"/>
          <p:nvPr/>
        </p:nvSpPr>
        <p:spPr>
          <a:xfrm>
            <a:off x="6749644" y="4626864"/>
            <a:ext cx="1737360" cy="548640"/>
          </a:xfrm>
          <a:prstGeom prst="rect">
            <a:avLst/>
          </a:prstGeom>
          <a:noFill/>
          <a:ln/>
        </p:spPr>
        <p:txBody>
          <a:bodyPr wrap="square" lIns="0" tIns="0" rIns="0" bIns="0" rtlCol="0" anchor="ctr"/>
          <a:lstStyle/>
          <a:p>
            <a:pPr indent="0" marL="0">
              <a:buNone/>
            </a:pPr>
            <a:r>
              <a:rPr lang="en-US" sz="1400" dirty="0">
                <a:solidFill>
                  <a:schemeClr val="tx2"/>
                </a:solidFill>
              </a:rPr>
              <a:t>Used for</a:t>
            </a:r>
            <a:endParaRPr lang="en-US" sz="1400" dirty="0"/>
          </a:p>
        </p:txBody>
      </p:sp>
      <p:sp>
        <p:nvSpPr>
          <p:cNvPr id="29" name="Text 376"/>
          <p:cNvSpPr txBox="1"/>
          <p:nvPr/>
        </p:nvSpPr>
        <p:spPr>
          <a:xfrm>
            <a:off x="8532724" y="4626864"/>
            <a:ext cx="2514600" cy="548640"/>
          </a:xfrm>
          <a:prstGeom prst="rect">
            <a:avLst/>
          </a:prstGeom>
          <a:noFill/>
          <a:ln/>
        </p:spPr>
        <p:txBody>
          <a:bodyPr wrap="square" lIns="0" tIns="0" rIns="0" bIns="0" rtlCol="0" anchor="ctr"/>
          <a:lstStyle/>
          <a:p>
            <a:pPr indent="0" marL="0">
              <a:buNone/>
            </a:pPr>
            <a:r>
              <a:rPr lang="en-US" sz="2000" b="1" dirty="0">
                <a:solidFill>
                  <a:schemeClr val="tx1"/>
                </a:solidFill>
              </a:rPr>
              <a:t>Wingspan slide</a:t>
            </a:r>
            <a:endParaRPr lang="en-US" sz="2000" dirty="0"/>
          </a:p>
        </p:txBody>
      </p:sp>
      <p:sp>
        <p:nvSpPr>
          <p:cNvPr id="25" name="Slide Number Placeholder 0"/>
          <p:cNvSpPr>
            <a:spLocks noGrp="1"/>
          </p:cNvSpPr>
          <p:nvPr>
            <p:ph type="sldNum" sz="quarter" idx="4294967295"/>
          </p:nvPr>
        </p:nvSpPr>
        <p:spPr>
          <a:xfrm>
            <a:off x="1127455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36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731520" y="475488"/>
            <a:ext cx="10728655" cy="731520"/>
          </a:xfrm>
          <a:prstGeom prst="rect">
            <a:avLst/>
          </a:prstGeom>
          <a:noFill/>
          <a:ln/>
        </p:spPr>
        <p:txBody>
          <a:bodyPr wrap="square" lIns="0" tIns="0" rIns="0" bIns="0" rtlCol="0" anchor="ctr"/>
          <a:lstStyle/>
          <a:p>
            <a:pPr algn="ctr" indent="0" marL="0">
              <a:buNone/>
            </a:pPr>
            <a:r>
              <a:rPr lang="en-US" sz="3600" b="1" spc="-100" kern="0" dirty="0">
                <a:solidFill>
                  <a:schemeClr val="tx1"/>
                </a:solidFill>
              </a:rPr>
              <a:t>Four things that are easy to confuse</a:t>
            </a:r>
            <a:endParaRPr lang="en-US" sz="3600" dirty="0"/>
          </a:p>
        </p:txBody>
      </p:sp>
      <p:sp>
        <p:nvSpPr>
          <p:cNvPr id="3" name="Text 0"/>
          <p:cNvSpPr/>
          <p:nvPr>
            <p:ph idx="101" type="body" hasCustomPrompt="1"/>
          </p:nvPr>
        </p:nvSpPr>
        <p:spPr>
          <a:xfrm>
            <a:off x="1280160" y="1225296"/>
            <a:ext cx="9631375" cy="411480"/>
          </a:xfrm>
          <a:prstGeom prst="rect">
            <a:avLst/>
          </a:prstGeom>
          <a:noFill/>
          <a:ln/>
        </p:spPr>
        <p:txBody>
          <a:bodyPr wrap="square" lIns="0" tIns="0" rIns="0" bIns="0" rtlCol="0" anchor="t"/>
          <a:lstStyle/>
          <a:p>
            <a:pPr algn="ctr" indent="0" marL="0">
              <a:buNone/>
            </a:pPr>
            <a:r>
              <a:rPr lang="en-US" sz="1800" dirty="0">
                <a:solidFill>
                  <a:schemeClr val="tx2"/>
                </a:solidFill>
              </a:rPr>
              <a:t>Q&amp;A backup, not part of the main talk</a:t>
            </a:r>
            <a:endParaRPr lang="en-US" sz="1800" dirty="0"/>
          </a:p>
        </p:txBody>
      </p:sp>
      <p:sp>
        <p:nvSpPr>
          <p:cNvPr id="4" name="Text 0"/>
          <p:cNvSpPr/>
          <p:nvPr>
            <p:ph idx="102" type="body" hasCustomPrompt="1"/>
          </p:nvPr>
        </p:nvSpPr>
        <p:spPr>
          <a:xfrm>
            <a:off x="1280160" y="5961888"/>
            <a:ext cx="9631375" cy="502920"/>
          </a:xfrm>
          <a:prstGeom prst="rect">
            <a:avLst/>
          </a:prstGeom>
          <a:noFill/>
          <a:ln/>
        </p:spPr>
        <p:txBody>
          <a:bodyPr wrap="square" lIns="0" tIns="0" rIns="0" bIns="0" rtlCol="0" anchor="t"/>
          <a:lstStyle/>
          <a:p>
            <a:pPr algn="ctr" indent="0" marL="0">
              <a:buNone/>
            </a:pPr>
            <a:r>
              <a:rPr lang="en-US" sz="1100" dirty="0">
                <a:solidFill>
                  <a:schemeClr val="tx2"/>
                </a:solidFill>
              </a:rPr>
              <a:t>"First-mover advantage" is a strategic interpretation; an exclusive purchase arrangement should not be described as insider dealing.</a:t>
            </a:r>
            <a:endParaRPr lang="en-US" sz="1100" dirty="0"/>
          </a:p>
        </p:txBody>
      </p:sp>
      <p:sp>
        <p:nvSpPr>
          <p:cNvPr id="6" name="Rounded 377"/>
          <p:cNvSpPr/>
          <p:nvPr/>
        </p:nvSpPr>
        <p:spPr>
          <a:xfrm>
            <a:off x="732892" y="1874520"/>
            <a:ext cx="5120640" cy="1600200"/>
          </a:xfrm>
          <a:prstGeom prst="roundRect">
            <a:avLst>
              <a:gd name="adj" fmla="val 12571"/>
            </a:avLst>
          </a:prstGeom>
          <a:solidFill>
            <a:schemeClr val="bg2"/>
          </a:solidFill>
          <a:ln/>
        </p:spPr>
      </p:sp>
      <p:sp>
        <p:nvSpPr>
          <p:cNvPr id="7" name="Text 378"/>
          <p:cNvSpPr txBox="1"/>
          <p:nvPr/>
        </p:nvSpPr>
        <p:spPr>
          <a:xfrm>
            <a:off x="1144372" y="2194560"/>
            <a:ext cx="4297680" cy="411480"/>
          </a:xfrm>
          <a:prstGeom prst="rect">
            <a:avLst/>
          </a:prstGeom>
          <a:noFill/>
          <a:ln/>
        </p:spPr>
        <p:txBody>
          <a:bodyPr wrap="square" lIns="0" tIns="0" rIns="0" bIns="0" rtlCol="0" anchor="ctr"/>
          <a:lstStyle/>
          <a:p>
            <a:pPr indent="0" marL="0">
              <a:buNone/>
            </a:pPr>
            <a:r>
              <a:rPr lang="en-US" sz="2200" b="1" spc="-50" kern="0" dirty="0">
                <a:solidFill>
                  <a:schemeClr val="accent1"/>
                </a:solidFill>
              </a:rPr>
              <a:t>Pressurization precedent</a:t>
            </a:r>
            <a:endParaRPr lang="en-US" sz="2200" dirty="0"/>
          </a:p>
        </p:txBody>
      </p:sp>
      <p:sp>
        <p:nvSpPr>
          <p:cNvPr id="8" name="Text 379"/>
          <p:cNvSpPr txBox="1"/>
          <p:nvPr/>
        </p:nvSpPr>
        <p:spPr>
          <a:xfrm>
            <a:off x="1144372" y="2651760"/>
            <a:ext cx="4297680" cy="594360"/>
          </a:xfrm>
          <a:prstGeom prst="rect">
            <a:avLst/>
          </a:prstGeom>
          <a:noFill/>
          <a:ln/>
        </p:spPr>
        <p:txBody>
          <a:bodyPr wrap="square" lIns="0" tIns="0" rIns="0" bIns="0" rtlCol="0" anchor="t"/>
          <a:lstStyle/>
          <a:p>
            <a:pPr indent="0" marL="0">
              <a:lnSpc>
                <a:spcPct val="110000"/>
              </a:lnSpc>
              <a:buNone/>
            </a:pPr>
            <a:r>
              <a:rPr lang="en-US" sz="1500" dirty="0">
                <a:solidFill>
                  <a:schemeClr val="tx1"/>
                </a:solidFill>
              </a:rPr>
              <a:t>The Boeing 307 was pressurized before the Constellation</a:t>
            </a:r>
            <a:endParaRPr lang="en-US" sz="1500" dirty="0"/>
          </a:p>
        </p:txBody>
      </p:sp>
      <p:sp>
        <p:nvSpPr>
          <p:cNvPr id="9" name="Rounded 380"/>
          <p:cNvSpPr/>
          <p:nvPr/>
        </p:nvSpPr>
        <p:spPr>
          <a:xfrm>
            <a:off x="6338164" y="1874520"/>
            <a:ext cx="5120640" cy="1600200"/>
          </a:xfrm>
          <a:prstGeom prst="roundRect">
            <a:avLst>
              <a:gd name="adj" fmla="val 12571"/>
            </a:avLst>
          </a:prstGeom>
          <a:solidFill>
            <a:schemeClr val="bg2"/>
          </a:solidFill>
          <a:ln/>
        </p:spPr>
      </p:sp>
      <p:sp>
        <p:nvSpPr>
          <p:cNvPr id="10" name="Text 381"/>
          <p:cNvSpPr txBox="1"/>
          <p:nvPr/>
        </p:nvSpPr>
        <p:spPr>
          <a:xfrm>
            <a:off x="6749644" y="2194560"/>
            <a:ext cx="4297680" cy="411480"/>
          </a:xfrm>
          <a:prstGeom prst="rect">
            <a:avLst/>
          </a:prstGeom>
          <a:noFill/>
          <a:ln/>
        </p:spPr>
        <p:txBody>
          <a:bodyPr wrap="square" lIns="0" tIns="0" rIns="0" bIns="0" rtlCol="0" anchor="ctr"/>
          <a:lstStyle/>
          <a:p>
            <a:pPr indent="0" marL="0">
              <a:buNone/>
            </a:pPr>
            <a:r>
              <a:rPr lang="en-US" sz="2200" b="1" spc="-50" kern="0" dirty="0">
                <a:solidFill>
                  <a:schemeClr val="accent1"/>
                </a:solidFill>
              </a:rPr>
              <a:t>35-aircraft threshold</a:t>
            </a:r>
            <a:endParaRPr lang="en-US" sz="2200" dirty="0"/>
          </a:p>
        </p:txBody>
      </p:sp>
      <p:sp>
        <p:nvSpPr>
          <p:cNvPr id="11" name="Text 382"/>
          <p:cNvSpPr txBox="1"/>
          <p:nvPr/>
        </p:nvSpPr>
        <p:spPr>
          <a:xfrm>
            <a:off x="6749644" y="2651760"/>
            <a:ext cx="4297680" cy="594360"/>
          </a:xfrm>
          <a:prstGeom prst="rect">
            <a:avLst/>
          </a:prstGeom>
          <a:noFill/>
          <a:ln/>
        </p:spPr>
        <p:txBody>
          <a:bodyPr wrap="square" lIns="0" tIns="0" rIns="0" bIns="0" rtlCol="0" anchor="t"/>
          <a:lstStyle/>
          <a:p>
            <a:pPr indent="0" marL="0">
              <a:lnSpc>
                <a:spcPct val="110000"/>
              </a:lnSpc>
              <a:buNone/>
            </a:pPr>
            <a:r>
              <a:rPr lang="en-US" sz="1500" dirty="0">
                <a:solidFill>
                  <a:schemeClr val="tx1"/>
                </a:solidFill>
              </a:rPr>
              <a:t>A contract condition, not the number actually delivered before the war</a:t>
            </a:r>
            <a:endParaRPr lang="en-US" sz="1500" dirty="0"/>
          </a:p>
        </p:txBody>
      </p:sp>
      <p:sp>
        <p:nvSpPr>
          <p:cNvPr id="12" name="Rounded 383"/>
          <p:cNvSpPr/>
          <p:nvPr/>
        </p:nvSpPr>
        <p:spPr>
          <a:xfrm>
            <a:off x="732892" y="3840480"/>
            <a:ext cx="5120640" cy="1600200"/>
          </a:xfrm>
          <a:prstGeom prst="roundRect">
            <a:avLst>
              <a:gd name="adj" fmla="val 12571"/>
            </a:avLst>
          </a:prstGeom>
          <a:solidFill>
            <a:schemeClr val="bg2"/>
          </a:solidFill>
          <a:ln/>
        </p:spPr>
      </p:sp>
      <p:sp>
        <p:nvSpPr>
          <p:cNvPr id="13" name="Text 384"/>
          <p:cNvSpPr txBox="1"/>
          <p:nvPr/>
        </p:nvSpPr>
        <p:spPr>
          <a:xfrm>
            <a:off x="1144372" y="4160520"/>
            <a:ext cx="4297680" cy="411480"/>
          </a:xfrm>
          <a:prstGeom prst="rect">
            <a:avLst/>
          </a:prstGeom>
          <a:noFill/>
          <a:ln/>
        </p:spPr>
        <p:txBody>
          <a:bodyPr wrap="square" lIns="0" tIns="0" rIns="0" bIns="0" rtlCol="0" anchor="ctr"/>
          <a:lstStyle/>
          <a:p>
            <a:pPr indent="0" marL="0">
              <a:buNone/>
            </a:pPr>
            <a:r>
              <a:rPr lang="en-US" sz="2200" b="1" spc="-50" kern="0" dirty="0">
                <a:solidFill>
                  <a:schemeClr val="accent1"/>
                </a:solidFill>
              </a:rPr>
              <a:t>123 ft</a:t>
            </a:r>
            <a:endParaRPr lang="en-US" sz="2200" dirty="0"/>
          </a:p>
        </p:txBody>
      </p:sp>
      <p:sp>
        <p:nvSpPr>
          <p:cNvPr id="14" name="Text 385"/>
          <p:cNvSpPr txBox="1"/>
          <p:nvPr/>
        </p:nvSpPr>
        <p:spPr>
          <a:xfrm>
            <a:off x="1144372" y="4617720"/>
            <a:ext cx="4297680" cy="594360"/>
          </a:xfrm>
          <a:prstGeom prst="rect">
            <a:avLst/>
          </a:prstGeom>
          <a:noFill/>
          <a:ln/>
        </p:spPr>
        <p:txBody>
          <a:bodyPr wrap="square" lIns="0" tIns="0" rIns="0" bIns="0" rtlCol="0" anchor="t"/>
          <a:lstStyle/>
          <a:p>
            <a:pPr indent="0" marL="0">
              <a:lnSpc>
                <a:spcPct val="110000"/>
              </a:lnSpc>
              <a:buNone/>
            </a:pPr>
            <a:r>
              <a:rPr lang="en-US" sz="1500" dirty="0">
                <a:solidFill>
                  <a:schemeClr val="tx1"/>
                </a:solidFill>
              </a:rPr>
              <a:t>The full wingspan, tip to tip, not a single wing</a:t>
            </a:r>
            <a:endParaRPr lang="en-US" sz="1500" dirty="0"/>
          </a:p>
        </p:txBody>
      </p:sp>
      <p:sp>
        <p:nvSpPr>
          <p:cNvPr id="15" name="Rounded 386"/>
          <p:cNvSpPr/>
          <p:nvPr/>
        </p:nvSpPr>
        <p:spPr>
          <a:xfrm>
            <a:off x="6338164" y="3840480"/>
            <a:ext cx="5120640" cy="1600200"/>
          </a:xfrm>
          <a:prstGeom prst="roundRect">
            <a:avLst>
              <a:gd name="adj" fmla="val 12571"/>
            </a:avLst>
          </a:prstGeom>
          <a:solidFill>
            <a:schemeClr val="bg2"/>
          </a:solidFill>
          <a:ln/>
        </p:spPr>
      </p:sp>
      <p:sp>
        <p:nvSpPr>
          <p:cNvPr id="16" name="Text 387"/>
          <p:cNvSpPr txBox="1"/>
          <p:nvPr/>
        </p:nvSpPr>
        <p:spPr>
          <a:xfrm>
            <a:off x="6749644" y="4160520"/>
            <a:ext cx="4297680" cy="411480"/>
          </a:xfrm>
          <a:prstGeom prst="rect">
            <a:avLst/>
          </a:prstGeom>
          <a:noFill/>
          <a:ln/>
        </p:spPr>
        <p:txBody>
          <a:bodyPr wrap="square" lIns="0" tIns="0" rIns="0" bIns="0" rtlCol="0" anchor="ctr"/>
          <a:lstStyle/>
          <a:p>
            <a:pPr indent="0" marL="0">
              <a:buNone/>
            </a:pPr>
            <a:r>
              <a:rPr lang="en-US" sz="2200" b="1" spc="-50" kern="0" dirty="0">
                <a:solidFill>
                  <a:schemeClr val="accent1"/>
                </a:solidFill>
              </a:rPr>
              <a:t>€150 million</a:t>
            </a:r>
            <a:endParaRPr lang="en-US" sz="2200" dirty="0"/>
          </a:p>
        </p:txBody>
      </p:sp>
      <p:sp>
        <p:nvSpPr>
          <p:cNvPr id="17" name="Text 388"/>
          <p:cNvSpPr txBox="1"/>
          <p:nvPr/>
        </p:nvSpPr>
        <p:spPr>
          <a:xfrm>
            <a:off x="6749644" y="4617720"/>
            <a:ext cx="4297680" cy="594360"/>
          </a:xfrm>
          <a:prstGeom prst="rect">
            <a:avLst/>
          </a:prstGeom>
          <a:noFill/>
          <a:ln/>
        </p:spPr>
        <p:txBody>
          <a:bodyPr wrap="square" lIns="0" tIns="0" rIns="0" bIns="0" rtlCol="0" anchor="t"/>
          <a:lstStyle/>
          <a:p>
            <a:pPr indent="0" marL="0">
              <a:lnSpc>
                <a:spcPct val="110000"/>
              </a:lnSpc>
              <a:buNone/>
            </a:pPr>
            <a:r>
              <a:rPr lang="en-US" sz="1500" dirty="0">
                <a:solidFill>
                  <a:schemeClr val="tx1"/>
                </a:solidFill>
              </a:rPr>
              <a:t>A project cost, not a market value or a return on investment</a:t>
            </a:r>
            <a:endParaRPr lang="en-US" sz="1500" dirty="0"/>
          </a:p>
        </p:txBody>
      </p:sp>
      <p:sp>
        <p:nvSpPr>
          <p:cNvPr id="25" name="Slide Number Placeholder 0"/>
          <p:cNvSpPr>
            <a:spLocks noGrp="1"/>
          </p:cNvSpPr>
          <p:nvPr>
            <p:ph type="sldNum" sz="quarter" idx="4294967295"/>
          </p:nvPr>
        </p:nvSpPr>
        <p:spPr>
          <a:xfrm>
            <a:off x="1127455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36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731520" y="475488"/>
            <a:ext cx="10728655" cy="731520"/>
          </a:xfrm>
          <a:prstGeom prst="rect">
            <a:avLst/>
          </a:prstGeom>
          <a:noFill/>
          <a:ln/>
        </p:spPr>
        <p:txBody>
          <a:bodyPr wrap="square" lIns="0" tIns="0" rIns="0" bIns="0" rtlCol="0" anchor="ctr"/>
          <a:lstStyle/>
          <a:p>
            <a:pPr algn="ctr" indent="0" marL="0">
              <a:buNone/>
            </a:pPr>
            <a:r>
              <a:rPr lang="en-US" sz="3600" b="1" spc="-100" kern="0" dirty="0">
                <a:solidFill>
                  <a:schemeClr val="tx1"/>
                </a:solidFill>
              </a:rPr>
              <a:t>Sources and how the diagrams are framed</a:t>
            </a:r>
            <a:endParaRPr lang="en-US" sz="3600" dirty="0"/>
          </a:p>
        </p:txBody>
      </p:sp>
      <p:sp>
        <p:nvSpPr>
          <p:cNvPr id="3" name="Text 0"/>
          <p:cNvSpPr/>
          <p:nvPr>
            <p:ph idx="101" type="body" hasCustomPrompt="1"/>
          </p:nvPr>
        </p:nvSpPr>
        <p:spPr>
          <a:xfrm>
            <a:off x="1280160" y="1225296"/>
            <a:ext cx="9631375" cy="411480"/>
          </a:xfrm>
          <a:prstGeom prst="rect">
            <a:avLst/>
          </a:prstGeom>
          <a:noFill/>
          <a:ln/>
        </p:spPr>
        <p:txBody>
          <a:bodyPr wrap="square" lIns="0" tIns="0" rIns="0" bIns="0" rtlCol="0" anchor="t"/>
          <a:lstStyle/>
          <a:p>
            <a:pPr algn="ctr" indent="0" marL="0">
              <a:buNone/>
            </a:pPr>
            <a:r>
              <a:rPr lang="en-US" sz="1800" dirty="0">
                <a:solidFill>
                  <a:schemeClr val="tx2"/>
                </a:solidFill>
              </a:rPr>
              <a:t>What each figure rests on</a:t>
            </a:r>
            <a:endParaRPr lang="en-US" sz="1800" dirty="0"/>
          </a:p>
        </p:txBody>
      </p:sp>
      <p:sp>
        <p:nvSpPr>
          <p:cNvPr id="4" name="Text 0"/>
          <p:cNvSpPr/>
          <p:nvPr>
            <p:ph idx="102" type="body" hasCustomPrompt="1"/>
          </p:nvPr>
        </p:nvSpPr>
        <p:spPr>
          <a:xfrm>
            <a:off x="1280160" y="5961888"/>
            <a:ext cx="9631375" cy="502920"/>
          </a:xfrm>
          <a:prstGeom prst="rect">
            <a:avLst/>
          </a:prstGeom>
          <a:noFill/>
          <a:ln/>
        </p:spPr>
        <p:txBody>
          <a:bodyPr wrap="square" lIns="0" tIns="0" rIns="0" bIns="0" rtlCol="0" anchor="t"/>
          <a:lstStyle/>
          <a:p>
            <a:pPr algn="ctr" indent="0" marL="0">
              <a:buNone/>
            </a:pPr>
            <a:r>
              <a:rPr lang="en-US" sz="1100" dirty="0">
                <a:solidFill>
                  <a:schemeClr val="tx2"/>
                </a:solidFill>
              </a:rPr>
              <a:t>Full URLs, comparison caveats and the per-slide script are in the speaker notes. Checked 2026-10-05.</a:t>
            </a:r>
            <a:endParaRPr lang="en-US" sz="1100" dirty="0"/>
          </a:p>
        </p:txBody>
      </p:sp>
      <p:sp>
        <p:nvSpPr>
          <p:cNvPr id="6" name="Text 389"/>
          <p:cNvSpPr txBox="1"/>
          <p:nvPr/>
        </p:nvSpPr>
        <p:spPr>
          <a:xfrm>
            <a:off x="1463040" y="1920240"/>
            <a:ext cx="4572000" cy="512064"/>
          </a:xfrm>
          <a:prstGeom prst="rect">
            <a:avLst/>
          </a:prstGeom>
          <a:noFill/>
          <a:ln/>
        </p:spPr>
        <p:txBody>
          <a:bodyPr wrap="square" lIns="0" tIns="0" rIns="0" bIns="0" rtlCol="0" anchor="ctr"/>
          <a:lstStyle/>
          <a:p>
            <a:pPr indent="0" marL="0">
              <a:buNone/>
            </a:pPr>
            <a:r>
              <a:rPr lang="en-US" sz="1500" dirty="0">
                <a:solidFill>
                  <a:schemeClr val="tx1"/>
                </a:solidFill>
              </a:rPr>
              <a:t>Route times, 1946 service</a:t>
            </a:r>
            <a:endParaRPr lang="en-US" sz="1500" dirty="0"/>
          </a:p>
        </p:txBody>
      </p:sp>
      <p:sp>
        <p:nvSpPr>
          <p:cNvPr id="7" name="Text 390"/>
          <p:cNvSpPr txBox="1"/>
          <p:nvPr/>
        </p:nvSpPr>
        <p:spPr>
          <a:xfrm>
            <a:off x="6400800" y="1920240"/>
            <a:ext cx="4327855" cy="512064"/>
          </a:xfrm>
          <a:prstGeom prst="rect">
            <a:avLst/>
          </a:prstGeom>
          <a:noFill/>
          <a:ln/>
        </p:spPr>
        <p:txBody>
          <a:bodyPr wrap="square" lIns="0" tIns="0" rIns="0" bIns="0" rtlCol="0" anchor="ctr"/>
          <a:lstStyle/>
          <a:p>
            <a:pPr indent="0" marL="0">
              <a:buNone/>
            </a:pPr>
            <a:r>
              <a:rPr lang="en-US" sz="1500" dirty="0">
                <a:solidFill>
                  <a:schemeClr val="tx2"/>
                </a:solidFill>
              </a:rPr>
              <a:t>TWA Museum · History</a:t>
            </a:r>
            <a:endParaRPr lang="en-US" sz="1500" dirty="0"/>
          </a:p>
        </p:txBody>
      </p:sp>
      <p:sp>
        <p:nvSpPr>
          <p:cNvPr id="8" name="Line 391"/>
          <p:cNvSpPr/>
          <p:nvPr/>
        </p:nvSpPr>
        <p:spPr>
          <a:xfrm>
            <a:off x="1463040" y="2432304"/>
            <a:ext cx="9265615" cy="0"/>
          </a:xfrm>
          <a:prstGeom prst="line">
            <a:avLst/>
          </a:prstGeom>
          <a:noFill/>
          <a:ln w="9525">
            <a:solidFill>
              <a:schemeClr val="accent4"/>
            </a:solidFill>
            <a:prstDash val="solid"/>
          </a:ln>
        </p:spPr>
      </p:sp>
      <p:sp>
        <p:nvSpPr>
          <p:cNvPr id="9" name="Text 392"/>
          <p:cNvSpPr txBox="1"/>
          <p:nvPr/>
        </p:nvSpPr>
        <p:spPr>
          <a:xfrm>
            <a:off x="1463040" y="2432304"/>
            <a:ext cx="4572000" cy="512064"/>
          </a:xfrm>
          <a:prstGeom prst="rect">
            <a:avLst/>
          </a:prstGeom>
          <a:noFill/>
          <a:ln/>
        </p:spPr>
        <p:txBody>
          <a:bodyPr wrap="square" lIns="0" tIns="0" rIns="0" bIns="0" rtlCol="0" anchor="ctr"/>
          <a:lstStyle/>
          <a:p>
            <a:pPr indent="0" marL="0">
              <a:buNone/>
            </a:pPr>
            <a:r>
              <a:rPr lang="en-US" sz="1500" dirty="0">
                <a:solidFill>
                  <a:schemeClr val="tx1"/>
                </a:solidFill>
              </a:rPr>
              <a:t>Hughes, the 35-aircraft condition, cabin photo</a:t>
            </a:r>
            <a:endParaRPr lang="en-US" sz="1500" dirty="0"/>
          </a:p>
        </p:txBody>
      </p:sp>
      <p:sp>
        <p:nvSpPr>
          <p:cNvPr id="10" name="Text 393"/>
          <p:cNvSpPr txBox="1"/>
          <p:nvPr/>
        </p:nvSpPr>
        <p:spPr>
          <a:xfrm>
            <a:off x="6400800" y="2432304"/>
            <a:ext cx="4327855" cy="512064"/>
          </a:xfrm>
          <a:prstGeom prst="rect">
            <a:avLst/>
          </a:prstGeom>
          <a:noFill/>
          <a:ln/>
        </p:spPr>
        <p:txBody>
          <a:bodyPr wrap="square" lIns="0" tIns="0" rIns="0" bIns="0" rtlCol="0" anchor="ctr"/>
          <a:lstStyle/>
          <a:p>
            <a:pPr indent="0" marL="0">
              <a:buNone/>
            </a:pPr>
            <a:r>
              <a:rPr lang="en-US" sz="1500" dirty="0">
                <a:solidFill>
                  <a:schemeClr val="tx2"/>
                </a:solidFill>
              </a:rPr>
              <a:t>Lockheed Martin · Constellation history</a:t>
            </a:r>
            <a:endParaRPr lang="en-US" sz="1500" dirty="0"/>
          </a:p>
        </p:txBody>
      </p:sp>
      <p:sp>
        <p:nvSpPr>
          <p:cNvPr id="11" name="Line 394"/>
          <p:cNvSpPr/>
          <p:nvPr/>
        </p:nvSpPr>
        <p:spPr>
          <a:xfrm>
            <a:off x="1463040" y="2944368"/>
            <a:ext cx="9265615" cy="0"/>
          </a:xfrm>
          <a:prstGeom prst="line">
            <a:avLst/>
          </a:prstGeom>
          <a:noFill/>
          <a:ln w="9525">
            <a:solidFill>
              <a:schemeClr val="accent4"/>
            </a:solidFill>
            <a:prstDash val="solid"/>
          </a:ln>
        </p:spPr>
      </p:sp>
      <p:sp>
        <p:nvSpPr>
          <p:cNvPr id="12" name="Text 395"/>
          <p:cNvSpPr txBox="1"/>
          <p:nvPr/>
        </p:nvSpPr>
        <p:spPr>
          <a:xfrm>
            <a:off x="1463040" y="2944368"/>
            <a:ext cx="4572000" cy="512064"/>
          </a:xfrm>
          <a:prstGeom prst="rect">
            <a:avLst/>
          </a:prstGeom>
          <a:noFill/>
          <a:ln/>
        </p:spPr>
        <p:txBody>
          <a:bodyPr wrap="square" lIns="0" tIns="0" rIns="0" bIns="0" rtlCol="0" anchor="ctr"/>
          <a:lstStyle/>
          <a:p>
            <a:pPr indent="0" marL="0">
              <a:buNone/>
            </a:pPr>
            <a:r>
              <a:rPr lang="en-US" sz="1500" dirty="0">
                <a:solidFill>
                  <a:schemeClr val="tx1"/>
                </a:solidFill>
              </a:rPr>
              <a:t>Super Star and 707 performance</a:t>
            </a:r>
            <a:endParaRPr lang="en-US" sz="1500" dirty="0"/>
          </a:p>
        </p:txBody>
      </p:sp>
      <p:sp>
        <p:nvSpPr>
          <p:cNvPr id="13" name="Text 396"/>
          <p:cNvSpPr txBox="1"/>
          <p:nvPr/>
        </p:nvSpPr>
        <p:spPr>
          <a:xfrm>
            <a:off x="6400800" y="2944368"/>
            <a:ext cx="4327855" cy="512064"/>
          </a:xfrm>
          <a:prstGeom prst="rect">
            <a:avLst/>
          </a:prstGeom>
          <a:noFill/>
          <a:ln/>
        </p:spPr>
        <p:txBody>
          <a:bodyPr wrap="square" lIns="0" tIns="0" rIns="0" bIns="0" rtlCol="0" anchor="ctr"/>
          <a:lstStyle/>
          <a:p>
            <a:pPr indent="0" marL="0">
              <a:buNone/>
            </a:pPr>
            <a:r>
              <a:rPr lang="en-US" sz="1500" dirty="0">
                <a:solidFill>
                  <a:schemeClr val="tx2"/>
                </a:solidFill>
              </a:rPr>
              <a:t>Lufthansa · 100 Years / Fleet</a:t>
            </a:r>
            <a:endParaRPr lang="en-US" sz="1500" dirty="0"/>
          </a:p>
        </p:txBody>
      </p:sp>
      <p:sp>
        <p:nvSpPr>
          <p:cNvPr id="14" name="Line 397"/>
          <p:cNvSpPr/>
          <p:nvPr/>
        </p:nvSpPr>
        <p:spPr>
          <a:xfrm>
            <a:off x="1463040" y="3456432"/>
            <a:ext cx="9265615" cy="0"/>
          </a:xfrm>
          <a:prstGeom prst="line">
            <a:avLst/>
          </a:prstGeom>
          <a:noFill/>
          <a:ln w="9525">
            <a:solidFill>
              <a:schemeClr val="accent4"/>
            </a:solidFill>
            <a:prstDash val="solid"/>
          </a:ln>
        </p:spPr>
      </p:sp>
      <p:sp>
        <p:nvSpPr>
          <p:cNvPr id="15" name="Text 398"/>
          <p:cNvSpPr txBox="1"/>
          <p:nvPr/>
        </p:nvSpPr>
        <p:spPr>
          <a:xfrm>
            <a:off x="1463040" y="3456432"/>
            <a:ext cx="4572000" cy="512064"/>
          </a:xfrm>
          <a:prstGeom prst="rect">
            <a:avLst/>
          </a:prstGeom>
          <a:noFill/>
          <a:ln/>
        </p:spPr>
        <p:txBody>
          <a:bodyPr wrap="square" lIns="0" tIns="0" rIns="0" bIns="0" rtlCol="0" anchor="ctr"/>
          <a:lstStyle/>
          <a:p>
            <a:pPr indent="0" marL="0">
              <a:buNone/>
            </a:pPr>
            <a:r>
              <a:rPr lang="en-US" sz="1500" dirty="0">
                <a:solidFill>
                  <a:schemeClr val="tx1"/>
                </a:solidFill>
              </a:rPr>
              <a:t>856, 44, 123 ft</a:t>
            </a:r>
            <a:endParaRPr lang="en-US" sz="1500" dirty="0"/>
          </a:p>
        </p:txBody>
      </p:sp>
      <p:sp>
        <p:nvSpPr>
          <p:cNvPr id="16" name="Text 399"/>
          <p:cNvSpPr txBox="1"/>
          <p:nvPr/>
        </p:nvSpPr>
        <p:spPr>
          <a:xfrm>
            <a:off x="6400800" y="3456432"/>
            <a:ext cx="4327855" cy="512064"/>
          </a:xfrm>
          <a:prstGeom prst="rect">
            <a:avLst/>
          </a:prstGeom>
          <a:noFill/>
          <a:ln/>
        </p:spPr>
        <p:txBody>
          <a:bodyPr wrap="square" lIns="0" tIns="0" rIns="0" bIns="0" rtlCol="0" anchor="ctr"/>
          <a:lstStyle/>
          <a:p>
            <a:pPr indent="0" marL="0">
              <a:buNone/>
            </a:pPr>
            <a:r>
              <a:rPr lang="en-US" sz="1500" dirty="0">
                <a:solidFill>
                  <a:schemeClr val="tx2"/>
                </a:solidFill>
              </a:rPr>
              <a:t>SCFA · History L-1049 / Technical data</a:t>
            </a:r>
            <a:endParaRPr lang="en-US" sz="1500" dirty="0"/>
          </a:p>
        </p:txBody>
      </p:sp>
      <p:sp>
        <p:nvSpPr>
          <p:cNvPr id="17" name="Line 400"/>
          <p:cNvSpPr/>
          <p:nvPr/>
        </p:nvSpPr>
        <p:spPr>
          <a:xfrm>
            <a:off x="1463040" y="3968496"/>
            <a:ext cx="9265615" cy="0"/>
          </a:xfrm>
          <a:prstGeom prst="line">
            <a:avLst/>
          </a:prstGeom>
          <a:noFill/>
          <a:ln w="9525">
            <a:solidFill>
              <a:schemeClr val="accent4"/>
            </a:solidFill>
            <a:prstDash val="solid"/>
          </a:ln>
        </p:spPr>
      </p:sp>
      <p:sp>
        <p:nvSpPr>
          <p:cNvPr id="18" name="Text 401"/>
          <p:cNvSpPr txBox="1"/>
          <p:nvPr/>
        </p:nvSpPr>
        <p:spPr>
          <a:xfrm>
            <a:off x="1463040" y="3968496"/>
            <a:ext cx="4572000" cy="512064"/>
          </a:xfrm>
          <a:prstGeom prst="rect">
            <a:avLst/>
          </a:prstGeom>
          <a:noFill/>
          <a:ln/>
        </p:spPr>
        <p:txBody>
          <a:bodyPr wrap="square" lIns="0" tIns="0" rIns="0" bIns="0" rtlCol="0" anchor="ctr"/>
          <a:lstStyle/>
          <a:p>
            <a:pPr indent="0" marL="0">
              <a:buNone/>
            </a:pPr>
            <a:r>
              <a:rPr lang="en-US" sz="1500" dirty="0">
                <a:solidFill>
                  <a:schemeClr val="tx1"/>
                </a:solidFill>
              </a:rPr>
              <a:t>120 ft first flight</a:t>
            </a:r>
            <a:endParaRPr lang="en-US" sz="1500" dirty="0"/>
          </a:p>
        </p:txBody>
      </p:sp>
      <p:sp>
        <p:nvSpPr>
          <p:cNvPr id="19" name="Text 402"/>
          <p:cNvSpPr txBox="1"/>
          <p:nvPr/>
        </p:nvSpPr>
        <p:spPr>
          <a:xfrm>
            <a:off x="6400800" y="3968496"/>
            <a:ext cx="4327855" cy="512064"/>
          </a:xfrm>
          <a:prstGeom prst="rect">
            <a:avLst/>
          </a:prstGeom>
          <a:noFill/>
          <a:ln/>
        </p:spPr>
        <p:txBody>
          <a:bodyPr wrap="square" lIns="0" tIns="0" rIns="0" bIns="0" rtlCol="0" anchor="ctr"/>
          <a:lstStyle/>
          <a:p>
            <a:pPr indent="0" marL="0">
              <a:buNone/>
            </a:pPr>
            <a:r>
              <a:rPr lang="en-US" sz="1500" dirty="0">
                <a:solidFill>
                  <a:schemeClr val="tx2"/>
                </a:solidFill>
              </a:rPr>
              <a:t>U.S. National Park Service</a:t>
            </a:r>
            <a:endParaRPr lang="en-US" sz="1500" dirty="0"/>
          </a:p>
        </p:txBody>
      </p:sp>
      <p:sp>
        <p:nvSpPr>
          <p:cNvPr id="20" name="Line 403"/>
          <p:cNvSpPr/>
          <p:nvPr/>
        </p:nvSpPr>
        <p:spPr>
          <a:xfrm>
            <a:off x="1463040" y="4480560"/>
            <a:ext cx="9265615" cy="0"/>
          </a:xfrm>
          <a:prstGeom prst="line">
            <a:avLst/>
          </a:prstGeom>
          <a:noFill/>
          <a:ln w="9525">
            <a:solidFill>
              <a:schemeClr val="accent4"/>
            </a:solidFill>
            <a:prstDash val="solid"/>
          </a:ln>
        </p:spPr>
      </p:sp>
      <p:sp>
        <p:nvSpPr>
          <p:cNvPr id="21" name="Text 404"/>
          <p:cNvSpPr txBox="1"/>
          <p:nvPr/>
        </p:nvSpPr>
        <p:spPr>
          <a:xfrm>
            <a:off x="1463040" y="4480560"/>
            <a:ext cx="4572000" cy="512064"/>
          </a:xfrm>
          <a:prstGeom prst="rect">
            <a:avLst/>
          </a:prstGeom>
          <a:noFill/>
          <a:ln/>
        </p:spPr>
        <p:txBody>
          <a:bodyPr wrap="square" lIns="0" tIns="0" rIns="0" bIns="0" rtlCol="0" anchor="ctr"/>
          <a:lstStyle/>
          <a:p>
            <a:pPr indent="0" marL="0">
              <a:buNone/>
            </a:pPr>
            <a:r>
              <a:rPr lang="en-US" sz="1500" dirty="0">
                <a:solidFill>
                  <a:schemeClr val="tx1"/>
                </a:solidFill>
              </a:rPr>
              <a:t>Air Force One, EC-121</a:t>
            </a:r>
            <a:endParaRPr lang="en-US" sz="1500" dirty="0"/>
          </a:p>
        </p:txBody>
      </p:sp>
      <p:sp>
        <p:nvSpPr>
          <p:cNvPr id="22" name="Text 405"/>
          <p:cNvSpPr txBox="1"/>
          <p:nvPr/>
        </p:nvSpPr>
        <p:spPr>
          <a:xfrm>
            <a:off x="6400800" y="4480560"/>
            <a:ext cx="4327855" cy="512064"/>
          </a:xfrm>
          <a:prstGeom prst="rect">
            <a:avLst/>
          </a:prstGeom>
          <a:noFill/>
          <a:ln/>
        </p:spPr>
        <p:txBody>
          <a:bodyPr wrap="square" lIns="0" tIns="0" rIns="0" bIns="0" rtlCol="0" anchor="ctr"/>
          <a:lstStyle/>
          <a:p>
            <a:pPr indent="0" marL="0">
              <a:buNone/>
            </a:pPr>
            <a:r>
              <a:rPr lang="en-US" sz="1500" dirty="0">
                <a:solidFill>
                  <a:schemeClr val="tx2"/>
                </a:solidFill>
              </a:rPr>
              <a:t>U.S. Air Force / National Museum</a:t>
            </a:r>
            <a:endParaRPr lang="en-US" sz="1500" dirty="0"/>
          </a:p>
        </p:txBody>
      </p:sp>
      <p:sp>
        <p:nvSpPr>
          <p:cNvPr id="23" name="Line 406"/>
          <p:cNvSpPr/>
          <p:nvPr/>
        </p:nvSpPr>
        <p:spPr>
          <a:xfrm>
            <a:off x="1463040" y="4992624"/>
            <a:ext cx="9265615" cy="0"/>
          </a:xfrm>
          <a:prstGeom prst="line">
            <a:avLst/>
          </a:prstGeom>
          <a:noFill/>
          <a:ln w="9525">
            <a:solidFill>
              <a:schemeClr val="accent4"/>
            </a:solidFill>
            <a:prstDash val="solid"/>
          </a:ln>
        </p:spPr>
      </p:sp>
      <p:sp>
        <p:nvSpPr>
          <p:cNvPr id="24" name="Text 407"/>
          <p:cNvSpPr txBox="1"/>
          <p:nvPr/>
        </p:nvSpPr>
        <p:spPr>
          <a:xfrm>
            <a:off x="1463040" y="4992624"/>
            <a:ext cx="4572000" cy="512064"/>
          </a:xfrm>
          <a:prstGeom prst="rect">
            <a:avLst/>
          </a:prstGeom>
          <a:noFill/>
          <a:ln/>
        </p:spPr>
        <p:txBody>
          <a:bodyPr wrap="square" lIns="0" tIns="0" rIns="0" bIns="0" rtlCol="0" anchor="ctr"/>
          <a:lstStyle/>
          <a:p>
            <a:pPr indent="0" marL="0">
              <a:buNone/>
            </a:pPr>
            <a:r>
              <a:rPr lang="en-US" sz="1500" dirty="0">
                <a:solidFill>
                  <a:schemeClr val="tx1"/>
                </a:solidFill>
              </a:rPr>
              <a:t>Restoration cost and display status</a:t>
            </a:r>
            <a:endParaRPr lang="en-US" sz="1500" dirty="0"/>
          </a:p>
        </p:txBody>
      </p:sp>
      <p:sp>
        <p:nvSpPr>
          <p:cNvPr id="25" name="Text 408"/>
          <p:cNvSpPr txBox="1"/>
          <p:nvPr/>
        </p:nvSpPr>
        <p:spPr>
          <a:xfrm>
            <a:off x="6400800" y="4992624"/>
            <a:ext cx="4327855" cy="512064"/>
          </a:xfrm>
          <a:prstGeom prst="rect">
            <a:avLst/>
          </a:prstGeom>
          <a:noFill/>
          <a:ln/>
        </p:spPr>
        <p:txBody>
          <a:bodyPr wrap="square" lIns="0" tIns="0" rIns="0" bIns="0" rtlCol="0" anchor="ctr"/>
          <a:lstStyle/>
          <a:p>
            <a:pPr indent="0" marL="0">
              <a:buNone/>
            </a:pPr>
            <a:r>
              <a:rPr lang="en-US" sz="1500" dirty="0">
                <a:solidFill>
                  <a:schemeClr val="tx2"/>
                </a:solidFill>
              </a:rPr>
              <a:t>aeroTELEGRAPH (2020) / Lufthansa (2025)</a:t>
            </a:r>
            <a:endParaRPr lang="en-US" sz="1500" dirty="0"/>
          </a:p>
        </p:txBody>
      </p:sp>
      <p:sp>
        <p:nvSpPr>
          <p:cNvPr id="25" name="Slide Number Placeholder 0"/>
          <p:cNvSpPr>
            <a:spLocks noGrp="1"/>
          </p:cNvSpPr>
          <p:nvPr>
            <p:ph type="sldNum" sz="quarter" idx="4294967295"/>
          </p:nvPr>
        </p:nvSpPr>
        <p:spPr>
          <a:xfrm>
            <a:off x="1127455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36366"/>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Constellation Keynote">
  <a:themeElements>
    <a:clrScheme name="Constellation Keynote">
      <a:dk1>
        <a:srgbClr val="F5F5F7"/>
      </a:dk1>
      <a:lt1>
        <a:srgbClr val="000000"/>
      </a:lt1>
      <a:dk2>
        <a:srgbClr val="8E8E93"/>
      </a:dk2>
      <a:lt2>
        <a:srgbClr val="1C1C1E"/>
      </a:lt2>
      <a:accent1>
        <a:srgbClr val="FF9F0A"/>
      </a:accent1>
      <a:accent2>
        <a:srgbClr val="3A3A3C"/>
      </a:accent2>
      <a:accent3>
        <a:srgbClr val="636366"/>
      </a:accent3>
      <a:accent4>
        <a:srgbClr val="2C2C2E"/>
      </a:accent4>
      <a:accent5>
        <a:srgbClr val="FFFFFF"/>
      </a:accent5>
      <a:accent6>
        <a:srgbClr val="48484A"/>
      </a:accent6>
      <a:hlink>
        <a:srgbClr val="FF9F0A"/>
      </a:hlink>
      <a:folHlink>
        <a:srgbClr val="8E8E93"/>
      </a:folHlink>
    </a:clrScheme>
    <a:fontScheme name="Constellation Keynot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Lockheed Constellation — Making the long journey something to look forward to</dc:title>
  <dc:subject>Engineering, business and aviation history</dc:subject>
  <dc:creator>Constellation Visual Pitch</dc:creator>
  <cp:lastModifiedBy>Constellation Visual Pitch</cp:lastModifiedBy>
  <cp:revision>1</cp:revision>
  <dcterms:created xsi:type="dcterms:W3CDTF">2026-10-05T05:24:25Z</dcterms:created>
  <dcterms:modified xsi:type="dcterms:W3CDTF">2026-10-05T05:24:25Z</dcterms:modified>
</cp:coreProperties>
</file>