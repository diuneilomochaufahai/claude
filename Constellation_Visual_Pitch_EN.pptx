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d09ddd-4963-c183-eefb-76760614c97b}">
          <p14:sldIdLst>
            <p14:sldId id="256"/>
            <p14:sldId id="257"/>
          </p14:sldIdLst>
        </p14:section>
        <p14:section name="Time" id="{79c19898-6a6b-698b-ca2f-314df7170c23}">
          <p14:sldIdLst>
            <p14:sldId id="258"/>
          </p14:sldIdLst>
        </p14:section>
        <p14:section name="Engineering" id="{f611f0be-f1ff-a729-618a-3248461cc532}">
          <p14:sldIdLst>
            <p14:sldId id="259"/>
            <p14:sldId id="260"/>
            <p14:sldId id="261"/>
            <p14:sldId id="262"/>
          </p14:sldIdLst>
        </p14:section>
        <p14:section name="Experience" id="{007ac9c5-e426-408d-b92a-e8fa58a4ca19}">
          <p14:sldIdLst>
            <p14:sldId id="263"/>
          </p14:sldIdLst>
        </p14:section>
        <p14:section name="The Deal" id="{d07aec48-a1fd-f5b3-8932-a7868d31f208}">
          <p14:sldIdLst>
            <p14:sldId id="264"/>
            <p14:sldId id="265"/>
            <p14:sldId id="266"/>
            <p14:sldId id="267"/>
          </p14:sldIdLst>
        </p14:section>
        <p14:section name="History" id="{7f60d6ab-588e-3883-b05d-a7721693d84b}">
          <p14:sldIdLst>
            <p14:sldId id="269"/>
            <p14:sldId id="270"/>
            <p14:sldId id="271"/>
            <p14:sldId id="272"/>
            <p14:sldId id="273"/>
          </p14:sldIdLst>
        </p14:section>
        <p14:section name="Closing" id="{77fc7dd8-ce35-c2c1-a665-edaa768a1a2d}">
          <p14:sldIdLst>
            <p14:sldId id="274"/>
          </p14:sldIdLst>
        </p14:section>
        <p14:section name="Backup" id="{79f893b3-3867-8e3a-268b-373a29ffcb32}">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Constellation (0:00–0:20)
Key Visual Takeaway: The value of an aircraft lies in making a long journey something to look forward to.
Everyone, if a long journey is already something to look forward to, what kind of aircraft would you choose? Today, I want to introduce the Lockheed Constellation, affectionately known as Connie. We'll start with the time passengers feel the most, then look closer at the engineering, commercial strategy, and history behind it.
Delivery Cue: Pause for two seconds at the start, then reveal Connie.
Image: TWA Super Constellation photo carried over from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Connie (basic introduction, ~0:20)
Key Visual Takeaway: Four numbers that define the aircraft.
Before we start, four numbers. Thirteen thousand six hundred horsepower from four engines. A cruise of about four hundred eighty to five hundred kilometers an hour. A published range of nine and a half to ten thousand kilometers. And a wingspan of one hundred twenty-three feet. Keep these in mind; each one comes back later in the talk.
— Caveats and sources —
Power, speed and range: L-1649A Super Star (Lufthansa historical data). Wingspan: HB-RSC Super Constellation (SCFA published data). Fuel load, engine configuration, payload and operating conditions all affect performance.
References: lh, scfa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Crossing America: From a Day and a Half to Eight Hours (0:20–0:52)
Key Visual Takeaway: Compressing a long trip into a single day changes how passengers perceive distance.
These two lengths represent TWA's service across two different eras. In 1930, crossing the U.S. took 36 hours, which included an overnight stay in Kansas City. By 1953, the Super Constellation's eastbound direct flight from Los Angeles to New York took only eight hours. You can think of it like this: an itinerary that used to take a day and a half was shrunk down to about one workday. This is a comparison of route services across eras; the reduced time also reflects the introduction of direct flights and operational improvements.
Delivery Cue: Point to the long bar first, then the short bar. Both bars share a zero point; don't attribute all time improvements solely to aircraft speed.
— Caveats and sources —
A comparison of route services from different eras, not a speed test of a single aircraft.
Source (checked 2026-10-05): https://twamuseum.org/history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Four Engines, How Much Combined Power? (0:52–1:22)
Key Visual Takeaway: Four engines at ~3,400 hp each total ~13,600 hp.
And how did this family of aircraft manage long-haul flights? Look at these four circles; each represents an engine. Taking data from the later Lufthansa Super Star as an example, each Wright R-3350 engine produced about 3,400 horsepower. Four combined give you roughly 13,600 horsepower. Each is an 18-cylinder, twin-row radial design. This massive power pushed the performance of propeller-driven airliners to new heights, but it also brought complex maintenance demands.
Delivery Cue: Point to each of the four engines one by one, then point to the total. The slide specifies the L-1649A; do not apply this to all early Connies.
— Caveats and sources —
Figures vary by model and engine configuration; not a specification shared across the whole family.
Sources (checked 2026-10-05):
https://www.lufthansa.com/ba/en/100-years/fleet
https://www.f35.com/en-us/news/features/history/constellation.html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One Minute, About Eight Kilometers (1:22–1:48)
Key Visual Takeaway: Converting cruising speed into distance per minute makes it easier to grasp.
480 to 500 kilometers per hour still sounds a bit abstract. Let's frame it differently: in the time it takes you to speak for about a minute, the aircraft has already moved forward by roughly eight kilometers in the air. This is a wind-free illustration based on cruising speed. Maximum speed and cruising speed are two different things, so we shouldn't treat the absolute fastest number as a speed that can be maintained for the whole flight.
Delivery Cue: Each segment in the diagram represents one kilometer; the speaker only emphasizes that one minute equals about eight kilometers.
— Caveats and sources —
480 ÷ 60 = 8; about 8–8.3 km/min across the cruise range. Still-air illustration; actual ground speed depends on wind. Example: L-1649A Super Star.
Source (checked 2026-10-05): https://www.lufthansa.com/ba/en/100-years/fleet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One Wingspan Already Exceeds the First Flight's Distance (1:48–2:18)
Key Visual Takeaway: The complete wingspan of 123 feet is slightly longer than the 1903 first flight's 120 feet.
Let's look at this comparison. The Wright brothers' first successful flight in 1903 covered 120 feet. For this Super Constellation example, the complete wingspan is 123 feet. The two lines use the same scale and differ by only three feet. The entire distance humanity first managed to fly later became roughly the width between the wingtips of a single airliner. This is the scale of aviation progress over just a few decades.
Delivery Cue: You must mention "complete wingspan"; the two proportion lines only differ by 2.5%, so don't exaggerate the gap.
— Caveats and sources —
Wingspan from SCFA HB-RSC data; first-flight distance from the U.S. National Park Service. Wingspan is tip to tip, not a single wing. 3 ft ≈ 0.91 m.
Sources (checked 2026-10-05):
https://www.superconstellation.ch/index.php/en/flugzeuge-en/l-1049-hb-rsc-en/technische-daten-en
https://www.nps.gov/places/000/first-flight-landing.htm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Behind the Comfort Lies an Engineering System (2:18–2:50)
Key Visual Takeaway: Pressurization takes care of passengers; hydraulic assistance helps pilots handle large aircraft.
To fly far, you also need to fly comfortably. The pressurization system maintains a more suitable air pressure in the high-altitude cabin, which, combined with a higher cruising altitude, helps reduce the impact of low-altitude weather. On the other hand, hydraulic boost amplifies the pilots' control inputs, making the massive aircraft easier to fly. Pressurization doesn't mean zero turbulence, nor was this the very first pressurized civilian airliner. Connie's true appeal was how it integrated these technologies into a long-haul travel experience.
Delivery Cue: The top half addresses passengers, the bottom half addresses pilots. The pressure graphic is a conceptual diagram, not actual cabin pressure values.
— Caveats and sources —
The Boeing 307 was the first pressurized airliner. Arrows are schematic, not a precision system diagram.
Sources (checked 2026-10-05):
https://www.f35.com/en-us/news/features/history/constellation.html
https://www.si.edu/object/lockheed-1049f-55-96-constellation%3Anasm_A19880371000
https://www.sfomuseum.org/exhibitions/queen-skies-legacy-lockheed-constellation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One More Thing... The Journey Itself is Worth Looking Forward To (2:50–3:26)
Key Visual Takeaway: Some luxury configurations turned long night flights into time for resting and socializing.
However, there is one more thing. The best experience awaits when you step inside the cabin. Take the Lufthansa Super Star's transatlantic journey as an example, where a flight could take up to 17 hours. Some luxury configurations featured lounges and overnight sleeper berths, allowing you to dine, chat, and then rest. Imagine putting down your book, getting ready for a good sleep, and waking up to greet a new city. That long stretch of time suddenly gained a completely different use.
Delivery Cue: Pause for two seconds before pointing out the day/night workflow. Services varied by airline and configuration; the graphic is a conceptual journey and doesn't invent dining or sleeping durations.
— Caveats and sources —
Photo: M-049 cabin from Lockheed's official history page, not the Lufthansa L-1649A. The sequence does not represent fixed service durations.
Sources (checked 2026-10-05):
https://www.f35.com/en-us/news/features/history/constellation.html
https://www.lufthansa.com/ba/en/100-years/fleet
https://cdn0.scrvt.com/fcc1c913dc63063c259fa05200249ccd/0b731d3206c7515e/bf1389bccf84/The-history-of-Lufthansa-Technik.pdf
Image: https://www.f35.com/content/dam/lockheed-martin/eo/photo/historical-programs/constellation/constellation-interior.jpg.pc-adaptive.full.medium.jpg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Deal, part 1: 1939 (3:26)
Key Visual Takeaway: Before Hughes moved, every airline was flying the same old aircraft.
Now the best part. Hughes's secret contract was a textbook play: insider access plus first-mover advantage. In 1939, every airline was still plodding along on old types like the DC-3, all waiting politely in the same line.
Delivery Cue: Slow down. This is the start of the climax; let the "1939" sit for a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Deal, part 2: the secret contract (3:40)
Key Visual Takeaway: The priority delivery condition gave TWA a chance to launch a new product earlier.
Hughes was like the bartender friend who whispers which table just became available. He got Lockheed's engineers on his side as insiders and quietly signed an exclusive supply deal. According to Lockheed's historical account, Lockheed could not sell to other U.S. transcontinental airlines until TWA had received 35 aircraft. This gate on the chart is that threshold. Think of it as taking the whole pre-IPO allocation before the IPO is even announced.
Delivery Cue: The 35 blocks are one aircraft each and show the agreement threshold, not a claim that 35 were delivered before the war. The restricted target is "other transcontinental airlines." "Insider" and "first-mover" are a storytelling frame; the clause had specific targets and conditions and was not a permanent monopoly.
— Caveats and sources —
Reference: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Deal, part 3: Trippe finds out too late (3:55)
Key Visual Takeaway: Hughes bought time; rivals could only queue behind TWA.
Pan Am's Juan Trippe was still doing it the conventional way, slowly talking to Boeing and Douglas. He didn't know the fight had already been decided the moment Hughes signed. When the Constellation was announced, Trippe discovered he'd been outmaneuvered: even if he ordered now, he'd wait years, because TWA was already at the front of the line. Picture standing there holding your champagne while the person next to you walks out with the prize.
Delivery Cue: Point to TWA at the front, then sweep along the queue. Keep it playful; this is the laugh line.
— Caveats and sources —
Reference: lm. The Pan Am and Trippe framing is narrative color from the presenter's script; the documented fact is the 35-aircraft priority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Deal, part 4: the black swan (4:10)
Key Visual Takeaway: A black swan event blew a hole straight through Hughes's competitive moat.
But the plot has a black swan. Pearl Harbor explodes, and the U.S. military takes over Constellation production for military transport. Hughes's first-mover advantage evaporates in a second: you've just locked in the prize, and the government walks in and says "all of it is requisitioned." His exclusive contract turned into waste paper, and after the war every airline lined up again from scratch.
So, clearly: Hughes thought he was a top Wall Street shark, and history's black swan slapped him awake. Lesson learned?
Delivery Cue: Pause after "Pearl Harbor." Drop the volume for the last line.
Reference: lm, 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From Secret R&amp;D to Post-War Civilian Aviation (4:04–4:36)
Key Visual Takeaway: 1939, 1941, 1943, 1946 string together a path rewritten by war.
Commercial plans, however, must face history. From left to right: in 1939, Hughes helped drive the development; in 1941, the U.S. entered the war; in 1942, the military took over production, and the prototype first flew in 1943 as the C-69. It wasn't until February 1946 that TWA inaugurated its transatlantic civilian service using the Constellation. This middle section of the timeline explains why the product's commercial launch was much more turbulent than originally envisioned.
Delivery Cue: Follow the timeline from left to right. The main axis is scaled by year; 1942 is added in the war interval section.
— Caveats and sources —
Main axis proportional to year. Sources (checked 2026-10-05): Lockheed, Smithsonian, TWA Museum.
https://www.f35.com/en-us/news/features/history/constellation.html
https://twamuseum.org/history
https://www.si.edu/object/lockheed-1049f-55-96-constellation%3Anasm_A19880371000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Connie is Actually an Evolving Family (4:36–5:06)
Key Visual Takeaway: Early airliners, stretched fuselages, and longer ranges mark the evolution across different models.
So, when talking about the Constellation, we must distinguish between the models. The early L-049 entered civilian service after the war. The L-1049 Super Constellation, entering service in 1951, featured a stretched fuselage, increasing both capacity and capability. In 1957, the L-1649A Starliner used a new wing to push ultra-long-haul ranges even further. Lufthansa called it the Super Star. The horsepower and speed figures we discussed earlier were clearly labeled with the specific example used.
Delivery Cue: The three nodes represent models and their service entry years, not a complete family tree of all sub-variants.
— Caveats and sources —
Years are when representative models entered service, not first flights. Photo: Constellation from Lockheed's history page.
Sources (checked 2026-10-05):
https://www.si.edu/object/lockheed-1049f-55-96-constellation%3Anasm_A19880371000
https://www.lufthansa.com/ba/en/100-years/fleet
Image: https://www.f35.com/content/dam/lockheed-martin/eo/photo/historical-programs/constellation/constellation-in-flight-3.jpg.pc-adaptive.full.medium.jpg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856 Aircraft, How Big is That Scale? (5:06–5:34)
Key Visual Takeaway: Eight sets of 100, plus 56; the final Starliner model accounted for only about 5%.
The entire family saw a total production of 856 aircraft. You don't need to memorize the number; just look at this chart: each block represents ten aircraft—eight complete rows of one hundred, plus another 56. This includes both civilian and military variants. The final development, the Starliner, had 44 units built, making up about 5% of the whole family. This proportion also reminds us: just because a family is highly successful doesn't mean every generation will enjoy an equally long market window.
Delivery Cue: The final half-block precisely represents 6 aircraft; the Starliner proportion is calculated as 44÷856, roughly 5.1%.
— Caveats and sources —
Each full block is 10 aircraft; split blocks show the exact count. Amber marks the 44 Starliners (44 ÷ 856 ≈ 5.1%). Civil and military included.
Source (checked 2026-10-05): https://www.superconstellation.ch/index.php/en/flugzeuge-en/l-1049-hb-rsc-en/171-geschichte-l-1049-en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The Same Family Stepping into Different Historical Roles (5:34–6:06)
Key Visual Takeaway: Passengers, a President, and the military used different variants of the same aircraft family.
This family's influence also extended well beyond civilian aviation. Orville Wright's final flight of his life in 1944 was aboard a Constellation. By 1953, Dwight D. Eisenhower's Columbine II became the first to use the "Air Force One" callsign. The EC-121 variant was equipped with radar to carry out airborne early warning missions. Different configurations answered different needs, allowing the same design family to write itself into multiple chapters of history.
Delivery Cue: The three branches represent roles, not three functions installed on the exact same plane simultaneously.
— Caveats and sources —
Air Force One is the call sign used when the president is aboard a U.S. Air Force aircraft, not an aircraft type.
Sources (checked 2026-10-05):
https://www.f35.com/en-us/news/features/history/constellation.html
https://www.airmanmagazine.af.mil/Features/Display/Article/2592502/original-air-force-one/
https://www.nationalmuseum.af.mil/Visit/Museum-Exhibits/Fact-Sheets/Display/Article/196058/lockheed-ec-121d-constellation/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The Next Era Came Very Quickly (6:06–6:36)
Key Visual Takeaway: The jet aircraft's speed advantage compressed the market window for the final Connies.
But by the late 1950s, another era had already arrived. Comparing Lufthansa's historical data: the Super Star cruised at roughly 480 to 500 kilometers per hour, while the Boeing 707 hit 880 to 900. Using the same ruler for both bars, the speed was nearly doubled. The Super Star joined Lufthansa in 1957; by 1960, Lufthansa had already entered the 707 jet age. Technology and passenger expectations keep moving forward, and even classics must face the next generation.
Delivery Cue: Thick bars show the cruising range; do not combine lower and upper limits to exaggerate the multiplier. This compares speed; do not automatically equate it to flight time being halved.
— Caveats and sources —
Shared zero; the solid band shows the cruise range, with a thin line back to zero. Years are when Lufthansa introduced each type, not first flights.
Source (checked 2026-10-05): https://www.lufthansa.com/ba/en/100-years/fleet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€150m: The True Cost of Preserving a Legend (6:36–7:12)
Key Visual Takeaway: Restoration required massive investment, but the original goal of returning to the skies was ultimately adjusted to a static display.
Let's bring the timeline a bit closer to today. In 2007, Lufthansa-affiliated organizations purchased airframes to launch a project to preserve a Super Star. In 2018, the project to restore it to flying condition was halted, and it was shipped back to Germany in 2019. Reports quoting Lufthansa's CEO indicated that total costs during this period reached 150 million euros, which included external donations and sponsorships. By 2025, Lufthansa announced the completion of its non-airworthy restoration. This number represents the investment required to preserve history, while also illustrating how a dream sometimes has to adjust its goals.
Delivery Cue: €150m only corresponds to the 2007–2019 project costs; it does not extend to the 2025 total cost, nor does it represent the aircraft's market valuation.
— Caveats and sources —
Sequence of events, not to scale. €150m includes external donations and sponsorship; it is not the aircraft's market value or total spend through 2025.
Sources (checked 2026-10-05):
https://www.aerotelegraph.com/galerie/gescheiterte-restaurierung-kostete-150-millionen/5c3fy6k
https://newsroom.lufthansagroup.com/en/lufthansa-celebrates-roll-out-of-the-legendary-lockheed-super-star/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What Kind of Journey Would You Choose? (7:12–7:37)
Key Visual Takeaway: Design, experience, and history together explain why Connie is worth remembering.
Returning to our initial question: what kind of aircraft would you choose? Connie shows us that technology can alter the time spent traveling far from home, design can make a journey worth looking forward to, and the story of an aircraft can outlive its commercial lifespan. If we could go back to that era, I invite you to step aboard Connie and experience it for yourself. Thank you.
Delivery Cue: The three threads converge here (time, design, history). Say thank you only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backup; not counted in the main talk time.
"First-mover advantage" is a strategic interpretation; an exclusive purchase arrangement should not be described as insider dealing.
https://www.sfomuseum.org/exhibitions/queen-skies-legacy-lockheed-constellation
https://www.f35.com/en-us/news/features/history/constellation.html
https://www.superconstellation.ch/index.php/en/flugzeuge-en/l-1049-hb-rsc-en/technische-daten-en
https://www.aerotelegraph.com/galerie/gescheiterte-restaurierung-kostete-150-millionen/5c3fy6k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reference list. Short keys are used in the speaker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rtlCol="0"/>
          <a:lstStyle>
            <a:lvl1pPr algn="ctr" indent="0" marL="0">
              <a:buNone/>
              <a:defRPr lang="en-US" sz="2400" dirty="0">
                <a:solidFill>
                  <a:schemeClr val="tx2"/>
                </a:solidFill>
              </a:defRPr>
            </a:lvl1pPr>
          </a:lstStyle>
          <a:p>
            <a:pPr algn="ctr" indent="0" marL="0">
              <a:buNone/>
            </a:pP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rtlCol="0"/>
          <a:lstStyle>
            <a:lvl1pPr algn="ctr" indent="0" marL="0">
              <a:buNone/>
              <a:defRPr lang="en-US" sz="2800" dirty="0">
                <a:solidFill>
                  <a:schemeClr val="tx1"/>
                </a:solidFill>
              </a:defRPr>
            </a:lvl1pPr>
          </a:lstStyle>
          <a:p>
            <a:pPr algn="ctr" indent="0" marL="0">
              <a:buNone/>
            </a:pPr>
            <a:endParaRPr lang="en-US" sz="2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rtlCol="0"/>
          <a:lstStyle>
            <a:lvl1pPr algn="ctr" indent="0" marL="0">
              <a:buNone/>
              <a:defRPr lang="en-US" sz="2400" dirty="0">
                <a:solidFill>
                  <a:schemeClr val="tx2"/>
                </a:solidFill>
              </a:defRPr>
            </a:lvl1pPr>
          </a:lstStyle>
          <a:p>
            <a:pPr algn="ctr" indent="0" marL="0">
              <a:buNone/>
            </a:pPr>
            <a:endParaRPr lang="en-US" sz="24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NOSUB">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rtlCol="0"/>
          <a:lstStyle>
            <a:lvl1pPr algn="ctr" indent="0" marL="0">
              <a:buNone/>
              <a:defRPr lang="en-US" sz="2800" dirty="0">
                <a:solidFill>
                  <a:schemeClr val="tx1"/>
                </a:solidFill>
              </a:defRPr>
            </a:lvl1pPr>
          </a:lstStyle>
          <a:p>
            <a:pPr algn="ctr" indent="0" marL="0">
              <a:buNone/>
            </a:pPr>
            <a:endParaRPr lang="en-US" sz="2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5.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822960" y="868680"/>
            <a:ext cx="548640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LOCKHEED CONSTELLATION</a:t>
            </a:r>
            <a:endParaRPr lang="en-US" sz="1500" dirty="0"/>
          </a:p>
        </p:txBody>
      </p:sp>
      <p:sp>
        <p:nvSpPr>
          <p:cNvPr id="3" name="Text 2"/>
          <p:cNvSpPr txBox="1"/>
          <p:nvPr/>
        </p:nvSpPr>
        <p:spPr>
          <a:xfrm>
            <a:off x="822960" y="1234440"/>
            <a:ext cx="9326880" cy="1554480"/>
          </a:xfrm>
          <a:prstGeom prst="rect">
            <a:avLst/>
          </a:prstGeom>
          <a:noFill/>
          <a:ln/>
        </p:spPr>
        <p:txBody>
          <a:bodyPr wrap="square" lIns="0" tIns="0" rIns="0" bIns="0" rtlCol="0" anchor="t"/>
          <a:lstStyle/>
          <a:p>
            <a:pPr indent="0" marL="0">
              <a:buNone/>
            </a:pPr>
            <a:r>
              <a:rPr lang="en-US" sz="4600" b="1" spc="-150" kern="0" dirty="0">
                <a:solidFill>
                  <a:schemeClr val="tx1"/>
                </a:solidFill>
              </a:rPr>
              <a:t>Making the long journey</a:t>
            </a:r>
            <a:endParaRPr lang="en-US" sz="4600" dirty="0"/>
          </a:p>
          <a:p>
            <a:pPr indent="0" marL="0">
              <a:buNone/>
            </a:pPr>
            <a:r>
              <a:rPr lang="en-US" sz="4600" b="1" spc="-150" kern="0" dirty="0">
                <a:solidFill>
                  <a:schemeClr val="tx1"/>
                </a:solidFill>
              </a:rPr>
              <a:t>something to look forward to</a:t>
            </a:r>
            <a:endParaRPr lang="en-US" sz="4600" dirty="0"/>
          </a:p>
        </p:txBody>
      </p:sp>
      <p:sp>
        <p:nvSpPr>
          <p:cNvPr id="4" name="Text 3"/>
          <p:cNvSpPr txBox="1"/>
          <p:nvPr/>
        </p:nvSpPr>
        <p:spPr>
          <a:xfrm>
            <a:off x="822960" y="2880360"/>
            <a:ext cx="7315200" cy="457200"/>
          </a:xfrm>
          <a:prstGeom prst="rect">
            <a:avLst/>
          </a:prstGeom>
          <a:noFill/>
          <a:ln/>
        </p:spPr>
        <p:txBody>
          <a:bodyPr wrap="square" lIns="0" tIns="0" rIns="0" bIns="0" rtlCol="0" anchor="t"/>
          <a:lstStyle/>
          <a:p>
            <a:pPr indent="0" marL="0">
              <a:buNone/>
            </a:pPr>
            <a:r>
              <a:rPr lang="en-US" sz="2400" dirty="0">
                <a:solidFill>
                  <a:schemeClr val="tx2"/>
                </a:solidFill>
              </a:rPr>
              <a:t>Engineering, business and aviation history</a:t>
            </a:r>
            <a:endParaRPr lang="en-US" sz="24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Meet Connie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L-1649A Super Star · the last and longest-legged Constellation</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Built to cross oceans in comfort</a:t>
            </a:r>
            <a:endParaRPr lang="en-US" sz="2800" dirty="0"/>
          </a:p>
        </p:txBody>
      </p:sp>
      <p:sp>
        <p:nvSpPr>
          <p:cNvPr id="6" name="Rounded 4"/>
          <p:cNvSpPr/>
          <p:nvPr/>
        </p:nvSpPr>
        <p:spPr>
          <a:xfrm>
            <a:off x="746608" y="2011680"/>
            <a:ext cx="2468880" cy="3017520"/>
          </a:xfrm>
          <a:prstGeom prst="roundRect">
            <a:avLst>
              <a:gd name="adj" fmla="val 8148"/>
            </a:avLst>
          </a:prstGeom>
          <a:solidFill>
            <a:schemeClr val="bg2"/>
          </a:solidFill>
          <a:ln/>
        </p:spPr>
      </p:sp>
      <p:sp>
        <p:nvSpPr>
          <p:cNvPr id="7" name="Text 5"/>
          <p:cNvSpPr txBox="1"/>
          <p:nvPr/>
        </p:nvSpPr>
        <p:spPr>
          <a:xfrm>
            <a:off x="8380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accent1"/>
                </a:solidFill>
              </a:rPr>
              <a:t>13,600</a:t>
            </a:r>
            <a:endParaRPr lang="en-US" sz="4400" dirty="0"/>
          </a:p>
        </p:txBody>
      </p:sp>
      <p:sp>
        <p:nvSpPr>
          <p:cNvPr id="8" name="Text 6"/>
          <p:cNvSpPr txBox="1"/>
          <p:nvPr/>
        </p:nvSpPr>
        <p:spPr>
          <a:xfrm>
            <a:off x="838048" y="3703320"/>
            <a:ext cx="2286000" cy="457200"/>
          </a:xfrm>
          <a:prstGeom prst="rect">
            <a:avLst/>
          </a:prstGeom>
          <a:noFill/>
          <a:ln/>
        </p:spPr>
        <p:txBody>
          <a:bodyPr wrap="square" lIns="0" tIns="0" rIns="0" bIns="0" rtlCol="0" anchor="ctr"/>
          <a:lstStyle/>
          <a:p>
            <a:pPr algn="ctr" indent="0" marL="0">
              <a:buNone/>
            </a:pPr>
            <a:r>
              <a:rPr lang="en-US" sz="2200" dirty="0">
                <a:solidFill>
                  <a:schemeClr val="tx2"/>
                </a:solidFill>
              </a:rPr>
              <a:t>horsepower</a:t>
            </a:r>
            <a:endParaRPr lang="en-US" sz="2200" dirty="0"/>
          </a:p>
        </p:txBody>
      </p:sp>
      <p:sp>
        <p:nvSpPr>
          <p:cNvPr id="9" name="Rounded 7"/>
          <p:cNvSpPr/>
          <p:nvPr/>
        </p:nvSpPr>
        <p:spPr>
          <a:xfrm>
            <a:off x="3489808" y="2011680"/>
            <a:ext cx="2468880" cy="3017520"/>
          </a:xfrm>
          <a:prstGeom prst="roundRect">
            <a:avLst>
              <a:gd name="adj" fmla="val 8148"/>
            </a:avLst>
          </a:prstGeom>
          <a:solidFill>
            <a:schemeClr val="bg2"/>
          </a:solidFill>
          <a:ln/>
        </p:spPr>
      </p:sp>
      <p:sp>
        <p:nvSpPr>
          <p:cNvPr id="10" name="Text 8"/>
          <p:cNvSpPr txBox="1"/>
          <p:nvPr/>
        </p:nvSpPr>
        <p:spPr>
          <a:xfrm>
            <a:off x="35812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480–500</a:t>
            </a:r>
            <a:endParaRPr lang="en-US" sz="4400" dirty="0"/>
          </a:p>
        </p:txBody>
      </p:sp>
      <p:sp>
        <p:nvSpPr>
          <p:cNvPr id="11" name="Text 9"/>
          <p:cNvSpPr txBox="1"/>
          <p:nvPr/>
        </p:nvSpPr>
        <p:spPr>
          <a:xfrm>
            <a:off x="3581248" y="3703320"/>
            <a:ext cx="2286000" cy="457200"/>
          </a:xfrm>
          <a:prstGeom prst="rect">
            <a:avLst/>
          </a:prstGeom>
          <a:noFill/>
          <a:ln/>
        </p:spPr>
        <p:txBody>
          <a:bodyPr wrap="square" lIns="0" tIns="0" rIns="0" bIns="0" rtlCol="0" anchor="ctr"/>
          <a:lstStyle/>
          <a:p>
            <a:pPr algn="ctr" indent="0" marL="0">
              <a:buNone/>
            </a:pPr>
            <a:r>
              <a:rPr lang="en-US" sz="2200" dirty="0">
                <a:solidFill>
                  <a:schemeClr val="tx2"/>
                </a:solidFill>
              </a:rPr>
              <a:t>km/h cruise</a:t>
            </a:r>
            <a:endParaRPr lang="en-US" sz="2200" dirty="0"/>
          </a:p>
        </p:txBody>
      </p:sp>
      <p:sp>
        <p:nvSpPr>
          <p:cNvPr id="12" name="Rounded 10"/>
          <p:cNvSpPr/>
          <p:nvPr/>
        </p:nvSpPr>
        <p:spPr>
          <a:xfrm>
            <a:off x="6233008" y="2011680"/>
            <a:ext cx="2468880" cy="3017520"/>
          </a:xfrm>
          <a:prstGeom prst="roundRect">
            <a:avLst>
              <a:gd name="adj" fmla="val 8148"/>
            </a:avLst>
          </a:prstGeom>
          <a:solidFill>
            <a:schemeClr val="bg2"/>
          </a:solidFill>
          <a:ln/>
        </p:spPr>
      </p:sp>
      <p:sp>
        <p:nvSpPr>
          <p:cNvPr id="13" name="Text 11"/>
          <p:cNvSpPr txBox="1"/>
          <p:nvPr/>
        </p:nvSpPr>
        <p:spPr>
          <a:xfrm>
            <a:off x="63244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10,000</a:t>
            </a:r>
            <a:endParaRPr lang="en-US" sz="4400" dirty="0"/>
          </a:p>
        </p:txBody>
      </p:sp>
      <p:sp>
        <p:nvSpPr>
          <p:cNvPr id="14" name="Text 12"/>
          <p:cNvSpPr txBox="1"/>
          <p:nvPr/>
        </p:nvSpPr>
        <p:spPr>
          <a:xfrm>
            <a:off x="6324448" y="3703320"/>
            <a:ext cx="2286000" cy="457200"/>
          </a:xfrm>
          <a:prstGeom prst="rect">
            <a:avLst/>
          </a:prstGeom>
          <a:noFill/>
          <a:ln/>
        </p:spPr>
        <p:txBody>
          <a:bodyPr wrap="square" lIns="0" tIns="0" rIns="0" bIns="0" rtlCol="0" anchor="ctr"/>
          <a:lstStyle/>
          <a:p>
            <a:pPr algn="ctr" indent="0" marL="0">
              <a:buNone/>
            </a:pPr>
            <a:r>
              <a:rPr lang="en-US" sz="2200" dirty="0">
                <a:solidFill>
                  <a:schemeClr val="tx2"/>
                </a:solidFill>
              </a:rPr>
              <a:t>km range</a:t>
            </a:r>
            <a:endParaRPr lang="en-US" sz="2200" dirty="0"/>
          </a:p>
        </p:txBody>
      </p:sp>
      <p:sp>
        <p:nvSpPr>
          <p:cNvPr id="15" name="Rounded 13"/>
          <p:cNvSpPr/>
          <p:nvPr/>
        </p:nvSpPr>
        <p:spPr>
          <a:xfrm>
            <a:off x="8976208" y="2011680"/>
            <a:ext cx="2468880" cy="3017520"/>
          </a:xfrm>
          <a:prstGeom prst="roundRect">
            <a:avLst>
              <a:gd name="adj" fmla="val 8148"/>
            </a:avLst>
          </a:prstGeom>
          <a:solidFill>
            <a:schemeClr val="bg2"/>
          </a:solidFill>
          <a:ln/>
        </p:spPr>
      </p:sp>
      <p:sp>
        <p:nvSpPr>
          <p:cNvPr id="16" name="Text 14"/>
          <p:cNvSpPr txBox="1"/>
          <p:nvPr/>
        </p:nvSpPr>
        <p:spPr>
          <a:xfrm>
            <a:off x="9067648" y="2743200"/>
            <a:ext cx="2286000" cy="914400"/>
          </a:xfrm>
          <a:prstGeom prst="rect">
            <a:avLst/>
          </a:prstGeom>
          <a:noFill/>
          <a:ln/>
        </p:spPr>
        <p:txBody>
          <a:bodyPr wrap="square" lIns="0" tIns="0" rIns="0" bIns="0" rtlCol="0" anchor="ctr"/>
          <a:lstStyle/>
          <a:p>
            <a:pPr algn="ctr" indent="0" marL="0">
              <a:buNone/>
            </a:pPr>
            <a:r>
              <a:rPr lang="en-US" sz="4400" b="1" spc="-200" kern="0" dirty="0">
                <a:solidFill>
                  <a:schemeClr val="tx1"/>
                </a:solidFill>
              </a:rPr>
              <a:t>123 ft</a:t>
            </a:r>
            <a:endParaRPr lang="en-US" sz="4400" dirty="0"/>
          </a:p>
        </p:txBody>
      </p:sp>
      <p:sp>
        <p:nvSpPr>
          <p:cNvPr id="17" name="Text 15"/>
          <p:cNvSpPr txBox="1"/>
          <p:nvPr/>
        </p:nvSpPr>
        <p:spPr>
          <a:xfrm>
            <a:off x="9067648" y="3703320"/>
            <a:ext cx="2286000" cy="457200"/>
          </a:xfrm>
          <a:prstGeom prst="rect">
            <a:avLst/>
          </a:prstGeom>
          <a:noFill/>
          <a:ln/>
        </p:spPr>
        <p:txBody>
          <a:bodyPr wrap="square" lIns="0" tIns="0" rIns="0" bIns="0" rtlCol="0" anchor="ctr"/>
          <a:lstStyle/>
          <a:p>
            <a:pPr algn="ctr" indent="0" marL="0">
              <a:buNone/>
            </a:pPr>
            <a:r>
              <a:rPr lang="en-US" sz="2200" dirty="0">
                <a:solidFill>
                  <a:schemeClr val="tx2"/>
                </a:solidFill>
              </a:rPr>
              <a:t>wingspan</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Crossing America: From a Day and a Half to Eight Hours</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TWA service, two eras, one time scale</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A day and a half becomes one workday</a:t>
            </a:r>
            <a:endParaRPr lang="en-US" sz="2800" dirty="0"/>
          </a:p>
        </p:txBody>
      </p:sp>
      <p:sp>
        <p:nvSpPr>
          <p:cNvPr id="6" name="Text 16"/>
          <p:cNvSpPr txBox="1"/>
          <p:nvPr/>
        </p:nvSpPr>
        <p:spPr>
          <a:xfrm>
            <a:off x="822960" y="2130552"/>
            <a:ext cx="2194560" cy="640080"/>
          </a:xfrm>
          <a:prstGeom prst="rect">
            <a:avLst/>
          </a:prstGeom>
          <a:noFill/>
          <a:ln/>
        </p:spPr>
        <p:txBody>
          <a:bodyPr wrap="square" lIns="0" tIns="0" rIns="0" bIns="0" rtlCol="0" anchor="ctr"/>
          <a:lstStyle/>
          <a:p>
            <a:pPr algn="r" indent="0" marL="0">
              <a:buNone/>
            </a:pPr>
            <a:r>
              <a:rPr lang="en-US" sz="3200" b="1" spc="-100" kern="0" dirty="0">
                <a:solidFill>
                  <a:schemeClr val="tx1"/>
                </a:solidFill>
              </a:rPr>
              <a:t>1930</a:t>
            </a:r>
            <a:endParaRPr lang="en-US" sz="3200" dirty="0"/>
          </a:p>
        </p:txBody>
      </p:sp>
      <p:sp>
        <p:nvSpPr>
          <p:cNvPr id="7" name="Rounded 17"/>
          <p:cNvSpPr/>
          <p:nvPr/>
        </p:nvSpPr>
        <p:spPr>
          <a:xfrm>
            <a:off x="3291840" y="2240280"/>
            <a:ext cx="6400800" cy="457200"/>
          </a:xfrm>
          <a:prstGeom prst="roundRect">
            <a:avLst>
              <a:gd name="adj" fmla="val 50000"/>
            </a:avLst>
          </a:prstGeom>
          <a:solidFill>
            <a:schemeClr val="accent2"/>
          </a:solidFill>
          <a:ln/>
        </p:spPr>
      </p:sp>
      <p:sp>
        <p:nvSpPr>
          <p:cNvPr id="8" name="Text 18"/>
          <p:cNvSpPr txBox="1"/>
          <p:nvPr/>
        </p:nvSpPr>
        <p:spPr>
          <a:xfrm>
            <a:off x="9921240" y="2167128"/>
            <a:ext cx="2377440" cy="603504"/>
          </a:xfrm>
          <a:prstGeom prst="rect">
            <a:avLst/>
          </a:prstGeom>
          <a:noFill/>
          <a:ln/>
        </p:spPr>
        <p:txBody>
          <a:bodyPr wrap="square" lIns="0" tIns="0" rIns="0" bIns="0" rtlCol="0" anchor="ctr"/>
          <a:lstStyle/>
          <a:p>
            <a:pPr indent="0" marL="0">
              <a:buNone/>
            </a:pPr>
            <a:r>
              <a:rPr lang="en-US" sz="2600" b="1" dirty="0">
                <a:solidFill>
                  <a:schemeClr val="tx1"/>
                </a:solidFill>
              </a:rPr>
              <a:t>36 hours</a:t>
            </a:r>
            <a:endParaRPr lang="en-US" sz="2600" dirty="0"/>
          </a:p>
        </p:txBody>
      </p:sp>
      <p:sp>
        <p:nvSpPr>
          <p:cNvPr id="9" name="Text 19"/>
          <p:cNvSpPr txBox="1"/>
          <p:nvPr/>
        </p:nvSpPr>
        <p:spPr>
          <a:xfrm>
            <a:off x="3291840" y="2834640"/>
            <a:ext cx="7315200" cy="365760"/>
          </a:xfrm>
          <a:prstGeom prst="rect">
            <a:avLst/>
          </a:prstGeom>
          <a:noFill/>
          <a:ln/>
        </p:spPr>
        <p:txBody>
          <a:bodyPr wrap="square" lIns="0" tIns="0" rIns="0" bIns="0" rtlCol="0" anchor="t"/>
          <a:lstStyle/>
          <a:p>
            <a:pPr indent="0" marL="0">
              <a:buNone/>
            </a:pPr>
            <a:r>
              <a:rPr lang="en-US" sz="2000" dirty="0">
                <a:solidFill>
                  <a:schemeClr val="tx2"/>
                </a:solidFill>
              </a:rPr>
              <a:t>Overnight stop in Kansas City</a:t>
            </a:r>
            <a:endParaRPr lang="en-US" sz="2000" dirty="0"/>
          </a:p>
        </p:txBody>
      </p:sp>
      <p:sp>
        <p:nvSpPr>
          <p:cNvPr id="10" name="Text 20"/>
          <p:cNvSpPr txBox="1"/>
          <p:nvPr/>
        </p:nvSpPr>
        <p:spPr>
          <a:xfrm>
            <a:off x="822960" y="3593592"/>
            <a:ext cx="2194560" cy="640080"/>
          </a:xfrm>
          <a:prstGeom prst="rect">
            <a:avLst/>
          </a:prstGeom>
          <a:noFill/>
          <a:ln/>
        </p:spPr>
        <p:txBody>
          <a:bodyPr wrap="square" lIns="0" tIns="0" rIns="0" bIns="0" rtlCol="0" anchor="ctr"/>
          <a:lstStyle/>
          <a:p>
            <a:pPr algn="r" indent="0" marL="0">
              <a:buNone/>
            </a:pPr>
            <a:r>
              <a:rPr lang="en-US" sz="3200" b="1" spc="-100" kern="0" dirty="0">
                <a:solidFill>
                  <a:schemeClr val="tx1"/>
                </a:solidFill>
              </a:rPr>
              <a:t>1953</a:t>
            </a:r>
            <a:endParaRPr lang="en-US" sz="3200" dirty="0"/>
          </a:p>
        </p:txBody>
      </p:sp>
      <p:sp>
        <p:nvSpPr>
          <p:cNvPr id="11" name="Rounded 21"/>
          <p:cNvSpPr/>
          <p:nvPr/>
        </p:nvSpPr>
        <p:spPr>
          <a:xfrm>
            <a:off x="3291840" y="3703320"/>
            <a:ext cx="1422400" cy="457200"/>
          </a:xfrm>
          <a:prstGeom prst="roundRect">
            <a:avLst>
              <a:gd name="adj" fmla="val 50000"/>
            </a:avLst>
          </a:prstGeom>
          <a:solidFill>
            <a:schemeClr val="accent1"/>
          </a:solidFill>
          <a:ln/>
        </p:spPr>
      </p:sp>
      <p:sp>
        <p:nvSpPr>
          <p:cNvPr id="12" name="Text 22"/>
          <p:cNvSpPr txBox="1"/>
          <p:nvPr/>
        </p:nvSpPr>
        <p:spPr>
          <a:xfrm>
            <a:off x="4942840" y="3630168"/>
            <a:ext cx="2377440" cy="603504"/>
          </a:xfrm>
          <a:prstGeom prst="rect">
            <a:avLst/>
          </a:prstGeom>
          <a:noFill/>
          <a:ln/>
        </p:spPr>
        <p:txBody>
          <a:bodyPr wrap="square" lIns="0" tIns="0" rIns="0" bIns="0" rtlCol="0" anchor="ctr"/>
          <a:lstStyle/>
          <a:p>
            <a:pPr indent="0" marL="0">
              <a:buNone/>
            </a:pPr>
            <a:r>
              <a:rPr lang="en-US" sz="2600" b="1" dirty="0">
                <a:solidFill>
                  <a:schemeClr val="tx1"/>
                </a:solidFill>
              </a:rPr>
              <a:t>8 hours</a:t>
            </a:r>
            <a:endParaRPr lang="en-US" sz="2600" dirty="0"/>
          </a:p>
        </p:txBody>
      </p:sp>
      <p:sp>
        <p:nvSpPr>
          <p:cNvPr id="13" name="Text 23"/>
          <p:cNvSpPr txBox="1"/>
          <p:nvPr/>
        </p:nvSpPr>
        <p:spPr>
          <a:xfrm>
            <a:off x="3291840" y="4297680"/>
            <a:ext cx="7315200" cy="365760"/>
          </a:xfrm>
          <a:prstGeom prst="rect">
            <a:avLst/>
          </a:prstGeom>
          <a:noFill/>
          <a:ln/>
        </p:spPr>
        <p:txBody>
          <a:bodyPr wrap="square" lIns="0" tIns="0" rIns="0" bIns="0" rtlCol="0" anchor="t"/>
          <a:lstStyle/>
          <a:p>
            <a:pPr indent="0" marL="0">
              <a:buNone/>
            </a:pPr>
            <a:r>
              <a:rPr lang="en-US" sz="2000" dirty="0">
                <a:solidFill>
                  <a:schemeClr val="tx2"/>
                </a:solidFill>
              </a:rPr>
              <a:t>Los Angeles → New York nonstop</a:t>
            </a:r>
            <a:endParaRPr lang="en-US" sz="2000" dirty="0"/>
          </a:p>
        </p:txBody>
      </p:sp>
      <p:sp>
        <p:nvSpPr>
          <p:cNvPr id="14" name="Line 24"/>
          <p:cNvSpPr/>
          <p:nvPr/>
        </p:nvSpPr>
        <p:spPr>
          <a:xfrm>
            <a:off x="3291840" y="4892040"/>
            <a:ext cx="6400800" cy="0"/>
          </a:xfrm>
          <a:prstGeom prst="line">
            <a:avLst/>
          </a:prstGeom>
          <a:noFill/>
          <a:ln w="9525">
            <a:solidFill>
              <a:schemeClr val="accent2"/>
            </a:solidFill>
            <a:prstDash val="solid"/>
          </a:ln>
        </p:spPr>
      </p:sp>
      <p:sp>
        <p:nvSpPr>
          <p:cNvPr id="15" name="Line 25"/>
          <p:cNvSpPr/>
          <p:nvPr/>
        </p:nvSpPr>
        <p:spPr>
          <a:xfrm>
            <a:off x="3291840" y="4837176"/>
            <a:ext cx="0" cy="109728"/>
          </a:xfrm>
          <a:prstGeom prst="line">
            <a:avLst/>
          </a:prstGeom>
          <a:noFill/>
          <a:ln w="9525">
            <a:solidFill>
              <a:schemeClr val="accent2"/>
            </a:solidFill>
            <a:prstDash val="solid"/>
          </a:ln>
        </p:spPr>
      </p:sp>
      <p:sp>
        <p:nvSpPr>
          <p:cNvPr id="16" name="Text 26"/>
          <p:cNvSpPr txBox="1"/>
          <p:nvPr/>
        </p:nvSpPr>
        <p:spPr>
          <a:xfrm>
            <a:off x="29260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0</a:t>
            </a:r>
            <a:endParaRPr lang="en-US" sz="1800" dirty="0"/>
          </a:p>
        </p:txBody>
      </p:sp>
      <p:sp>
        <p:nvSpPr>
          <p:cNvPr id="17" name="Line 27"/>
          <p:cNvSpPr/>
          <p:nvPr/>
        </p:nvSpPr>
        <p:spPr>
          <a:xfrm>
            <a:off x="4714240" y="4837176"/>
            <a:ext cx="0" cy="109728"/>
          </a:xfrm>
          <a:prstGeom prst="line">
            <a:avLst/>
          </a:prstGeom>
          <a:noFill/>
          <a:ln w="9525">
            <a:solidFill>
              <a:schemeClr val="accent2"/>
            </a:solidFill>
            <a:prstDash val="solid"/>
          </a:ln>
        </p:spPr>
      </p:sp>
      <p:sp>
        <p:nvSpPr>
          <p:cNvPr id="18" name="Text 28"/>
          <p:cNvSpPr txBox="1"/>
          <p:nvPr/>
        </p:nvSpPr>
        <p:spPr>
          <a:xfrm>
            <a:off x="43484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8</a:t>
            </a:r>
            <a:endParaRPr lang="en-US" sz="1800" dirty="0"/>
          </a:p>
        </p:txBody>
      </p:sp>
      <p:sp>
        <p:nvSpPr>
          <p:cNvPr id="19" name="Line 29"/>
          <p:cNvSpPr/>
          <p:nvPr/>
        </p:nvSpPr>
        <p:spPr>
          <a:xfrm>
            <a:off x="6136640" y="4837176"/>
            <a:ext cx="0" cy="109728"/>
          </a:xfrm>
          <a:prstGeom prst="line">
            <a:avLst/>
          </a:prstGeom>
          <a:noFill/>
          <a:ln w="9525">
            <a:solidFill>
              <a:schemeClr val="accent2"/>
            </a:solidFill>
            <a:prstDash val="solid"/>
          </a:ln>
        </p:spPr>
      </p:sp>
      <p:sp>
        <p:nvSpPr>
          <p:cNvPr id="20" name="Text 30"/>
          <p:cNvSpPr txBox="1"/>
          <p:nvPr/>
        </p:nvSpPr>
        <p:spPr>
          <a:xfrm>
            <a:off x="57708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16</a:t>
            </a:r>
            <a:endParaRPr lang="en-US" sz="1800" dirty="0"/>
          </a:p>
        </p:txBody>
      </p:sp>
      <p:sp>
        <p:nvSpPr>
          <p:cNvPr id="21" name="Line 31"/>
          <p:cNvSpPr/>
          <p:nvPr/>
        </p:nvSpPr>
        <p:spPr>
          <a:xfrm>
            <a:off x="7559040" y="4837176"/>
            <a:ext cx="0" cy="109728"/>
          </a:xfrm>
          <a:prstGeom prst="line">
            <a:avLst/>
          </a:prstGeom>
          <a:noFill/>
          <a:ln w="9525">
            <a:solidFill>
              <a:schemeClr val="accent2"/>
            </a:solidFill>
            <a:prstDash val="solid"/>
          </a:ln>
        </p:spPr>
      </p:sp>
      <p:sp>
        <p:nvSpPr>
          <p:cNvPr id="22" name="Text 32"/>
          <p:cNvSpPr txBox="1"/>
          <p:nvPr/>
        </p:nvSpPr>
        <p:spPr>
          <a:xfrm>
            <a:off x="71932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24</a:t>
            </a:r>
            <a:endParaRPr lang="en-US" sz="1800" dirty="0"/>
          </a:p>
        </p:txBody>
      </p:sp>
      <p:sp>
        <p:nvSpPr>
          <p:cNvPr id="23" name="Line 33"/>
          <p:cNvSpPr/>
          <p:nvPr/>
        </p:nvSpPr>
        <p:spPr>
          <a:xfrm>
            <a:off x="9692640" y="4837176"/>
            <a:ext cx="0" cy="109728"/>
          </a:xfrm>
          <a:prstGeom prst="line">
            <a:avLst/>
          </a:prstGeom>
          <a:noFill/>
          <a:ln w="9525">
            <a:solidFill>
              <a:schemeClr val="accent2"/>
            </a:solidFill>
            <a:prstDash val="solid"/>
          </a:ln>
        </p:spPr>
      </p:sp>
      <p:sp>
        <p:nvSpPr>
          <p:cNvPr id="24" name="Text 34"/>
          <p:cNvSpPr txBox="1"/>
          <p:nvPr/>
        </p:nvSpPr>
        <p:spPr>
          <a:xfrm>
            <a:off x="9326880" y="4983480"/>
            <a:ext cx="731520" cy="274320"/>
          </a:xfrm>
          <a:prstGeom prst="rect">
            <a:avLst/>
          </a:prstGeom>
          <a:noFill/>
          <a:ln/>
        </p:spPr>
        <p:txBody>
          <a:bodyPr wrap="square" lIns="0" tIns="0" rIns="0" bIns="0" rtlCol="0" anchor="ctr"/>
          <a:lstStyle/>
          <a:p>
            <a:pPr algn="ctr" indent="0" marL="0">
              <a:buNone/>
            </a:pPr>
            <a:r>
              <a:rPr lang="en-US" sz="1800" dirty="0">
                <a:solidFill>
                  <a:schemeClr val="tx2"/>
                </a:solidFill>
              </a:rPr>
              <a:t>36</a:t>
            </a:r>
            <a:endParaRPr lang="en-US" sz="1800" dirty="0"/>
          </a:p>
        </p:txBody>
      </p:sp>
      <p:sp>
        <p:nvSpPr>
          <p:cNvPr id="25" name="Text 35"/>
          <p:cNvSpPr txBox="1"/>
          <p:nvPr/>
        </p:nvSpPr>
        <p:spPr>
          <a:xfrm>
            <a:off x="9966960" y="4983480"/>
            <a:ext cx="914400" cy="274320"/>
          </a:xfrm>
          <a:prstGeom prst="rect">
            <a:avLst/>
          </a:prstGeom>
          <a:noFill/>
          <a:ln/>
        </p:spPr>
        <p:txBody>
          <a:bodyPr wrap="square" lIns="0" tIns="0" rIns="0" bIns="0" rtlCol="0" anchor="ctr"/>
          <a:lstStyle/>
          <a:p>
            <a:pPr indent="0" marL="0">
              <a:buNone/>
            </a:pPr>
            <a:r>
              <a:rPr lang="en-US" sz="1800" dirty="0">
                <a:solidFill>
                  <a:schemeClr val="tx2"/>
                </a:solidFill>
              </a:rPr>
              <a:t>hours</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Four Engines, How Much Combined Power?</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L-1649A Super Star</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Four × 3,400 hp ≈ 13,600 hp</a:t>
            </a:r>
            <a:endParaRPr lang="en-US" sz="2800" dirty="0"/>
          </a:p>
        </p:txBody>
      </p:sp>
      <p:sp>
        <p:nvSpPr>
          <p:cNvPr id="6" name="Text 36"/>
          <p:cNvSpPr txBox="1"/>
          <p:nvPr/>
        </p:nvSpPr>
        <p:spPr>
          <a:xfrm>
            <a:off x="74660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1</a:t>
            </a:r>
            <a:endParaRPr lang="en-US" sz="1500" dirty="0"/>
          </a:p>
        </p:txBody>
      </p:sp>
      <p:sp>
        <p:nvSpPr>
          <p:cNvPr id="7" name="Circle 37"/>
          <p:cNvSpPr/>
          <p:nvPr/>
        </p:nvSpPr>
        <p:spPr>
          <a:xfrm>
            <a:off x="746608" y="2788920"/>
            <a:ext cx="1554480" cy="1554480"/>
          </a:xfrm>
          <a:prstGeom prst="ellipse">
            <a:avLst/>
          </a:prstGeom>
          <a:solidFill>
            <a:schemeClr val="bg2"/>
          </a:solidFill>
          <a:ln/>
        </p:spPr>
      </p:sp>
      <p:sp>
        <p:nvSpPr>
          <p:cNvPr id="8" name="Text 38"/>
          <p:cNvSpPr txBox="1"/>
          <p:nvPr/>
        </p:nvSpPr>
        <p:spPr>
          <a:xfrm>
            <a:off x="74660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9" name="Text 39"/>
          <p:cNvSpPr txBox="1"/>
          <p:nvPr/>
        </p:nvSpPr>
        <p:spPr>
          <a:xfrm>
            <a:off x="74660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10" name="Text 40"/>
          <p:cNvSpPr txBox="1"/>
          <p:nvPr/>
        </p:nvSpPr>
        <p:spPr>
          <a:xfrm>
            <a:off x="230108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11" name="Text 41"/>
          <p:cNvSpPr txBox="1"/>
          <p:nvPr/>
        </p:nvSpPr>
        <p:spPr>
          <a:xfrm>
            <a:off x="275828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2</a:t>
            </a:r>
            <a:endParaRPr lang="en-US" sz="1500" dirty="0"/>
          </a:p>
        </p:txBody>
      </p:sp>
      <p:sp>
        <p:nvSpPr>
          <p:cNvPr id="12" name="Circle 42"/>
          <p:cNvSpPr/>
          <p:nvPr/>
        </p:nvSpPr>
        <p:spPr>
          <a:xfrm>
            <a:off x="2758288" y="2788920"/>
            <a:ext cx="1554480" cy="1554480"/>
          </a:xfrm>
          <a:prstGeom prst="ellipse">
            <a:avLst/>
          </a:prstGeom>
          <a:solidFill>
            <a:schemeClr val="bg2"/>
          </a:solidFill>
          <a:ln/>
        </p:spPr>
      </p:sp>
      <p:sp>
        <p:nvSpPr>
          <p:cNvPr id="13" name="Text 43"/>
          <p:cNvSpPr txBox="1"/>
          <p:nvPr/>
        </p:nvSpPr>
        <p:spPr>
          <a:xfrm>
            <a:off x="275828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14" name="Text 44"/>
          <p:cNvSpPr txBox="1"/>
          <p:nvPr/>
        </p:nvSpPr>
        <p:spPr>
          <a:xfrm>
            <a:off x="275828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15" name="Text 45"/>
          <p:cNvSpPr txBox="1"/>
          <p:nvPr/>
        </p:nvSpPr>
        <p:spPr>
          <a:xfrm>
            <a:off x="431276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16" name="Text 46"/>
          <p:cNvSpPr txBox="1"/>
          <p:nvPr/>
        </p:nvSpPr>
        <p:spPr>
          <a:xfrm>
            <a:off x="476996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3</a:t>
            </a:r>
            <a:endParaRPr lang="en-US" sz="1500" dirty="0"/>
          </a:p>
        </p:txBody>
      </p:sp>
      <p:sp>
        <p:nvSpPr>
          <p:cNvPr id="17" name="Circle 47"/>
          <p:cNvSpPr/>
          <p:nvPr/>
        </p:nvSpPr>
        <p:spPr>
          <a:xfrm>
            <a:off x="4769968" y="2788920"/>
            <a:ext cx="1554480" cy="1554480"/>
          </a:xfrm>
          <a:prstGeom prst="ellipse">
            <a:avLst/>
          </a:prstGeom>
          <a:solidFill>
            <a:schemeClr val="bg2"/>
          </a:solidFill>
          <a:ln/>
        </p:spPr>
      </p:sp>
      <p:sp>
        <p:nvSpPr>
          <p:cNvPr id="18" name="Text 48"/>
          <p:cNvSpPr txBox="1"/>
          <p:nvPr/>
        </p:nvSpPr>
        <p:spPr>
          <a:xfrm>
            <a:off x="476996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19" name="Text 49"/>
          <p:cNvSpPr txBox="1"/>
          <p:nvPr/>
        </p:nvSpPr>
        <p:spPr>
          <a:xfrm>
            <a:off x="476996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20" name="Text 50"/>
          <p:cNvSpPr txBox="1"/>
          <p:nvPr/>
        </p:nvSpPr>
        <p:spPr>
          <a:xfrm>
            <a:off x="632444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21" name="Text 51"/>
          <p:cNvSpPr txBox="1"/>
          <p:nvPr/>
        </p:nvSpPr>
        <p:spPr>
          <a:xfrm>
            <a:off x="6781648" y="2377440"/>
            <a:ext cx="1554480"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ENGINE 4</a:t>
            </a:r>
            <a:endParaRPr lang="en-US" sz="1500" dirty="0"/>
          </a:p>
        </p:txBody>
      </p:sp>
      <p:sp>
        <p:nvSpPr>
          <p:cNvPr id="22" name="Circle 52"/>
          <p:cNvSpPr/>
          <p:nvPr/>
        </p:nvSpPr>
        <p:spPr>
          <a:xfrm>
            <a:off x="6781648" y="2788920"/>
            <a:ext cx="1554480" cy="1554480"/>
          </a:xfrm>
          <a:prstGeom prst="ellipse">
            <a:avLst/>
          </a:prstGeom>
          <a:solidFill>
            <a:schemeClr val="bg2"/>
          </a:solidFill>
          <a:ln/>
        </p:spPr>
      </p:sp>
      <p:sp>
        <p:nvSpPr>
          <p:cNvPr id="23" name="Text 53"/>
          <p:cNvSpPr txBox="1"/>
          <p:nvPr/>
        </p:nvSpPr>
        <p:spPr>
          <a:xfrm>
            <a:off x="678164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24" name="Text 54"/>
          <p:cNvSpPr txBox="1"/>
          <p:nvPr/>
        </p:nvSpPr>
        <p:spPr>
          <a:xfrm>
            <a:off x="6781648" y="3675888"/>
            <a:ext cx="155448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25" name="Text 55"/>
          <p:cNvSpPr txBox="1"/>
          <p:nvPr/>
        </p:nvSpPr>
        <p:spPr>
          <a:xfrm>
            <a:off x="833612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26" name="Text 56"/>
          <p:cNvSpPr txBox="1"/>
          <p:nvPr/>
        </p:nvSpPr>
        <p:spPr>
          <a:xfrm>
            <a:off x="8793328" y="3017520"/>
            <a:ext cx="2651760" cy="731520"/>
          </a:xfrm>
          <a:prstGeom prst="rect">
            <a:avLst/>
          </a:prstGeom>
          <a:noFill/>
          <a:ln/>
        </p:spPr>
        <p:txBody>
          <a:bodyPr wrap="square" lIns="0" tIns="0" rIns="0" bIns="0" rtlCol="0" anchor="ctr"/>
          <a:lstStyle/>
          <a:p>
            <a:pPr algn="ctr" indent="0" marL="0">
              <a:buNone/>
            </a:pPr>
            <a:r>
              <a:rPr lang="en-US" sz="5200" b="1" spc="-200" kern="0" dirty="0">
                <a:solidFill>
                  <a:schemeClr val="accent1"/>
                </a:solidFill>
              </a:rPr>
              <a:t>13,600</a:t>
            </a:r>
            <a:endParaRPr lang="en-US" sz="5200" dirty="0"/>
          </a:p>
        </p:txBody>
      </p:sp>
      <p:sp>
        <p:nvSpPr>
          <p:cNvPr id="27" name="Text 57"/>
          <p:cNvSpPr txBox="1"/>
          <p:nvPr/>
        </p:nvSpPr>
        <p:spPr>
          <a:xfrm>
            <a:off x="8793328" y="3794760"/>
            <a:ext cx="2651760" cy="274320"/>
          </a:xfrm>
          <a:prstGeom prst="rect">
            <a:avLst/>
          </a:prstGeom>
          <a:noFill/>
          <a:ln/>
        </p:spPr>
        <p:txBody>
          <a:bodyPr wrap="square" lIns="0" tIns="0" rIns="0" bIns="0" rtlCol="0" anchor="ctr"/>
          <a:lstStyle/>
          <a:p>
            <a:pPr algn="ctr" indent="0" marL="0">
              <a:buNone/>
            </a:pPr>
            <a:r>
              <a:rPr lang="en-US" sz="1800" dirty="0">
                <a:solidFill>
                  <a:schemeClr val="tx2"/>
                </a:solidFill>
              </a:rPr>
              <a:t>hp</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One Minute, About Eight Kilometers</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Cruising at roughly 480–500 km/h</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Speed you can feel</a:t>
            </a:r>
            <a:endParaRPr lang="en-US" sz="2800" dirty="0"/>
          </a:p>
        </p:txBody>
      </p:sp>
      <p:sp>
        <p:nvSpPr>
          <p:cNvPr id="6" name="Text 58"/>
          <p:cNvSpPr txBox="1"/>
          <p:nvPr/>
        </p:nvSpPr>
        <p:spPr>
          <a:xfrm>
            <a:off x="822960" y="2880360"/>
            <a:ext cx="1920240" cy="960120"/>
          </a:xfrm>
          <a:prstGeom prst="rect">
            <a:avLst/>
          </a:prstGeom>
          <a:noFill/>
          <a:ln/>
        </p:spPr>
        <p:txBody>
          <a:bodyPr wrap="square" lIns="0" tIns="0" rIns="0" bIns="0" rtlCol="0" anchor="ctr"/>
          <a:lstStyle/>
          <a:p>
            <a:pPr algn="ctr" indent="0" marL="0">
              <a:buNone/>
            </a:pPr>
            <a:r>
              <a:rPr lang="en-US" sz="7600" b="1" spc="-300" kern="0" dirty="0">
                <a:solidFill>
                  <a:schemeClr val="tx1"/>
                </a:solidFill>
              </a:rPr>
              <a:t>60</a:t>
            </a:r>
            <a:endParaRPr lang="en-US" sz="7600" dirty="0"/>
          </a:p>
        </p:txBody>
      </p:sp>
      <p:sp>
        <p:nvSpPr>
          <p:cNvPr id="7" name="Text 59"/>
          <p:cNvSpPr txBox="1"/>
          <p:nvPr/>
        </p:nvSpPr>
        <p:spPr>
          <a:xfrm>
            <a:off x="822960" y="3904488"/>
            <a:ext cx="1920240" cy="320040"/>
          </a:xfrm>
          <a:prstGeom prst="rect">
            <a:avLst/>
          </a:prstGeom>
          <a:noFill/>
          <a:ln/>
        </p:spPr>
        <p:txBody>
          <a:bodyPr wrap="square" lIns="0" tIns="0" rIns="0" bIns="0" rtlCol="0" anchor="ctr"/>
          <a:lstStyle/>
          <a:p>
            <a:pPr algn="ctr" indent="0" marL="0">
              <a:buNone/>
            </a:pPr>
            <a:r>
              <a:rPr lang="en-US" sz="2000" dirty="0">
                <a:solidFill>
                  <a:schemeClr val="tx2"/>
                </a:solidFill>
              </a:rPr>
              <a:t>seconds</a:t>
            </a:r>
            <a:endParaRPr lang="en-US" sz="2000" dirty="0"/>
          </a:p>
        </p:txBody>
      </p:sp>
      <p:sp>
        <p:nvSpPr>
          <p:cNvPr id="8" name="Rounded 60"/>
          <p:cNvSpPr/>
          <p:nvPr/>
        </p:nvSpPr>
        <p:spPr>
          <a:xfrm>
            <a:off x="3291840" y="3429000"/>
            <a:ext cx="804672" cy="365760"/>
          </a:xfrm>
          <a:prstGeom prst="roundRect">
            <a:avLst>
              <a:gd name="adj" fmla="val 15000"/>
            </a:avLst>
          </a:prstGeom>
          <a:solidFill>
            <a:schemeClr val="accent1"/>
          </a:solidFill>
          <a:ln/>
        </p:spPr>
      </p:sp>
      <p:sp>
        <p:nvSpPr>
          <p:cNvPr id="9" name="Text 61"/>
          <p:cNvSpPr txBox="1"/>
          <p:nvPr/>
        </p:nvSpPr>
        <p:spPr>
          <a:xfrm>
            <a:off x="3291840"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1</a:t>
            </a:r>
            <a:endParaRPr lang="en-US" sz="1800" dirty="0"/>
          </a:p>
        </p:txBody>
      </p:sp>
      <p:sp>
        <p:nvSpPr>
          <p:cNvPr id="10" name="Rounded 62"/>
          <p:cNvSpPr/>
          <p:nvPr/>
        </p:nvSpPr>
        <p:spPr>
          <a:xfrm>
            <a:off x="4169664" y="3429000"/>
            <a:ext cx="804672" cy="365760"/>
          </a:xfrm>
          <a:prstGeom prst="roundRect">
            <a:avLst>
              <a:gd name="adj" fmla="val 15000"/>
            </a:avLst>
          </a:prstGeom>
          <a:solidFill>
            <a:schemeClr val="accent1"/>
          </a:solidFill>
          <a:ln/>
        </p:spPr>
      </p:sp>
      <p:sp>
        <p:nvSpPr>
          <p:cNvPr id="11" name="Text 63"/>
          <p:cNvSpPr txBox="1"/>
          <p:nvPr/>
        </p:nvSpPr>
        <p:spPr>
          <a:xfrm>
            <a:off x="4169664"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2</a:t>
            </a:r>
            <a:endParaRPr lang="en-US" sz="1800" dirty="0"/>
          </a:p>
        </p:txBody>
      </p:sp>
      <p:sp>
        <p:nvSpPr>
          <p:cNvPr id="12" name="Rounded 64"/>
          <p:cNvSpPr/>
          <p:nvPr/>
        </p:nvSpPr>
        <p:spPr>
          <a:xfrm>
            <a:off x="5047488" y="3429000"/>
            <a:ext cx="804672" cy="365760"/>
          </a:xfrm>
          <a:prstGeom prst="roundRect">
            <a:avLst>
              <a:gd name="adj" fmla="val 15000"/>
            </a:avLst>
          </a:prstGeom>
          <a:solidFill>
            <a:schemeClr val="accent1"/>
          </a:solidFill>
          <a:ln/>
        </p:spPr>
      </p:sp>
      <p:sp>
        <p:nvSpPr>
          <p:cNvPr id="13" name="Text 65"/>
          <p:cNvSpPr txBox="1"/>
          <p:nvPr/>
        </p:nvSpPr>
        <p:spPr>
          <a:xfrm>
            <a:off x="5047488"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3</a:t>
            </a:r>
            <a:endParaRPr lang="en-US" sz="1800" dirty="0"/>
          </a:p>
        </p:txBody>
      </p:sp>
      <p:sp>
        <p:nvSpPr>
          <p:cNvPr id="14" name="Rounded 66"/>
          <p:cNvSpPr/>
          <p:nvPr/>
        </p:nvSpPr>
        <p:spPr>
          <a:xfrm>
            <a:off x="5925312" y="3429000"/>
            <a:ext cx="804672" cy="365760"/>
          </a:xfrm>
          <a:prstGeom prst="roundRect">
            <a:avLst>
              <a:gd name="adj" fmla="val 15000"/>
            </a:avLst>
          </a:prstGeom>
          <a:solidFill>
            <a:schemeClr val="accent1"/>
          </a:solidFill>
          <a:ln/>
        </p:spPr>
      </p:sp>
      <p:sp>
        <p:nvSpPr>
          <p:cNvPr id="15" name="Text 67"/>
          <p:cNvSpPr txBox="1"/>
          <p:nvPr/>
        </p:nvSpPr>
        <p:spPr>
          <a:xfrm>
            <a:off x="5925312"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4</a:t>
            </a:r>
            <a:endParaRPr lang="en-US" sz="1800" dirty="0"/>
          </a:p>
        </p:txBody>
      </p:sp>
      <p:sp>
        <p:nvSpPr>
          <p:cNvPr id="16" name="Rounded 68"/>
          <p:cNvSpPr/>
          <p:nvPr/>
        </p:nvSpPr>
        <p:spPr>
          <a:xfrm>
            <a:off x="6803136" y="3429000"/>
            <a:ext cx="804672" cy="365760"/>
          </a:xfrm>
          <a:prstGeom prst="roundRect">
            <a:avLst>
              <a:gd name="adj" fmla="val 15000"/>
            </a:avLst>
          </a:prstGeom>
          <a:solidFill>
            <a:schemeClr val="accent1"/>
          </a:solidFill>
          <a:ln/>
        </p:spPr>
      </p:sp>
      <p:sp>
        <p:nvSpPr>
          <p:cNvPr id="17" name="Text 69"/>
          <p:cNvSpPr txBox="1"/>
          <p:nvPr/>
        </p:nvSpPr>
        <p:spPr>
          <a:xfrm>
            <a:off x="6803136"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5</a:t>
            </a:r>
            <a:endParaRPr lang="en-US" sz="1800" dirty="0"/>
          </a:p>
        </p:txBody>
      </p:sp>
      <p:sp>
        <p:nvSpPr>
          <p:cNvPr id="18" name="Rounded 70"/>
          <p:cNvSpPr/>
          <p:nvPr/>
        </p:nvSpPr>
        <p:spPr>
          <a:xfrm>
            <a:off x="7680960" y="3429000"/>
            <a:ext cx="804672" cy="365760"/>
          </a:xfrm>
          <a:prstGeom prst="roundRect">
            <a:avLst>
              <a:gd name="adj" fmla="val 15000"/>
            </a:avLst>
          </a:prstGeom>
          <a:solidFill>
            <a:schemeClr val="accent1"/>
          </a:solidFill>
          <a:ln/>
        </p:spPr>
      </p:sp>
      <p:sp>
        <p:nvSpPr>
          <p:cNvPr id="19" name="Text 71"/>
          <p:cNvSpPr txBox="1"/>
          <p:nvPr/>
        </p:nvSpPr>
        <p:spPr>
          <a:xfrm>
            <a:off x="7680960"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6</a:t>
            </a:r>
            <a:endParaRPr lang="en-US" sz="1800" dirty="0"/>
          </a:p>
        </p:txBody>
      </p:sp>
      <p:sp>
        <p:nvSpPr>
          <p:cNvPr id="20" name="Rounded 72"/>
          <p:cNvSpPr/>
          <p:nvPr/>
        </p:nvSpPr>
        <p:spPr>
          <a:xfrm>
            <a:off x="8558784" y="3429000"/>
            <a:ext cx="804672" cy="365760"/>
          </a:xfrm>
          <a:prstGeom prst="roundRect">
            <a:avLst>
              <a:gd name="adj" fmla="val 15000"/>
            </a:avLst>
          </a:prstGeom>
          <a:solidFill>
            <a:schemeClr val="accent1"/>
          </a:solidFill>
          <a:ln/>
        </p:spPr>
      </p:sp>
      <p:sp>
        <p:nvSpPr>
          <p:cNvPr id="21" name="Text 73"/>
          <p:cNvSpPr txBox="1"/>
          <p:nvPr/>
        </p:nvSpPr>
        <p:spPr>
          <a:xfrm>
            <a:off x="8558784"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7</a:t>
            </a:r>
            <a:endParaRPr lang="en-US" sz="1800" dirty="0"/>
          </a:p>
        </p:txBody>
      </p:sp>
      <p:sp>
        <p:nvSpPr>
          <p:cNvPr id="22" name="Rounded 74"/>
          <p:cNvSpPr/>
          <p:nvPr/>
        </p:nvSpPr>
        <p:spPr>
          <a:xfrm>
            <a:off x="9436608" y="3429000"/>
            <a:ext cx="804672" cy="365760"/>
          </a:xfrm>
          <a:prstGeom prst="roundRect">
            <a:avLst>
              <a:gd name="adj" fmla="val 15000"/>
            </a:avLst>
          </a:prstGeom>
          <a:solidFill>
            <a:schemeClr val="accent1"/>
          </a:solidFill>
          <a:ln/>
        </p:spPr>
      </p:sp>
      <p:sp>
        <p:nvSpPr>
          <p:cNvPr id="23" name="Text 75"/>
          <p:cNvSpPr txBox="1"/>
          <p:nvPr/>
        </p:nvSpPr>
        <p:spPr>
          <a:xfrm>
            <a:off x="9436608" y="3904488"/>
            <a:ext cx="804672" cy="292608"/>
          </a:xfrm>
          <a:prstGeom prst="rect">
            <a:avLst/>
          </a:prstGeom>
          <a:noFill/>
          <a:ln/>
        </p:spPr>
        <p:txBody>
          <a:bodyPr wrap="square" lIns="0" tIns="0" rIns="0" bIns="0" rtlCol="0" anchor="ctr"/>
          <a:lstStyle/>
          <a:p>
            <a:pPr algn="ctr" indent="0" marL="0">
              <a:buNone/>
            </a:pPr>
            <a:r>
              <a:rPr lang="en-US" sz="1800" dirty="0">
                <a:solidFill>
                  <a:schemeClr val="tx2"/>
                </a:solidFill>
              </a:rPr>
              <a:t>8</a:t>
            </a:r>
            <a:endParaRPr lang="en-US" sz="1800" dirty="0"/>
          </a:p>
        </p:txBody>
      </p:sp>
      <p:sp>
        <p:nvSpPr>
          <p:cNvPr id="24" name="Text 76"/>
          <p:cNvSpPr txBox="1"/>
          <p:nvPr/>
        </p:nvSpPr>
        <p:spPr>
          <a:xfrm>
            <a:off x="10332720" y="3904488"/>
            <a:ext cx="548640" cy="292608"/>
          </a:xfrm>
          <a:prstGeom prst="rect">
            <a:avLst/>
          </a:prstGeom>
          <a:noFill/>
          <a:ln/>
        </p:spPr>
        <p:txBody>
          <a:bodyPr wrap="square" lIns="0" tIns="0" rIns="0" bIns="0" rtlCol="0" anchor="ctr"/>
          <a:lstStyle/>
          <a:p>
            <a:pPr indent="0" marL="0">
              <a:buNone/>
            </a:pPr>
            <a:r>
              <a:rPr lang="en-US" sz="1800" dirty="0">
                <a:solidFill>
                  <a:schemeClr val="tx2"/>
                </a:solidFill>
              </a:rPr>
              <a:t>km</a:t>
            </a:r>
            <a:endParaRPr lang="en-US" sz="1800" dirty="0"/>
          </a:p>
        </p:txBody>
      </p:sp>
      <p:pic>
        <p:nvPicPr>
          <p:cNvPr id="25" name="Icon 77" descr="preencoded.png">    </p:cNvPr>
          <p:cNvPicPr>
            <a:picLocks noChangeAspect="1"/>
          </p:cNvPicPr>
          <p:nvPr/>
        </p:nvPicPr>
        <p:blipFill>
          <a:blip r:embed="rId1"/>
          <a:stretch>
            <a:fillRect/>
          </a:stretch>
        </p:blipFill>
        <p:spPr>
          <a:xfrm rot="5400000">
            <a:off x="10424160" y="3374136"/>
            <a:ext cx="475488" cy="475488"/>
          </a:xfrm>
          <a:prstGeom prst="rect">
            <a:avLst/>
          </a:prstGeom>
        </p:spPr>
      </p:pic>
      <p:sp>
        <p:nvSpPr>
          <p:cNvPr id="26" name="Text 78"/>
          <p:cNvSpPr txBox="1"/>
          <p:nvPr/>
        </p:nvSpPr>
        <p:spPr>
          <a:xfrm>
            <a:off x="3291840" y="2286000"/>
            <a:ext cx="6949440" cy="640080"/>
          </a:xfrm>
          <a:prstGeom prst="rect">
            <a:avLst/>
          </a:prstGeom>
          <a:noFill/>
          <a:ln/>
        </p:spPr>
        <p:txBody>
          <a:bodyPr wrap="square" lIns="0" tIns="0" rIns="0" bIns="0" rtlCol="0" anchor="ctr"/>
          <a:lstStyle/>
          <a:p>
            <a:pPr algn="r" indent="0" marL="0">
              <a:buNone/>
            </a:pPr>
            <a:r>
              <a:rPr lang="en-US" sz="4000" b="1" spc="-100" kern="0" dirty="0">
                <a:solidFill>
                  <a:schemeClr val="tx1"/>
                </a:solidFill>
              </a:rPr>
              <a:t>≈ 8 km</a:t>
            </a:r>
            <a:endParaRPr lang="en-US" sz="4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One Wingspan Already Exceeds the First Flight's Distance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Same scale, only 3 feet apart</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The first flight fits inside one wingspan</a:t>
            </a:r>
            <a:endParaRPr lang="en-US" sz="2800" dirty="0"/>
          </a:p>
        </p:txBody>
      </p:sp>
      <p:sp>
        <p:nvSpPr>
          <p:cNvPr id="6" name="Text 79"/>
          <p:cNvSpPr txBox="1"/>
          <p:nvPr/>
        </p:nvSpPr>
        <p:spPr>
          <a:xfrm>
            <a:off x="1097280" y="2011680"/>
            <a:ext cx="6400800" cy="411480"/>
          </a:xfrm>
          <a:prstGeom prst="rect">
            <a:avLst/>
          </a:prstGeom>
          <a:noFill/>
          <a:ln/>
        </p:spPr>
        <p:txBody>
          <a:bodyPr wrap="square" lIns="0" tIns="0" rIns="0" bIns="0" rtlCol="0" anchor="b"/>
          <a:lstStyle/>
          <a:p>
            <a:pPr indent="0" marL="0">
              <a:buNone/>
            </a:pPr>
            <a:r>
              <a:rPr lang="en-US" sz="2200" dirty="0">
                <a:solidFill>
                  <a:schemeClr val="tx1"/>
                </a:solidFill>
              </a:rPr>
              <a:t>First flight, 1903</a:t>
            </a:r>
            <a:endParaRPr lang="en-US" sz="2200" dirty="0"/>
          </a:p>
        </p:txBody>
      </p:sp>
      <p:sp>
        <p:nvSpPr>
          <p:cNvPr id="7" name="Shape 80"/>
          <p:cNvSpPr/>
          <p:nvPr/>
        </p:nvSpPr>
        <p:spPr>
          <a:xfrm>
            <a:off x="1097280" y="2724912"/>
            <a:ext cx="8296507" cy="128016"/>
          </a:xfrm>
          <a:prstGeom prst="rect">
            <a:avLst/>
          </a:prstGeom>
          <a:solidFill>
            <a:schemeClr val="accent5"/>
          </a:solidFill>
          <a:ln/>
        </p:spPr>
      </p:sp>
      <p:sp>
        <p:nvSpPr>
          <p:cNvPr id="8" name="Shape 81"/>
          <p:cNvSpPr/>
          <p:nvPr/>
        </p:nvSpPr>
        <p:spPr>
          <a:xfrm>
            <a:off x="9366355" y="2569464"/>
            <a:ext cx="27432" cy="438912"/>
          </a:xfrm>
          <a:prstGeom prst="rect">
            <a:avLst/>
          </a:prstGeom>
          <a:solidFill>
            <a:schemeClr val="accent5"/>
          </a:solidFill>
          <a:ln/>
        </p:spPr>
      </p:sp>
      <p:sp>
        <p:nvSpPr>
          <p:cNvPr id="9" name="Shape 82"/>
          <p:cNvSpPr/>
          <p:nvPr/>
        </p:nvSpPr>
        <p:spPr>
          <a:xfrm>
            <a:off x="1097280" y="2569464"/>
            <a:ext cx="27432" cy="438912"/>
          </a:xfrm>
          <a:prstGeom prst="rect">
            <a:avLst/>
          </a:prstGeom>
          <a:solidFill>
            <a:schemeClr val="accent5"/>
          </a:solidFill>
          <a:ln/>
        </p:spPr>
      </p:sp>
      <p:sp>
        <p:nvSpPr>
          <p:cNvPr id="10" name="Text 83"/>
          <p:cNvSpPr txBox="1"/>
          <p:nvPr/>
        </p:nvSpPr>
        <p:spPr>
          <a:xfrm>
            <a:off x="9875520" y="2468880"/>
            <a:ext cx="1645920" cy="640080"/>
          </a:xfrm>
          <a:prstGeom prst="rect">
            <a:avLst/>
          </a:prstGeom>
          <a:noFill/>
          <a:ln/>
        </p:spPr>
        <p:txBody>
          <a:bodyPr wrap="square" lIns="0" tIns="0" rIns="0" bIns="0" rtlCol="0" anchor="ctr"/>
          <a:lstStyle/>
          <a:p>
            <a:pPr indent="0" marL="0">
              <a:buNone/>
            </a:pPr>
            <a:r>
              <a:rPr lang="en-US" sz="2800" b="1" dirty="0">
                <a:solidFill>
                  <a:schemeClr val="tx1"/>
                </a:solidFill>
              </a:rPr>
              <a:t>120 ft</a:t>
            </a:r>
            <a:endParaRPr lang="en-US" sz="2800" dirty="0"/>
          </a:p>
        </p:txBody>
      </p:sp>
      <p:sp>
        <p:nvSpPr>
          <p:cNvPr id="11" name="Text 84"/>
          <p:cNvSpPr txBox="1"/>
          <p:nvPr/>
        </p:nvSpPr>
        <p:spPr>
          <a:xfrm>
            <a:off x="1097280" y="3429000"/>
            <a:ext cx="6400800" cy="411480"/>
          </a:xfrm>
          <a:prstGeom prst="rect">
            <a:avLst/>
          </a:prstGeom>
          <a:noFill/>
          <a:ln/>
        </p:spPr>
        <p:txBody>
          <a:bodyPr wrap="square" lIns="0" tIns="0" rIns="0" bIns="0" rtlCol="0" anchor="b"/>
          <a:lstStyle/>
          <a:p>
            <a:pPr indent="0" marL="0">
              <a:buNone/>
            </a:pPr>
            <a:r>
              <a:rPr lang="en-US" sz="2200" dirty="0">
                <a:solidFill>
                  <a:schemeClr val="tx1"/>
                </a:solidFill>
              </a:rPr>
              <a:t>Super Constellation wingspan</a:t>
            </a:r>
            <a:endParaRPr lang="en-US" sz="2200" dirty="0"/>
          </a:p>
        </p:txBody>
      </p:sp>
      <p:sp>
        <p:nvSpPr>
          <p:cNvPr id="12" name="Shape 85"/>
          <p:cNvSpPr/>
          <p:nvPr/>
        </p:nvSpPr>
        <p:spPr>
          <a:xfrm>
            <a:off x="1097280" y="4142232"/>
            <a:ext cx="8503920" cy="128016"/>
          </a:xfrm>
          <a:prstGeom prst="rect">
            <a:avLst/>
          </a:prstGeom>
          <a:solidFill>
            <a:schemeClr val="accent1"/>
          </a:solidFill>
          <a:ln/>
        </p:spPr>
      </p:sp>
      <p:sp>
        <p:nvSpPr>
          <p:cNvPr id="13" name="Shape 86"/>
          <p:cNvSpPr/>
          <p:nvPr/>
        </p:nvSpPr>
        <p:spPr>
          <a:xfrm>
            <a:off x="9573768" y="3986784"/>
            <a:ext cx="27432" cy="438912"/>
          </a:xfrm>
          <a:prstGeom prst="rect">
            <a:avLst/>
          </a:prstGeom>
          <a:solidFill>
            <a:schemeClr val="accent1"/>
          </a:solidFill>
          <a:ln/>
        </p:spPr>
      </p:sp>
      <p:sp>
        <p:nvSpPr>
          <p:cNvPr id="14" name="Shape 87"/>
          <p:cNvSpPr/>
          <p:nvPr/>
        </p:nvSpPr>
        <p:spPr>
          <a:xfrm>
            <a:off x="1097280" y="3986784"/>
            <a:ext cx="27432" cy="438912"/>
          </a:xfrm>
          <a:prstGeom prst="rect">
            <a:avLst/>
          </a:prstGeom>
          <a:solidFill>
            <a:schemeClr val="accent1"/>
          </a:solidFill>
          <a:ln/>
        </p:spPr>
      </p:sp>
      <p:sp>
        <p:nvSpPr>
          <p:cNvPr id="15" name="Text 88"/>
          <p:cNvSpPr txBox="1"/>
          <p:nvPr/>
        </p:nvSpPr>
        <p:spPr>
          <a:xfrm>
            <a:off x="9875520" y="3886200"/>
            <a:ext cx="1645920" cy="640080"/>
          </a:xfrm>
          <a:prstGeom prst="rect">
            <a:avLst/>
          </a:prstGeom>
          <a:noFill/>
          <a:ln/>
        </p:spPr>
        <p:txBody>
          <a:bodyPr wrap="square" lIns="0" tIns="0" rIns="0" bIns="0" rtlCol="0" anchor="ctr"/>
          <a:lstStyle/>
          <a:p>
            <a:pPr indent="0" marL="0">
              <a:buNone/>
            </a:pPr>
            <a:r>
              <a:rPr lang="en-US" sz="2800" b="1" dirty="0">
                <a:solidFill>
                  <a:schemeClr val="tx1"/>
                </a:solidFill>
              </a:rPr>
              <a:t>123 ft</a:t>
            </a:r>
            <a:endParaRPr lang="en-US" sz="2800" dirty="0"/>
          </a:p>
        </p:txBody>
      </p:sp>
      <p:sp>
        <p:nvSpPr>
          <p:cNvPr id="16" name="Line 89"/>
          <p:cNvSpPr/>
          <p:nvPr/>
        </p:nvSpPr>
        <p:spPr>
          <a:xfrm>
            <a:off x="9393787" y="3063240"/>
            <a:ext cx="0" cy="1417320"/>
          </a:xfrm>
          <a:prstGeom prst="line">
            <a:avLst/>
          </a:prstGeom>
          <a:noFill/>
          <a:ln w="9525">
            <a:solidFill>
              <a:schemeClr val="accent2"/>
            </a:solidFill>
            <a:prstDash val="dash"/>
          </a:ln>
        </p:spPr>
      </p:sp>
      <p:sp>
        <p:nvSpPr>
          <p:cNvPr id="17" name="Text 90"/>
          <p:cNvSpPr txBox="1"/>
          <p:nvPr/>
        </p:nvSpPr>
        <p:spPr>
          <a:xfrm>
            <a:off x="9503515" y="3657600"/>
            <a:ext cx="1097280" cy="320040"/>
          </a:xfrm>
          <a:prstGeom prst="rect">
            <a:avLst/>
          </a:prstGeom>
          <a:noFill/>
          <a:ln/>
        </p:spPr>
        <p:txBody>
          <a:bodyPr wrap="square" lIns="0" tIns="0" rIns="0" bIns="0" rtlCol="0" anchor="ctr"/>
          <a:lstStyle/>
          <a:p>
            <a:pPr indent="0" marL="0">
              <a:buNone/>
            </a:pPr>
            <a:r>
              <a:rPr lang="en-US" sz="1800" b="1" dirty="0">
                <a:solidFill>
                  <a:schemeClr val="accent1"/>
                </a:solidFill>
              </a:rPr>
              <a:t>+3 ft</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Behind the Comfort Lies an Engineering System</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Pressurization for passengers, hydraulics for pilots</a:t>
            </a:r>
            <a:endParaRPr lang="en-US" sz="2800" dirty="0"/>
          </a:p>
        </p:txBody>
      </p:sp>
      <p:sp>
        <p:nvSpPr>
          <p:cNvPr id="5" name="Rounded 91"/>
          <p:cNvSpPr/>
          <p:nvPr/>
        </p:nvSpPr>
        <p:spPr>
          <a:xfrm>
            <a:off x="731520" y="1463040"/>
            <a:ext cx="10728655" cy="1691640"/>
          </a:xfrm>
          <a:prstGeom prst="roundRect">
            <a:avLst>
              <a:gd name="adj" fmla="val 11892"/>
            </a:avLst>
          </a:prstGeom>
          <a:solidFill>
            <a:schemeClr val="bg2"/>
          </a:solidFill>
          <a:ln/>
        </p:spPr>
      </p:sp>
      <p:sp>
        <p:nvSpPr>
          <p:cNvPr id="6" name="Text 92"/>
          <p:cNvSpPr txBox="1"/>
          <p:nvPr/>
        </p:nvSpPr>
        <p:spPr>
          <a:xfrm>
            <a:off x="1188720" y="1847088"/>
            <a:ext cx="274320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PASSENGERS</a:t>
            </a:r>
            <a:endParaRPr lang="en-US" sz="1500" dirty="0"/>
          </a:p>
        </p:txBody>
      </p:sp>
      <p:sp>
        <p:nvSpPr>
          <p:cNvPr id="7" name="Text 93"/>
          <p:cNvSpPr txBox="1"/>
          <p:nvPr/>
        </p:nvSpPr>
        <p:spPr>
          <a:xfrm>
            <a:off x="1188720" y="2148840"/>
            <a:ext cx="3200400" cy="548640"/>
          </a:xfrm>
          <a:prstGeom prst="rect">
            <a:avLst/>
          </a:prstGeom>
          <a:noFill/>
          <a:ln/>
        </p:spPr>
        <p:txBody>
          <a:bodyPr wrap="square" lIns="0" tIns="0" rIns="0" bIns="0" rtlCol="0" anchor="ctr"/>
          <a:lstStyle/>
          <a:p>
            <a:pPr indent="0" marL="0">
              <a:buNone/>
            </a:pPr>
            <a:r>
              <a:rPr lang="en-US" sz="2600" b="1" dirty="0">
                <a:solidFill>
                  <a:schemeClr val="tx1"/>
                </a:solidFill>
              </a:rPr>
              <a:t>Pressurization</a:t>
            </a:r>
            <a:endParaRPr lang="en-US" sz="2600" dirty="0"/>
          </a:p>
        </p:txBody>
      </p:sp>
      <p:sp>
        <p:nvSpPr>
          <p:cNvPr id="8" name="Rounded 94"/>
          <p:cNvSpPr/>
          <p:nvPr/>
        </p:nvSpPr>
        <p:spPr>
          <a:xfrm>
            <a:off x="4480560" y="1943100"/>
            <a:ext cx="3017520" cy="731520"/>
          </a:xfrm>
          <a:prstGeom prst="roundRect">
            <a:avLst>
              <a:gd name="adj" fmla="val 50000"/>
            </a:avLst>
          </a:prstGeom>
          <a:solidFill>
            <a:schemeClr val="accent1"/>
          </a:solidFill>
          <a:ln/>
        </p:spPr>
      </p:sp>
      <p:sp>
        <p:nvSpPr>
          <p:cNvPr id="9" name="Text 95"/>
          <p:cNvSpPr txBox="1"/>
          <p:nvPr/>
        </p:nvSpPr>
        <p:spPr>
          <a:xfrm>
            <a:off x="4480560" y="1943100"/>
            <a:ext cx="3017520" cy="731520"/>
          </a:xfrm>
          <a:prstGeom prst="rect">
            <a:avLst/>
          </a:prstGeom>
          <a:noFill/>
          <a:ln/>
        </p:spPr>
        <p:txBody>
          <a:bodyPr wrap="square" lIns="0" tIns="0" rIns="0" bIns="0" rtlCol="0" anchor="ctr"/>
          <a:lstStyle/>
          <a:p>
            <a:pPr algn="ctr" indent="0" marL="0">
              <a:buNone/>
            </a:pPr>
            <a:r>
              <a:rPr lang="en-US" sz="2000" b="1" dirty="0">
                <a:solidFill>
                  <a:schemeClr val="bg1"/>
                </a:solidFill>
              </a:rPr>
              <a:t>Cabin · higher pressure</a:t>
            </a:r>
            <a:endParaRPr lang="en-US" sz="2000" dirty="0"/>
          </a:p>
        </p:txBody>
      </p:sp>
      <p:sp>
        <p:nvSpPr>
          <p:cNvPr id="10" name="Text 96"/>
          <p:cNvSpPr txBox="1"/>
          <p:nvPr/>
        </p:nvSpPr>
        <p:spPr>
          <a:xfrm>
            <a:off x="7498080" y="1943100"/>
            <a:ext cx="548640" cy="731520"/>
          </a:xfrm>
          <a:prstGeom prst="rect">
            <a:avLst/>
          </a:prstGeom>
          <a:noFill/>
          <a:ln/>
        </p:spPr>
        <p:txBody>
          <a:bodyPr wrap="square" lIns="0" tIns="0" rIns="0" bIns="0" rtlCol="0" anchor="ctr"/>
          <a:lstStyle/>
          <a:p>
            <a:pPr algn="ctr" indent="0" marL="0">
              <a:buNone/>
            </a:pPr>
            <a:r>
              <a:rPr lang="en-US" sz="2000" dirty="0">
                <a:solidFill>
                  <a:schemeClr val="tx2"/>
                </a:solidFill>
              </a:rPr>
              <a:t>vs</a:t>
            </a:r>
            <a:endParaRPr lang="en-US" sz="2000" dirty="0"/>
          </a:p>
        </p:txBody>
      </p:sp>
      <p:sp>
        <p:nvSpPr>
          <p:cNvPr id="11" name="Rounded 97"/>
          <p:cNvSpPr/>
          <p:nvPr/>
        </p:nvSpPr>
        <p:spPr>
          <a:xfrm>
            <a:off x="8046720" y="1943100"/>
            <a:ext cx="3017520" cy="731520"/>
          </a:xfrm>
          <a:prstGeom prst="roundRect">
            <a:avLst>
              <a:gd name="adj" fmla="val 50000"/>
            </a:avLst>
          </a:prstGeom>
          <a:solidFill>
            <a:schemeClr val="accent4"/>
          </a:solidFill>
          <a:ln/>
        </p:spPr>
      </p:sp>
      <p:sp>
        <p:nvSpPr>
          <p:cNvPr id="12" name="Text 98"/>
          <p:cNvSpPr txBox="1"/>
          <p:nvPr/>
        </p:nvSpPr>
        <p:spPr>
          <a:xfrm>
            <a:off x="8046720" y="1943100"/>
            <a:ext cx="3017520" cy="731520"/>
          </a:xfrm>
          <a:prstGeom prst="rect">
            <a:avLst/>
          </a:prstGeom>
          <a:noFill/>
          <a:ln/>
        </p:spPr>
        <p:txBody>
          <a:bodyPr wrap="square" lIns="0" tIns="0" rIns="0" bIns="0" rtlCol="0" anchor="ctr"/>
          <a:lstStyle/>
          <a:p>
            <a:pPr algn="ctr" indent="0" marL="0">
              <a:buNone/>
            </a:pPr>
            <a:r>
              <a:rPr lang="en-US" sz="2000" b="1" dirty="0">
                <a:solidFill>
                  <a:schemeClr val="tx1"/>
                </a:solidFill>
              </a:rPr>
              <a:t>Outside · lower pressure</a:t>
            </a:r>
            <a:endParaRPr lang="en-US" sz="2000" dirty="0"/>
          </a:p>
        </p:txBody>
      </p:sp>
      <p:sp>
        <p:nvSpPr>
          <p:cNvPr id="13" name="Rounded 99"/>
          <p:cNvSpPr/>
          <p:nvPr/>
        </p:nvSpPr>
        <p:spPr>
          <a:xfrm>
            <a:off x="731520" y="3429000"/>
            <a:ext cx="10728655" cy="1691640"/>
          </a:xfrm>
          <a:prstGeom prst="roundRect">
            <a:avLst>
              <a:gd name="adj" fmla="val 11892"/>
            </a:avLst>
          </a:prstGeom>
          <a:solidFill>
            <a:schemeClr val="bg2"/>
          </a:solidFill>
          <a:ln/>
        </p:spPr>
      </p:sp>
      <p:sp>
        <p:nvSpPr>
          <p:cNvPr id="14" name="Text 100"/>
          <p:cNvSpPr txBox="1"/>
          <p:nvPr/>
        </p:nvSpPr>
        <p:spPr>
          <a:xfrm>
            <a:off x="1188720" y="3813048"/>
            <a:ext cx="274320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PILOTS</a:t>
            </a:r>
            <a:endParaRPr lang="en-US" sz="1500" dirty="0"/>
          </a:p>
        </p:txBody>
      </p:sp>
      <p:sp>
        <p:nvSpPr>
          <p:cNvPr id="15" name="Text 101"/>
          <p:cNvSpPr txBox="1"/>
          <p:nvPr/>
        </p:nvSpPr>
        <p:spPr>
          <a:xfrm>
            <a:off x="1188720" y="4114800"/>
            <a:ext cx="3200400" cy="548640"/>
          </a:xfrm>
          <a:prstGeom prst="rect">
            <a:avLst/>
          </a:prstGeom>
          <a:noFill/>
          <a:ln/>
        </p:spPr>
        <p:txBody>
          <a:bodyPr wrap="square" lIns="0" tIns="0" rIns="0" bIns="0" rtlCol="0" anchor="ctr"/>
          <a:lstStyle/>
          <a:p>
            <a:pPr indent="0" marL="0">
              <a:buNone/>
            </a:pPr>
            <a:r>
              <a:rPr lang="en-US" sz="2600" b="1" dirty="0">
                <a:solidFill>
                  <a:schemeClr val="tx1"/>
                </a:solidFill>
              </a:rPr>
              <a:t>Hydraulic boost</a:t>
            </a:r>
            <a:endParaRPr lang="en-US" sz="2600" dirty="0"/>
          </a:p>
        </p:txBody>
      </p:sp>
      <p:sp>
        <p:nvSpPr>
          <p:cNvPr id="16" name="Rounded 102"/>
          <p:cNvSpPr/>
          <p:nvPr/>
        </p:nvSpPr>
        <p:spPr>
          <a:xfrm>
            <a:off x="4343400" y="3954780"/>
            <a:ext cx="1828800" cy="640080"/>
          </a:xfrm>
          <a:prstGeom prst="roundRect">
            <a:avLst>
              <a:gd name="adj" fmla="val 50000"/>
            </a:avLst>
          </a:prstGeom>
          <a:solidFill>
            <a:schemeClr val="accent4"/>
          </a:solidFill>
          <a:ln/>
        </p:spPr>
      </p:sp>
      <p:sp>
        <p:nvSpPr>
          <p:cNvPr id="17" name="Text 103"/>
          <p:cNvSpPr txBox="1"/>
          <p:nvPr/>
        </p:nvSpPr>
        <p:spPr>
          <a:xfrm>
            <a:off x="4343400" y="3954780"/>
            <a:ext cx="1828800" cy="640080"/>
          </a:xfrm>
          <a:prstGeom prst="rect">
            <a:avLst/>
          </a:prstGeom>
          <a:noFill/>
          <a:ln/>
        </p:spPr>
        <p:txBody>
          <a:bodyPr wrap="square" lIns="0" tIns="0" rIns="0" bIns="0" rtlCol="0" anchor="ctr"/>
          <a:lstStyle/>
          <a:p>
            <a:pPr algn="ctr" indent="0" marL="0">
              <a:buNone/>
            </a:pPr>
            <a:r>
              <a:rPr lang="en-US" sz="1800" b="1" dirty="0">
                <a:solidFill>
                  <a:schemeClr val="tx1"/>
                </a:solidFill>
              </a:rPr>
              <a:t>Pilot input</a:t>
            </a:r>
            <a:endParaRPr lang="en-US" sz="1800" dirty="0"/>
          </a:p>
        </p:txBody>
      </p:sp>
      <p:sp>
        <p:nvSpPr>
          <p:cNvPr id="18" name="Arrow 104"/>
          <p:cNvSpPr/>
          <p:nvPr/>
        </p:nvSpPr>
        <p:spPr>
          <a:xfrm>
            <a:off x="6245352" y="4274820"/>
            <a:ext cx="310896" cy="0"/>
          </a:xfrm>
          <a:prstGeom prst="line">
            <a:avLst/>
          </a:prstGeom>
          <a:noFill/>
          <a:ln w="19050">
            <a:solidFill>
              <a:schemeClr val="tx2"/>
            </a:solidFill>
            <a:prstDash val="solid"/>
            <a:tailEnd type="triangle"/>
          </a:ln>
        </p:spPr>
      </p:sp>
      <p:sp>
        <p:nvSpPr>
          <p:cNvPr id="19" name="Rounded 105"/>
          <p:cNvSpPr/>
          <p:nvPr/>
        </p:nvSpPr>
        <p:spPr>
          <a:xfrm>
            <a:off x="6629400" y="3954780"/>
            <a:ext cx="1828800" cy="640080"/>
          </a:xfrm>
          <a:prstGeom prst="roundRect">
            <a:avLst>
              <a:gd name="adj" fmla="val 50000"/>
            </a:avLst>
          </a:prstGeom>
          <a:solidFill>
            <a:schemeClr val="accent1"/>
          </a:solidFill>
          <a:ln/>
        </p:spPr>
      </p:sp>
      <p:sp>
        <p:nvSpPr>
          <p:cNvPr id="20" name="Text 106"/>
          <p:cNvSpPr txBox="1"/>
          <p:nvPr/>
        </p:nvSpPr>
        <p:spPr>
          <a:xfrm>
            <a:off x="6629400" y="3954780"/>
            <a:ext cx="1828800" cy="640080"/>
          </a:xfrm>
          <a:prstGeom prst="rect">
            <a:avLst/>
          </a:prstGeom>
          <a:noFill/>
          <a:ln/>
        </p:spPr>
        <p:txBody>
          <a:bodyPr wrap="square" lIns="0" tIns="0" rIns="0" bIns="0" rtlCol="0" anchor="ctr"/>
          <a:lstStyle/>
          <a:p>
            <a:pPr algn="ctr" indent="0" marL="0">
              <a:buNone/>
            </a:pPr>
            <a:r>
              <a:rPr lang="en-US" sz="1800" b="1" dirty="0">
                <a:solidFill>
                  <a:schemeClr val="bg1"/>
                </a:solidFill>
              </a:rPr>
              <a:t>Hydraulic boost</a:t>
            </a:r>
            <a:endParaRPr lang="en-US" sz="1800" dirty="0"/>
          </a:p>
        </p:txBody>
      </p:sp>
      <p:sp>
        <p:nvSpPr>
          <p:cNvPr id="21" name="Arrow 107"/>
          <p:cNvSpPr/>
          <p:nvPr/>
        </p:nvSpPr>
        <p:spPr>
          <a:xfrm>
            <a:off x="8531352" y="4274820"/>
            <a:ext cx="310896" cy="0"/>
          </a:xfrm>
          <a:prstGeom prst="line">
            <a:avLst/>
          </a:prstGeom>
          <a:noFill/>
          <a:ln w="19050">
            <a:solidFill>
              <a:schemeClr val="tx2"/>
            </a:solidFill>
            <a:prstDash val="solid"/>
            <a:tailEnd type="triangle"/>
          </a:ln>
        </p:spPr>
      </p:sp>
      <p:sp>
        <p:nvSpPr>
          <p:cNvPr id="22" name="Rounded 108"/>
          <p:cNvSpPr/>
          <p:nvPr/>
        </p:nvSpPr>
        <p:spPr>
          <a:xfrm>
            <a:off x="8915400" y="3954780"/>
            <a:ext cx="1828800" cy="640080"/>
          </a:xfrm>
          <a:prstGeom prst="roundRect">
            <a:avLst>
              <a:gd name="adj" fmla="val 50000"/>
            </a:avLst>
          </a:prstGeom>
          <a:solidFill>
            <a:schemeClr val="accent4"/>
          </a:solidFill>
          <a:ln/>
        </p:spPr>
      </p:sp>
      <p:sp>
        <p:nvSpPr>
          <p:cNvPr id="23" name="Text 109"/>
          <p:cNvSpPr txBox="1"/>
          <p:nvPr/>
        </p:nvSpPr>
        <p:spPr>
          <a:xfrm>
            <a:off x="8915400" y="3954780"/>
            <a:ext cx="1828800" cy="640080"/>
          </a:xfrm>
          <a:prstGeom prst="rect">
            <a:avLst/>
          </a:prstGeom>
          <a:noFill/>
          <a:ln/>
        </p:spPr>
        <p:txBody>
          <a:bodyPr wrap="square" lIns="0" tIns="0" rIns="0" bIns="0" rtlCol="0" anchor="ctr"/>
          <a:lstStyle/>
          <a:p>
            <a:pPr algn="ctr" indent="0" marL="0">
              <a:buNone/>
            </a:pPr>
            <a:r>
              <a:rPr lang="en-US" sz="1800" b="1" dirty="0">
                <a:solidFill>
                  <a:schemeClr val="tx1"/>
                </a:solidFill>
              </a:rPr>
              <a:t>Control surfaces</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110"/>
          <p:cNvSpPr txBox="1"/>
          <p:nvPr/>
        </p:nvSpPr>
        <p:spPr>
          <a:xfrm>
            <a:off x="822960" y="685800"/>
            <a:ext cx="6400800" cy="822960"/>
          </a:xfrm>
          <a:prstGeom prst="rect">
            <a:avLst/>
          </a:prstGeom>
          <a:noFill/>
          <a:ln/>
        </p:spPr>
        <p:txBody>
          <a:bodyPr wrap="square" lIns="0" tIns="0" rIns="0" bIns="0" rtlCol="0" anchor="ctr"/>
          <a:lstStyle/>
          <a:p>
            <a:pPr indent="0" marL="0">
              <a:buNone/>
            </a:pPr>
            <a:r>
              <a:rPr lang="en-US" sz="4400" b="1" spc="-150" kern="0" dirty="0">
                <a:solidFill>
                  <a:schemeClr val="tx1"/>
                </a:solidFill>
              </a:rPr>
              <a:t>One more thing…</a:t>
            </a:r>
            <a:endParaRPr lang="en-US" sz="4400" dirty="0"/>
          </a:p>
        </p:txBody>
      </p:sp>
      <p:sp>
        <p:nvSpPr>
          <p:cNvPr id="3" name="Text 111"/>
          <p:cNvSpPr txBox="1"/>
          <p:nvPr/>
        </p:nvSpPr>
        <p:spPr>
          <a:xfrm>
            <a:off x="822960" y="1508760"/>
            <a:ext cx="6766560" cy="457200"/>
          </a:xfrm>
          <a:prstGeom prst="rect">
            <a:avLst/>
          </a:prstGeom>
          <a:noFill/>
          <a:ln/>
        </p:spPr>
        <p:txBody>
          <a:bodyPr wrap="square" lIns="0" tIns="0" rIns="0" bIns="0" rtlCol="0" anchor="ctr"/>
          <a:lstStyle/>
          <a:p>
            <a:pPr indent="0" marL="0">
              <a:buNone/>
            </a:pPr>
            <a:r>
              <a:rPr lang="en-US" sz="2400" dirty="0">
                <a:solidFill>
                  <a:schemeClr val="tx2"/>
                </a:solidFill>
              </a:rPr>
              <a:t>The journey itself is worth looking forward to</a:t>
            </a:r>
            <a:endParaRPr lang="en-US" sz="2400" dirty="0"/>
          </a:p>
        </p:txBody>
      </p:sp>
      <p:sp>
        <p:nvSpPr>
          <p:cNvPr id="4" name="Text 112"/>
          <p:cNvSpPr txBox="1"/>
          <p:nvPr/>
        </p:nvSpPr>
        <p:spPr>
          <a:xfrm>
            <a:off x="822960" y="2468880"/>
            <a:ext cx="1737360" cy="640080"/>
          </a:xfrm>
          <a:prstGeom prst="rect">
            <a:avLst/>
          </a:prstGeom>
          <a:noFill/>
          <a:ln/>
        </p:spPr>
        <p:txBody>
          <a:bodyPr wrap="square" lIns="0" tIns="0" rIns="0" bIns="0" rtlCol="0" anchor="ctr"/>
          <a:lstStyle/>
          <a:p>
            <a:pPr indent="0" marL="0">
              <a:buNone/>
            </a:pPr>
            <a:r>
              <a:rPr lang="en-US" sz="2600" b="1" dirty="0">
                <a:solidFill>
                  <a:schemeClr val="tx1"/>
                </a:solidFill>
              </a:rPr>
              <a:t>Hamburg</a:t>
            </a:r>
            <a:endParaRPr lang="en-US" sz="2600" dirty="0"/>
          </a:p>
        </p:txBody>
      </p:sp>
      <p:sp>
        <p:nvSpPr>
          <p:cNvPr id="5" name="Line 113"/>
          <p:cNvSpPr/>
          <p:nvPr/>
        </p:nvSpPr>
        <p:spPr>
          <a:xfrm>
            <a:off x="2651760" y="2788920"/>
            <a:ext cx="2286000" cy="0"/>
          </a:xfrm>
          <a:prstGeom prst="line">
            <a:avLst/>
          </a:prstGeom>
          <a:noFill/>
          <a:ln w="12700">
            <a:solidFill>
              <a:schemeClr val="accent2"/>
            </a:solidFill>
            <a:prstDash val="sysDot"/>
          </a:ln>
        </p:spPr>
      </p:sp>
      <p:pic>
        <p:nvPicPr>
          <p:cNvPr id="6" name="Icon 114" descr="preencoded.png">    </p:cNvPr>
          <p:cNvPicPr>
            <a:picLocks noChangeAspect="1"/>
          </p:cNvPicPr>
          <p:nvPr/>
        </p:nvPicPr>
        <p:blipFill>
          <a:blip r:embed="rId2"/>
          <a:stretch>
            <a:fillRect/>
          </a:stretch>
        </p:blipFill>
        <p:spPr>
          <a:xfrm rot="5400000">
            <a:off x="3547872" y="2542032"/>
            <a:ext cx="493776" cy="493776"/>
          </a:xfrm>
          <a:prstGeom prst="rect">
            <a:avLst/>
          </a:prstGeom>
        </p:spPr>
      </p:pic>
      <p:sp>
        <p:nvSpPr>
          <p:cNvPr id="7" name="Text 115"/>
          <p:cNvSpPr txBox="1"/>
          <p:nvPr/>
        </p:nvSpPr>
        <p:spPr>
          <a:xfrm>
            <a:off x="5074920" y="2468880"/>
            <a:ext cx="1828800" cy="640080"/>
          </a:xfrm>
          <a:prstGeom prst="rect">
            <a:avLst/>
          </a:prstGeom>
          <a:noFill/>
          <a:ln/>
        </p:spPr>
        <p:txBody>
          <a:bodyPr wrap="square" lIns="0" tIns="0" rIns="0" bIns="0" rtlCol="0" anchor="ctr"/>
          <a:lstStyle/>
          <a:p>
            <a:pPr indent="0" marL="0">
              <a:buNone/>
            </a:pPr>
            <a:r>
              <a:rPr lang="en-US" sz="2600" b="1" dirty="0">
                <a:solidFill>
                  <a:schemeClr val="tx1"/>
                </a:solidFill>
              </a:rPr>
              <a:t>New York</a:t>
            </a:r>
            <a:endParaRPr lang="en-US" sz="2600" dirty="0"/>
          </a:p>
        </p:txBody>
      </p:sp>
      <p:sp>
        <p:nvSpPr>
          <p:cNvPr id="8" name="Text 116"/>
          <p:cNvSpPr txBox="1"/>
          <p:nvPr/>
        </p:nvSpPr>
        <p:spPr>
          <a:xfrm>
            <a:off x="822960" y="3200400"/>
            <a:ext cx="5760720" cy="365760"/>
          </a:xfrm>
          <a:prstGeom prst="rect">
            <a:avLst/>
          </a:prstGeom>
          <a:noFill/>
          <a:ln/>
        </p:spPr>
        <p:txBody>
          <a:bodyPr wrap="square" lIns="0" tIns="0" rIns="0" bIns="0" rtlCol="0" anchor="t"/>
          <a:lstStyle/>
          <a:p>
            <a:pPr indent="0" marL="0">
              <a:buNone/>
            </a:pPr>
            <a:r>
              <a:rPr lang="en-US" sz="2200" dirty="0">
                <a:solidFill>
                  <a:schemeClr val="tx2"/>
                </a:solidFill>
              </a:rPr>
              <a:t>Up to 17 hours</a:t>
            </a:r>
            <a:endParaRPr lang="en-US" sz="2200" dirty="0"/>
          </a:p>
        </p:txBody>
      </p:sp>
      <p:sp>
        <p:nvSpPr>
          <p:cNvPr id="9" name="Circle 117"/>
          <p:cNvSpPr/>
          <p:nvPr/>
        </p:nvSpPr>
        <p:spPr>
          <a:xfrm>
            <a:off x="822960" y="3959352"/>
            <a:ext cx="768096" cy="768096"/>
          </a:xfrm>
          <a:prstGeom prst="ellipse">
            <a:avLst/>
          </a:prstGeom>
          <a:solidFill>
            <a:schemeClr val="bg2"/>
          </a:solidFill>
          <a:ln/>
        </p:spPr>
      </p:sp>
      <p:pic>
        <p:nvPicPr>
          <p:cNvPr id="10" name="Icon 118" descr="preencoded.png">    </p:cNvPr>
          <p:cNvPicPr>
            <a:picLocks noChangeAspect="1"/>
          </p:cNvPicPr>
          <p:nvPr/>
        </p:nvPicPr>
        <p:blipFill>
          <a:blip r:embed="rId3"/>
          <a:stretch>
            <a:fillRect/>
          </a:stretch>
        </p:blipFill>
        <p:spPr>
          <a:xfrm>
            <a:off x="1014984" y="4151376"/>
            <a:ext cx="384048" cy="384048"/>
          </a:xfrm>
          <a:prstGeom prst="rect">
            <a:avLst/>
          </a:prstGeom>
        </p:spPr>
      </p:pic>
      <p:sp>
        <p:nvSpPr>
          <p:cNvPr id="11" name="Text 119"/>
          <p:cNvSpPr txBox="1"/>
          <p:nvPr/>
        </p:nvSpPr>
        <p:spPr>
          <a:xfrm>
            <a:off x="1737360" y="4023360"/>
            <a:ext cx="1051560" cy="640080"/>
          </a:xfrm>
          <a:prstGeom prst="rect">
            <a:avLst/>
          </a:prstGeom>
          <a:noFill/>
          <a:ln/>
        </p:spPr>
        <p:txBody>
          <a:bodyPr wrap="square" lIns="0" tIns="0" rIns="0" bIns="0" rtlCol="0" anchor="ctr"/>
          <a:lstStyle/>
          <a:p>
            <a:pPr indent="0" marL="0">
              <a:buNone/>
            </a:pPr>
            <a:r>
              <a:rPr lang="en-US" sz="2400" b="1" dirty="0">
                <a:solidFill>
                  <a:schemeClr val="tx1"/>
                </a:solidFill>
              </a:rPr>
              <a:t>Dine</a:t>
            </a:r>
            <a:endParaRPr lang="en-US" sz="2400" dirty="0"/>
          </a:p>
        </p:txBody>
      </p:sp>
      <p:sp>
        <p:nvSpPr>
          <p:cNvPr id="12" name="Circle 120"/>
          <p:cNvSpPr/>
          <p:nvPr/>
        </p:nvSpPr>
        <p:spPr>
          <a:xfrm>
            <a:off x="2788920" y="3959352"/>
            <a:ext cx="768096" cy="768096"/>
          </a:xfrm>
          <a:prstGeom prst="ellipse">
            <a:avLst/>
          </a:prstGeom>
          <a:solidFill>
            <a:schemeClr val="bg2"/>
          </a:solidFill>
          <a:ln/>
        </p:spPr>
      </p:sp>
      <p:pic>
        <p:nvPicPr>
          <p:cNvPr id="13" name="Icon 121" descr="preencoded.png">    </p:cNvPr>
          <p:cNvPicPr>
            <a:picLocks noChangeAspect="1"/>
          </p:cNvPicPr>
          <p:nvPr/>
        </p:nvPicPr>
        <p:blipFill>
          <a:blip r:embed="rId4"/>
          <a:stretch>
            <a:fillRect/>
          </a:stretch>
        </p:blipFill>
        <p:spPr>
          <a:xfrm>
            <a:off x="2980944" y="4151376"/>
            <a:ext cx="384048" cy="384048"/>
          </a:xfrm>
          <a:prstGeom prst="rect">
            <a:avLst/>
          </a:prstGeom>
        </p:spPr>
      </p:pic>
      <p:sp>
        <p:nvSpPr>
          <p:cNvPr id="14" name="Text 122"/>
          <p:cNvSpPr txBox="1"/>
          <p:nvPr/>
        </p:nvSpPr>
        <p:spPr>
          <a:xfrm>
            <a:off x="3703320" y="4023360"/>
            <a:ext cx="1051560" cy="640080"/>
          </a:xfrm>
          <a:prstGeom prst="rect">
            <a:avLst/>
          </a:prstGeom>
          <a:noFill/>
          <a:ln/>
        </p:spPr>
        <p:txBody>
          <a:bodyPr wrap="square" lIns="0" tIns="0" rIns="0" bIns="0" rtlCol="0" anchor="ctr"/>
          <a:lstStyle/>
          <a:p>
            <a:pPr indent="0" marL="0">
              <a:buNone/>
            </a:pPr>
            <a:r>
              <a:rPr lang="en-US" sz="2400" b="1" dirty="0">
                <a:solidFill>
                  <a:schemeClr val="tx1"/>
                </a:solidFill>
              </a:rPr>
              <a:t>Talk</a:t>
            </a:r>
            <a:endParaRPr lang="en-US" sz="2400" dirty="0"/>
          </a:p>
        </p:txBody>
      </p:sp>
      <p:sp>
        <p:nvSpPr>
          <p:cNvPr id="15" name="Circle 123"/>
          <p:cNvSpPr/>
          <p:nvPr/>
        </p:nvSpPr>
        <p:spPr>
          <a:xfrm>
            <a:off x="4754880" y="3959352"/>
            <a:ext cx="768096" cy="768096"/>
          </a:xfrm>
          <a:prstGeom prst="ellipse">
            <a:avLst/>
          </a:prstGeom>
          <a:solidFill>
            <a:schemeClr val="bg2"/>
          </a:solidFill>
          <a:ln/>
        </p:spPr>
      </p:sp>
      <p:pic>
        <p:nvPicPr>
          <p:cNvPr id="16" name="Icon 124" descr="preencoded.png">    </p:cNvPr>
          <p:cNvPicPr>
            <a:picLocks noChangeAspect="1"/>
          </p:cNvPicPr>
          <p:nvPr/>
        </p:nvPicPr>
        <p:blipFill>
          <a:blip r:embed="rId5"/>
          <a:stretch>
            <a:fillRect/>
          </a:stretch>
        </p:blipFill>
        <p:spPr>
          <a:xfrm>
            <a:off x="4946904" y="4151376"/>
            <a:ext cx="384048" cy="384048"/>
          </a:xfrm>
          <a:prstGeom prst="rect">
            <a:avLst/>
          </a:prstGeom>
        </p:spPr>
      </p:pic>
      <p:sp>
        <p:nvSpPr>
          <p:cNvPr id="17" name="Text 125"/>
          <p:cNvSpPr txBox="1"/>
          <p:nvPr/>
        </p:nvSpPr>
        <p:spPr>
          <a:xfrm>
            <a:off x="5669280" y="4023360"/>
            <a:ext cx="1051560" cy="640080"/>
          </a:xfrm>
          <a:prstGeom prst="rect">
            <a:avLst/>
          </a:prstGeom>
          <a:noFill/>
          <a:ln/>
        </p:spPr>
        <p:txBody>
          <a:bodyPr wrap="square" lIns="0" tIns="0" rIns="0" bIns="0" rtlCol="0" anchor="ctr"/>
          <a:lstStyle/>
          <a:p>
            <a:pPr indent="0" marL="0">
              <a:buNone/>
            </a:pPr>
            <a:r>
              <a:rPr lang="en-US" sz="2400" b="1" dirty="0">
                <a:solidFill>
                  <a:schemeClr val="tx1"/>
                </a:solidFill>
              </a:rPr>
              <a:t>Rest</a:t>
            </a:r>
            <a:endParaRPr lang="en-US" sz="2400" dirty="0"/>
          </a:p>
        </p:txBody>
      </p:sp>
      <p:sp>
        <p:nvSpPr>
          <p:cNvPr id="18" name="Text 126"/>
          <p:cNvSpPr txBox="1"/>
          <p:nvPr/>
        </p:nvSpPr>
        <p:spPr>
          <a:xfrm>
            <a:off x="822960" y="5074920"/>
            <a:ext cx="5852160" cy="411480"/>
          </a:xfrm>
          <a:prstGeom prst="rect">
            <a:avLst/>
          </a:prstGeom>
          <a:noFill/>
          <a:ln/>
        </p:spPr>
        <p:txBody>
          <a:bodyPr wrap="square" lIns="0" tIns="0" rIns="0" bIns="0" rtlCol="0" anchor="t"/>
          <a:lstStyle/>
          <a:p>
            <a:pPr indent="0" marL="0">
              <a:buNone/>
            </a:pPr>
            <a:r>
              <a:rPr lang="en-US" sz="2000" dirty="0">
                <a:solidFill>
                  <a:schemeClr val="tx2"/>
                </a:solidFill>
              </a:rPr>
              <a:t>Lounge and sleeper berths on some configurations</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27"/>
          <p:cNvSpPr txBox="1"/>
          <p:nvPr/>
        </p:nvSpPr>
        <p:spPr>
          <a:xfrm>
            <a:off x="731520" y="173736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1939</a:t>
            </a:r>
            <a:endParaRPr lang="en-US" sz="1500" dirty="0"/>
          </a:p>
        </p:txBody>
      </p:sp>
      <p:sp>
        <p:nvSpPr>
          <p:cNvPr id="3" name="Text 128"/>
          <p:cNvSpPr txBox="1"/>
          <p:nvPr/>
        </p:nvSpPr>
        <p:spPr>
          <a:xfrm>
            <a:off x="731520" y="2103120"/>
            <a:ext cx="10728655" cy="2194560"/>
          </a:xfrm>
          <a:prstGeom prst="rect">
            <a:avLst/>
          </a:prstGeom>
          <a:noFill/>
          <a:ln/>
        </p:spPr>
        <p:txBody>
          <a:bodyPr wrap="square" lIns="0" tIns="0" rIns="0" bIns="0" rtlCol="0" anchor="t"/>
          <a:lstStyle/>
          <a:p>
            <a:pPr algn="ctr" indent="0" marL="0">
              <a:buNone/>
            </a:pPr>
            <a:r>
              <a:rPr lang="en-US" sz="6000" b="1" spc="-200" kern="0" dirty="0">
                <a:solidFill>
                  <a:schemeClr val="tx1"/>
                </a:solidFill>
              </a:rPr>
              <a:t>Everyone is still</a:t>
            </a:r>
            <a:endParaRPr lang="en-US" sz="6000" dirty="0"/>
          </a:p>
          <a:p>
            <a:pPr algn="ctr" indent="0" marL="0">
              <a:buNone/>
            </a:pPr>
            <a:r>
              <a:rPr lang="en-US" sz="6000" b="1" spc="-200" kern="0" dirty="0">
                <a:solidFill>
                  <a:schemeClr val="tx1"/>
                </a:solidFill>
              </a:rPr>
              <a:t>flying the DC-3</a:t>
            </a:r>
            <a:endParaRPr lang="en-US" sz="6000" dirty="0"/>
          </a:p>
        </p:txBody>
      </p:sp>
      <p:sp>
        <p:nvSpPr>
          <p:cNvPr id="4" name="Text 129"/>
          <p:cNvSpPr txBox="1"/>
          <p:nvPr/>
        </p:nvSpPr>
        <p:spPr>
          <a:xfrm>
            <a:off x="731520" y="443484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Slow, old, and the same for every airline</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Hughes Signs a Secret Contract</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Exclusive supply: TWA gets the first 35</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The race was over before it started</a:t>
            </a:r>
            <a:endParaRPr lang="en-US" sz="2800" dirty="0"/>
          </a:p>
        </p:txBody>
      </p:sp>
      <p:sp>
        <p:nvSpPr>
          <p:cNvPr id="6" name="Text 130"/>
          <p:cNvSpPr txBox="1"/>
          <p:nvPr/>
        </p:nvSpPr>
        <p:spPr>
          <a:xfrm>
            <a:off x="1097280" y="1874520"/>
            <a:ext cx="3657600" cy="457200"/>
          </a:xfrm>
          <a:prstGeom prst="rect">
            <a:avLst/>
          </a:prstGeom>
          <a:noFill/>
          <a:ln/>
        </p:spPr>
        <p:txBody>
          <a:bodyPr wrap="square" lIns="0" tIns="0" rIns="0" bIns="0" rtlCol="0" anchor="b"/>
          <a:lstStyle/>
          <a:p>
            <a:pPr indent="0" marL="0">
              <a:buNone/>
            </a:pPr>
            <a:r>
              <a:rPr lang="en-US" sz="2600" b="1" dirty="0">
                <a:solidFill>
                  <a:schemeClr val="tx1"/>
                </a:solidFill>
              </a:rPr>
              <a:t>TWA first</a:t>
            </a:r>
            <a:endParaRPr lang="en-US" sz="2600" dirty="0"/>
          </a:p>
        </p:txBody>
      </p:sp>
      <p:sp>
        <p:nvSpPr>
          <p:cNvPr id="7" name="Rounded 131"/>
          <p:cNvSpPr/>
          <p:nvPr/>
        </p:nvSpPr>
        <p:spPr>
          <a:xfrm>
            <a:off x="1097280" y="2423160"/>
            <a:ext cx="347472" cy="347472"/>
          </a:xfrm>
          <a:prstGeom prst="roundRect">
            <a:avLst>
              <a:gd name="adj" fmla="val 13158"/>
            </a:avLst>
          </a:prstGeom>
          <a:solidFill>
            <a:schemeClr val="accent1"/>
          </a:solidFill>
          <a:ln/>
        </p:spPr>
      </p:sp>
      <p:sp>
        <p:nvSpPr>
          <p:cNvPr id="8" name="Rounded 132"/>
          <p:cNvSpPr/>
          <p:nvPr/>
        </p:nvSpPr>
        <p:spPr>
          <a:xfrm>
            <a:off x="1536192" y="2423160"/>
            <a:ext cx="347472" cy="347472"/>
          </a:xfrm>
          <a:prstGeom prst="roundRect">
            <a:avLst>
              <a:gd name="adj" fmla="val 13158"/>
            </a:avLst>
          </a:prstGeom>
          <a:solidFill>
            <a:schemeClr val="accent1"/>
          </a:solidFill>
          <a:ln/>
        </p:spPr>
      </p:sp>
      <p:sp>
        <p:nvSpPr>
          <p:cNvPr id="9" name="Rounded 133"/>
          <p:cNvSpPr/>
          <p:nvPr/>
        </p:nvSpPr>
        <p:spPr>
          <a:xfrm>
            <a:off x="1975104" y="2423160"/>
            <a:ext cx="347472" cy="347472"/>
          </a:xfrm>
          <a:prstGeom prst="roundRect">
            <a:avLst>
              <a:gd name="adj" fmla="val 13158"/>
            </a:avLst>
          </a:prstGeom>
          <a:solidFill>
            <a:schemeClr val="accent1"/>
          </a:solidFill>
          <a:ln/>
        </p:spPr>
      </p:sp>
      <p:sp>
        <p:nvSpPr>
          <p:cNvPr id="10" name="Rounded 134"/>
          <p:cNvSpPr/>
          <p:nvPr/>
        </p:nvSpPr>
        <p:spPr>
          <a:xfrm>
            <a:off x="2414016" y="2423160"/>
            <a:ext cx="347472" cy="347472"/>
          </a:xfrm>
          <a:prstGeom prst="roundRect">
            <a:avLst>
              <a:gd name="adj" fmla="val 13158"/>
            </a:avLst>
          </a:prstGeom>
          <a:solidFill>
            <a:schemeClr val="accent1"/>
          </a:solidFill>
          <a:ln/>
        </p:spPr>
      </p:sp>
      <p:sp>
        <p:nvSpPr>
          <p:cNvPr id="11" name="Rounded 135"/>
          <p:cNvSpPr/>
          <p:nvPr/>
        </p:nvSpPr>
        <p:spPr>
          <a:xfrm>
            <a:off x="2852928" y="2423160"/>
            <a:ext cx="347472" cy="347472"/>
          </a:xfrm>
          <a:prstGeom prst="roundRect">
            <a:avLst>
              <a:gd name="adj" fmla="val 13158"/>
            </a:avLst>
          </a:prstGeom>
          <a:solidFill>
            <a:schemeClr val="accent1"/>
          </a:solidFill>
          <a:ln/>
        </p:spPr>
      </p:sp>
      <p:sp>
        <p:nvSpPr>
          <p:cNvPr id="12" name="Rounded 136"/>
          <p:cNvSpPr/>
          <p:nvPr/>
        </p:nvSpPr>
        <p:spPr>
          <a:xfrm>
            <a:off x="3291840" y="2423160"/>
            <a:ext cx="347472" cy="347472"/>
          </a:xfrm>
          <a:prstGeom prst="roundRect">
            <a:avLst>
              <a:gd name="adj" fmla="val 13158"/>
            </a:avLst>
          </a:prstGeom>
          <a:solidFill>
            <a:schemeClr val="accent1"/>
          </a:solidFill>
          <a:ln/>
        </p:spPr>
      </p:sp>
      <p:sp>
        <p:nvSpPr>
          <p:cNvPr id="13" name="Rounded 137"/>
          <p:cNvSpPr/>
          <p:nvPr/>
        </p:nvSpPr>
        <p:spPr>
          <a:xfrm>
            <a:off x="3730752" y="2423160"/>
            <a:ext cx="347472" cy="347472"/>
          </a:xfrm>
          <a:prstGeom prst="roundRect">
            <a:avLst>
              <a:gd name="adj" fmla="val 13158"/>
            </a:avLst>
          </a:prstGeom>
          <a:solidFill>
            <a:schemeClr val="accent1"/>
          </a:solidFill>
          <a:ln/>
        </p:spPr>
      </p:sp>
      <p:sp>
        <p:nvSpPr>
          <p:cNvPr id="14" name="Rounded 138"/>
          <p:cNvSpPr/>
          <p:nvPr/>
        </p:nvSpPr>
        <p:spPr>
          <a:xfrm>
            <a:off x="1097280" y="2862072"/>
            <a:ext cx="347472" cy="347472"/>
          </a:xfrm>
          <a:prstGeom prst="roundRect">
            <a:avLst>
              <a:gd name="adj" fmla="val 13158"/>
            </a:avLst>
          </a:prstGeom>
          <a:solidFill>
            <a:schemeClr val="accent1"/>
          </a:solidFill>
          <a:ln/>
        </p:spPr>
      </p:sp>
      <p:sp>
        <p:nvSpPr>
          <p:cNvPr id="15" name="Rounded 139"/>
          <p:cNvSpPr/>
          <p:nvPr/>
        </p:nvSpPr>
        <p:spPr>
          <a:xfrm>
            <a:off x="1536192" y="2862072"/>
            <a:ext cx="347472" cy="347472"/>
          </a:xfrm>
          <a:prstGeom prst="roundRect">
            <a:avLst>
              <a:gd name="adj" fmla="val 13158"/>
            </a:avLst>
          </a:prstGeom>
          <a:solidFill>
            <a:schemeClr val="accent1"/>
          </a:solidFill>
          <a:ln/>
        </p:spPr>
      </p:sp>
      <p:sp>
        <p:nvSpPr>
          <p:cNvPr id="16" name="Rounded 140"/>
          <p:cNvSpPr/>
          <p:nvPr/>
        </p:nvSpPr>
        <p:spPr>
          <a:xfrm>
            <a:off x="1975104" y="2862072"/>
            <a:ext cx="347472" cy="347472"/>
          </a:xfrm>
          <a:prstGeom prst="roundRect">
            <a:avLst>
              <a:gd name="adj" fmla="val 13158"/>
            </a:avLst>
          </a:prstGeom>
          <a:solidFill>
            <a:schemeClr val="accent1"/>
          </a:solidFill>
          <a:ln/>
        </p:spPr>
      </p:sp>
      <p:sp>
        <p:nvSpPr>
          <p:cNvPr id="17" name="Rounded 141"/>
          <p:cNvSpPr/>
          <p:nvPr/>
        </p:nvSpPr>
        <p:spPr>
          <a:xfrm>
            <a:off x="2414016" y="2862072"/>
            <a:ext cx="347472" cy="347472"/>
          </a:xfrm>
          <a:prstGeom prst="roundRect">
            <a:avLst>
              <a:gd name="adj" fmla="val 13158"/>
            </a:avLst>
          </a:prstGeom>
          <a:solidFill>
            <a:schemeClr val="accent1"/>
          </a:solidFill>
          <a:ln/>
        </p:spPr>
      </p:sp>
      <p:sp>
        <p:nvSpPr>
          <p:cNvPr id="18" name="Rounded 142"/>
          <p:cNvSpPr/>
          <p:nvPr/>
        </p:nvSpPr>
        <p:spPr>
          <a:xfrm>
            <a:off x="2852928" y="2862072"/>
            <a:ext cx="347472" cy="347472"/>
          </a:xfrm>
          <a:prstGeom prst="roundRect">
            <a:avLst>
              <a:gd name="adj" fmla="val 13158"/>
            </a:avLst>
          </a:prstGeom>
          <a:solidFill>
            <a:schemeClr val="accent1"/>
          </a:solidFill>
          <a:ln/>
        </p:spPr>
      </p:sp>
      <p:sp>
        <p:nvSpPr>
          <p:cNvPr id="19" name="Rounded 143"/>
          <p:cNvSpPr/>
          <p:nvPr/>
        </p:nvSpPr>
        <p:spPr>
          <a:xfrm>
            <a:off x="3291840" y="2862072"/>
            <a:ext cx="347472" cy="347472"/>
          </a:xfrm>
          <a:prstGeom prst="roundRect">
            <a:avLst>
              <a:gd name="adj" fmla="val 13158"/>
            </a:avLst>
          </a:prstGeom>
          <a:solidFill>
            <a:schemeClr val="accent1"/>
          </a:solidFill>
          <a:ln/>
        </p:spPr>
      </p:sp>
      <p:sp>
        <p:nvSpPr>
          <p:cNvPr id="20" name="Rounded 144"/>
          <p:cNvSpPr/>
          <p:nvPr/>
        </p:nvSpPr>
        <p:spPr>
          <a:xfrm>
            <a:off x="3730752" y="2862072"/>
            <a:ext cx="347472" cy="347472"/>
          </a:xfrm>
          <a:prstGeom prst="roundRect">
            <a:avLst>
              <a:gd name="adj" fmla="val 13158"/>
            </a:avLst>
          </a:prstGeom>
          <a:solidFill>
            <a:schemeClr val="accent1"/>
          </a:solidFill>
          <a:ln/>
        </p:spPr>
      </p:sp>
      <p:sp>
        <p:nvSpPr>
          <p:cNvPr id="21" name="Rounded 145"/>
          <p:cNvSpPr/>
          <p:nvPr/>
        </p:nvSpPr>
        <p:spPr>
          <a:xfrm>
            <a:off x="1097280" y="3300984"/>
            <a:ext cx="347472" cy="347472"/>
          </a:xfrm>
          <a:prstGeom prst="roundRect">
            <a:avLst>
              <a:gd name="adj" fmla="val 13158"/>
            </a:avLst>
          </a:prstGeom>
          <a:solidFill>
            <a:schemeClr val="accent1"/>
          </a:solidFill>
          <a:ln/>
        </p:spPr>
      </p:sp>
      <p:sp>
        <p:nvSpPr>
          <p:cNvPr id="22" name="Rounded 146"/>
          <p:cNvSpPr/>
          <p:nvPr/>
        </p:nvSpPr>
        <p:spPr>
          <a:xfrm>
            <a:off x="1536192" y="3300984"/>
            <a:ext cx="347472" cy="347472"/>
          </a:xfrm>
          <a:prstGeom prst="roundRect">
            <a:avLst>
              <a:gd name="adj" fmla="val 13158"/>
            </a:avLst>
          </a:prstGeom>
          <a:solidFill>
            <a:schemeClr val="accent1"/>
          </a:solidFill>
          <a:ln/>
        </p:spPr>
      </p:sp>
      <p:sp>
        <p:nvSpPr>
          <p:cNvPr id="23" name="Rounded 147"/>
          <p:cNvSpPr/>
          <p:nvPr/>
        </p:nvSpPr>
        <p:spPr>
          <a:xfrm>
            <a:off x="1975104" y="3300984"/>
            <a:ext cx="347472" cy="347472"/>
          </a:xfrm>
          <a:prstGeom prst="roundRect">
            <a:avLst>
              <a:gd name="adj" fmla="val 13158"/>
            </a:avLst>
          </a:prstGeom>
          <a:solidFill>
            <a:schemeClr val="accent1"/>
          </a:solidFill>
          <a:ln/>
        </p:spPr>
      </p:sp>
      <p:sp>
        <p:nvSpPr>
          <p:cNvPr id="24" name="Rounded 148"/>
          <p:cNvSpPr/>
          <p:nvPr/>
        </p:nvSpPr>
        <p:spPr>
          <a:xfrm>
            <a:off x="2414016" y="3300984"/>
            <a:ext cx="347472" cy="347472"/>
          </a:xfrm>
          <a:prstGeom prst="roundRect">
            <a:avLst>
              <a:gd name="adj" fmla="val 13158"/>
            </a:avLst>
          </a:prstGeom>
          <a:solidFill>
            <a:schemeClr val="accent1"/>
          </a:solidFill>
          <a:ln/>
        </p:spPr>
      </p:sp>
      <p:sp>
        <p:nvSpPr>
          <p:cNvPr id="25" name="Rounded 149"/>
          <p:cNvSpPr/>
          <p:nvPr/>
        </p:nvSpPr>
        <p:spPr>
          <a:xfrm>
            <a:off x="2852928" y="3300984"/>
            <a:ext cx="347472" cy="347472"/>
          </a:xfrm>
          <a:prstGeom prst="roundRect">
            <a:avLst>
              <a:gd name="adj" fmla="val 13158"/>
            </a:avLst>
          </a:prstGeom>
          <a:solidFill>
            <a:schemeClr val="accent1"/>
          </a:solidFill>
          <a:ln/>
        </p:spPr>
      </p:sp>
      <p:sp>
        <p:nvSpPr>
          <p:cNvPr id="26" name="Rounded 150"/>
          <p:cNvSpPr/>
          <p:nvPr/>
        </p:nvSpPr>
        <p:spPr>
          <a:xfrm>
            <a:off x="3291840" y="3300984"/>
            <a:ext cx="347472" cy="347472"/>
          </a:xfrm>
          <a:prstGeom prst="roundRect">
            <a:avLst>
              <a:gd name="adj" fmla="val 13158"/>
            </a:avLst>
          </a:prstGeom>
          <a:solidFill>
            <a:schemeClr val="accent1"/>
          </a:solidFill>
          <a:ln/>
        </p:spPr>
      </p:sp>
      <p:sp>
        <p:nvSpPr>
          <p:cNvPr id="27" name="Rounded 151"/>
          <p:cNvSpPr/>
          <p:nvPr/>
        </p:nvSpPr>
        <p:spPr>
          <a:xfrm>
            <a:off x="3730752" y="3300984"/>
            <a:ext cx="347472" cy="347472"/>
          </a:xfrm>
          <a:prstGeom prst="roundRect">
            <a:avLst>
              <a:gd name="adj" fmla="val 13158"/>
            </a:avLst>
          </a:prstGeom>
          <a:solidFill>
            <a:schemeClr val="accent1"/>
          </a:solidFill>
          <a:ln/>
        </p:spPr>
      </p:sp>
      <p:sp>
        <p:nvSpPr>
          <p:cNvPr id="28" name="Rounded 152"/>
          <p:cNvSpPr/>
          <p:nvPr/>
        </p:nvSpPr>
        <p:spPr>
          <a:xfrm>
            <a:off x="1097280" y="3739896"/>
            <a:ext cx="347472" cy="347472"/>
          </a:xfrm>
          <a:prstGeom prst="roundRect">
            <a:avLst>
              <a:gd name="adj" fmla="val 13158"/>
            </a:avLst>
          </a:prstGeom>
          <a:solidFill>
            <a:schemeClr val="accent1"/>
          </a:solidFill>
          <a:ln/>
        </p:spPr>
      </p:sp>
      <p:sp>
        <p:nvSpPr>
          <p:cNvPr id="29" name="Rounded 153"/>
          <p:cNvSpPr/>
          <p:nvPr/>
        </p:nvSpPr>
        <p:spPr>
          <a:xfrm>
            <a:off x="1536192" y="3739896"/>
            <a:ext cx="347472" cy="347472"/>
          </a:xfrm>
          <a:prstGeom prst="roundRect">
            <a:avLst>
              <a:gd name="adj" fmla="val 13158"/>
            </a:avLst>
          </a:prstGeom>
          <a:solidFill>
            <a:schemeClr val="accent1"/>
          </a:solidFill>
          <a:ln/>
        </p:spPr>
      </p:sp>
      <p:sp>
        <p:nvSpPr>
          <p:cNvPr id="30" name="Rounded 154"/>
          <p:cNvSpPr/>
          <p:nvPr/>
        </p:nvSpPr>
        <p:spPr>
          <a:xfrm>
            <a:off x="1975104" y="3739896"/>
            <a:ext cx="347472" cy="347472"/>
          </a:xfrm>
          <a:prstGeom prst="roundRect">
            <a:avLst>
              <a:gd name="adj" fmla="val 13158"/>
            </a:avLst>
          </a:prstGeom>
          <a:solidFill>
            <a:schemeClr val="accent1"/>
          </a:solidFill>
          <a:ln/>
        </p:spPr>
      </p:sp>
      <p:sp>
        <p:nvSpPr>
          <p:cNvPr id="31" name="Rounded 155"/>
          <p:cNvSpPr/>
          <p:nvPr/>
        </p:nvSpPr>
        <p:spPr>
          <a:xfrm>
            <a:off x="2414016" y="3739896"/>
            <a:ext cx="347472" cy="347472"/>
          </a:xfrm>
          <a:prstGeom prst="roundRect">
            <a:avLst>
              <a:gd name="adj" fmla="val 13158"/>
            </a:avLst>
          </a:prstGeom>
          <a:solidFill>
            <a:schemeClr val="accent1"/>
          </a:solidFill>
          <a:ln/>
        </p:spPr>
      </p:sp>
      <p:sp>
        <p:nvSpPr>
          <p:cNvPr id="32" name="Rounded 156"/>
          <p:cNvSpPr/>
          <p:nvPr/>
        </p:nvSpPr>
        <p:spPr>
          <a:xfrm>
            <a:off x="2852928" y="3739896"/>
            <a:ext cx="347472" cy="347472"/>
          </a:xfrm>
          <a:prstGeom prst="roundRect">
            <a:avLst>
              <a:gd name="adj" fmla="val 13158"/>
            </a:avLst>
          </a:prstGeom>
          <a:solidFill>
            <a:schemeClr val="accent1"/>
          </a:solidFill>
          <a:ln/>
        </p:spPr>
      </p:sp>
      <p:sp>
        <p:nvSpPr>
          <p:cNvPr id="33" name="Rounded 157"/>
          <p:cNvSpPr/>
          <p:nvPr/>
        </p:nvSpPr>
        <p:spPr>
          <a:xfrm>
            <a:off x="3291840" y="3739896"/>
            <a:ext cx="347472" cy="347472"/>
          </a:xfrm>
          <a:prstGeom prst="roundRect">
            <a:avLst>
              <a:gd name="adj" fmla="val 13158"/>
            </a:avLst>
          </a:prstGeom>
          <a:solidFill>
            <a:schemeClr val="accent1"/>
          </a:solidFill>
          <a:ln/>
        </p:spPr>
      </p:sp>
      <p:sp>
        <p:nvSpPr>
          <p:cNvPr id="34" name="Rounded 158"/>
          <p:cNvSpPr/>
          <p:nvPr/>
        </p:nvSpPr>
        <p:spPr>
          <a:xfrm>
            <a:off x="3730752" y="3739896"/>
            <a:ext cx="347472" cy="347472"/>
          </a:xfrm>
          <a:prstGeom prst="roundRect">
            <a:avLst>
              <a:gd name="adj" fmla="val 13158"/>
            </a:avLst>
          </a:prstGeom>
          <a:solidFill>
            <a:schemeClr val="accent1"/>
          </a:solidFill>
          <a:ln/>
        </p:spPr>
      </p:sp>
      <p:sp>
        <p:nvSpPr>
          <p:cNvPr id="35" name="Rounded 159"/>
          <p:cNvSpPr/>
          <p:nvPr/>
        </p:nvSpPr>
        <p:spPr>
          <a:xfrm>
            <a:off x="1097280" y="4178808"/>
            <a:ext cx="347472" cy="347472"/>
          </a:xfrm>
          <a:prstGeom prst="roundRect">
            <a:avLst>
              <a:gd name="adj" fmla="val 13158"/>
            </a:avLst>
          </a:prstGeom>
          <a:solidFill>
            <a:schemeClr val="accent1"/>
          </a:solidFill>
          <a:ln/>
        </p:spPr>
      </p:sp>
      <p:sp>
        <p:nvSpPr>
          <p:cNvPr id="36" name="Rounded 160"/>
          <p:cNvSpPr/>
          <p:nvPr/>
        </p:nvSpPr>
        <p:spPr>
          <a:xfrm>
            <a:off x="1536192" y="4178808"/>
            <a:ext cx="347472" cy="347472"/>
          </a:xfrm>
          <a:prstGeom prst="roundRect">
            <a:avLst>
              <a:gd name="adj" fmla="val 13158"/>
            </a:avLst>
          </a:prstGeom>
          <a:solidFill>
            <a:schemeClr val="accent1"/>
          </a:solidFill>
          <a:ln/>
        </p:spPr>
      </p:sp>
      <p:sp>
        <p:nvSpPr>
          <p:cNvPr id="37" name="Rounded 161"/>
          <p:cNvSpPr/>
          <p:nvPr/>
        </p:nvSpPr>
        <p:spPr>
          <a:xfrm>
            <a:off x="1975104" y="4178808"/>
            <a:ext cx="347472" cy="347472"/>
          </a:xfrm>
          <a:prstGeom prst="roundRect">
            <a:avLst>
              <a:gd name="adj" fmla="val 13158"/>
            </a:avLst>
          </a:prstGeom>
          <a:solidFill>
            <a:schemeClr val="accent1"/>
          </a:solidFill>
          <a:ln/>
        </p:spPr>
      </p:sp>
      <p:sp>
        <p:nvSpPr>
          <p:cNvPr id="38" name="Rounded 162"/>
          <p:cNvSpPr/>
          <p:nvPr/>
        </p:nvSpPr>
        <p:spPr>
          <a:xfrm>
            <a:off x="2414016" y="4178808"/>
            <a:ext cx="347472" cy="347472"/>
          </a:xfrm>
          <a:prstGeom prst="roundRect">
            <a:avLst>
              <a:gd name="adj" fmla="val 13158"/>
            </a:avLst>
          </a:prstGeom>
          <a:solidFill>
            <a:schemeClr val="accent1"/>
          </a:solidFill>
          <a:ln/>
        </p:spPr>
      </p:sp>
      <p:sp>
        <p:nvSpPr>
          <p:cNvPr id="39" name="Rounded 163"/>
          <p:cNvSpPr/>
          <p:nvPr/>
        </p:nvSpPr>
        <p:spPr>
          <a:xfrm>
            <a:off x="2852928" y="4178808"/>
            <a:ext cx="347472" cy="347472"/>
          </a:xfrm>
          <a:prstGeom prst="roundRect">
            <a:avLst>
              <a:gd name="adj" fmla="val 13158"/>
            </a:avLst>
          </a:prstGeom>
          <a:solidFill>
            <a:schemeClr val="accent1"/>
          </a:solidFill>
          <a:ln/>
        </p:spPr>
      </p:sp>
      <p:sp>
        <p:nvSpPr>
          <p:cNvPr id="40" name="Rounded 164"/>
          <p:cNvSpPr/>
          <p:nvPr/>
        </p:nvSpPr>
        <p:spPr>
          <a:xfrm>
            <a:off x="3291840" y="4178808"/>
            <a:ext cx="347472" cy="347472"/>
          </a:xfrm>
          <a:prstGeom prst="roundRect">
            <a:avLst>
              <a:gd name="adj" fmla="val 13158"/>
            </a:avLst>
          </a:prstGeom>
          <a:solidFill>
            <a:schemeClr val="accent1"/>
          </a:solidFill>
          <a:ln/>
        </p:spPr>
      </p:sp>
      <p:sp>
        <p:nvSpPr>
          <p:cNvPr id="41" name="Rounded 165"/>
          <p:cNvSpPr/>
          <p:nvPr/>
        </p:nvSpPr>
        <p:spPr>
          <a:xfrm>
            <a:off x="3730752" y="4178808"/>
            <a:ext cx="347472" cy="347472"/>
          </a:xfrm>
          <a:prstGeom prst="roundRect">
            <a:avLst>
              <a:gd name="adj" fmla="val 13158"/>
            </a:avLst>
          </a:prstGeom>
          <a:solidFill>
            <a:schemeClr val="accent1"/>
          </a:solidFill>
          <a:ln/>
        </p:spPr>
      </p:sp>
      <p:sp>
        <p:nvSpPr>
          <p:cNvPr id="42" name="Text 166"/>
          <p:cNvSpPr txBox="1"/>
          <p:nvPr/>
        </p:nvSpPr>
        <p:spPr>
          <a:xfrm>
            <a:off x="1097280" y="4663440"/>
            <a:ext cx="4114800" cy="365760"/>
          </a:xfrm>
          <a:prstGeom prst="rect">
            <a:avLst/>
          </a:prstGeom>
          <a:noFill/>
          <a:ln/>
        </p:spPr>
        <p:txBody>
          <a:bodyPr wrap="square" lIns="0" tIns="0" rIns="0" bIns="0" rtlCol="0" anchor="ctr"/>
          <a:lstStyle/>
          <a:p>
            <a:pPr indent="0" marL="0">
              <a:buNone/>
            </a:pPr>
            <a:r>
              <a:rPr lang="en-US" sz="2200" dirty="0">
                <a:solidFill>
                  <a:schemeClr val="tx2"/>
                </a:solidFill>
              </a:rPr>
              <a:t>35 aircraft</a:t>
            </a:r>
            <a:endParaRPr lang="en-US" sz="2200" dirty="0"/>
          </a:p>
        </p:txBody>
      </p:sp>
      <p:sp>
        <p:nvSpPr>
          <p:cNvPr id="43" name="Arrow 167"/>
          <p:cNvSpPr/>
          <p:nvPr/>
        </p:nvSpPr>
        <p:spPr>
          <a:xfrm>
            <a:off x="4535424" y="3474720"/>
            <a:ext cx="3328416" cy="0"/>
          </a:xfrm>
          <a:prstGeom prst="line">
            <a:avLst/>
          </a:prstGeom>
          <a:noFill/>
          <a:ln w="19050">
            <a:solidFill>
              <a:schemeClr val="accent2"/>
            </a:solidFill>
            <a:prstDash val="solid"/>
            <a:tailEnd type="triangle"/>
          </a:ln>
        </p:spPr>
      </p:sp>
      <p:sp>
        <p:nvSpPr>
          <p:cNvPr id="44" name="Shape 168"/>
          <p:cNvSpPr/>
          <p:nvPr/>
        </p:nvSpPr>
        <p:spPr>
          <a:xfrm>
            <a:off x="6163056" y="2651760"/>
            <a:ext cx="73152" cy="1645920"/>
          </a:xfrm>
          <a:prstGeom prst="rect">
            <a:avLst/>
          </a:prstGeom>
          <a:solidFill>
            <a:schemeClr val="accent1"/>
          </a:solidFill>
          <a:ln/>
        </p:spPr>
      </p:sp>
      <p:sp>
        <p:nvSpPr>
          <p:cNvPr id="45" name="Rounded 169"/>
          <p:cNvSpPr/>
          <p:nvPr/>
        </p:nvSpPr>
        <p:spPr>
          <a:xfrm>
            <a:off x="4919472" y="3177540"/>
            <a:ext cx="2560320" cy="594360"/>
          </a:xfrm>
          <a:prstGeom prst="roundRect">
            <a:avLst>
              <a:gd name="adj" fmla="val 50000"/>
            </a:avLst>
          </a:prstGeom>
          <a:solidFill>
            <a:schemeClr val="bg2"/>
          </a:solidFill>
          <a:ln/>
        </p:spPr>
      </p:sp>
      <p:sp>
        <p:nvSpPr>
          <p:cNvPr id="46" name="Text 170"/>
          <p:cNvSpPr txBox="1"/>
          <p:nvPr/>
        </p:nvSpPr>
        <p:spPr>
          <a:xfrm>
            <a:off x="4919472" y="3177540"/>
            <a:ext cx="2560320" cy="594360"/>
          </a:xfrm>
          <a:prstGeom prst="rect">
            <a:avLst/>
          </a:prstGeom>
          <a:noFill/>
          <a:ln/>
        </p:spPr>
        <p:txBody>
          <a:bodyPr wrap="square" lIns="0" tIns="0" rIns="0" bIns="0" rtlCol="0" anchor="ctr"/>
          <a:lstStyle/>
          <a:p>
            <a:pPr algn="ctr" indent="0" marL="0">
              <a:buNone/>
            </a:pPr>
            <a:r>
              <a:rPr lang="en-US" sz="2000" b="1" dirty="0">
                <a:solidFill>
                  <a:schemeClr val="tx1"/>
                </a:solidFill>
              </a:rPr>
              <a:t>Only after 35</a:t>
            </a:r>
            <a:endParaRPr lang="en-US" sz="2000" dirty="0"/>
          </a:p>
        </p:txBody>
      </p:sp>
      <p:sp>
        <p:nvSpPr>
          <p:cNvPr id="47" name="Rounded 171"/>
          <p:cNvSpPr/>
          <p:nvPr/>
        </p:nvSpPr>
        <p:spPr>
          <a:xfrm>
            <a:off x="8046720" y="2331720"/>
            <a:ext cx="3383280" cy="2286000"/>
          </a:xfrm>
          <a:prstGeom prst="roundRect">
            <a:avLst>
              <a:gd name="adj" fmla="val 8800"/>
            </a:avLst>
          </a:prstGeom>
          <a:solidFill>
            <a:schemeClr val="bg2"/>
          </a:solidFill>
          <a:ln/>
        </p:spPr>
      </p:sp>
      <p:sp>
        <p:nvSpPr>
          <p:cNvPr id="48" name="Text 172"/>
          <p:cNvSpPr txBox="1"/>
          <p:nvPr/>
        </p:nvSpPr>
        <p:spPr>
          <a:xfrm>
            <a:off x="8366760" y="2423160"/>
            <a:ext cx="2834640" cy="2103120"/>
          </a:xfrm>
          <a:prstGeom prst="rect">
            <a:avLst/>
          </a:prstGeom>
          <a:noFill/>
          <a:ln/>
        </p:spPr>
        <p:txBody>
          <a:bodyPr wrap="square" lIns="0" tIns="0" rIns="0" bIns="0" rtlCol="0" anchor="ctr"/>
          <a:lstStyle/>
          <a:p>
            <a:pPr indent="0" marL="0">
              <a:buNone/>
            </a:pPr>
            <a:r>
              <a:rPr lang="en-US" sz="2600" b="1" dirty="0">
                <a:solidFill>
                  <a:schemeClr val="tx1"/>
                </a:solidFill>
              </a:rPr>
              <a:t>Everyone else</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Pan Am Is Still Waiting in Line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Juan Trippe was negotiating the usual way</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By launch day, TWA is years ahead</a:t>
            </a:r>
            <a:endParaRPr lang="en-US" sz="2800" dirty="0"/>
          </a:p>
        </p:txBody>
      </p:sp>
      <p:sp>
        <p:nvSpPr>
          <p:cNvPr id="6" name="Rounded 173"/>
          <p:cNvSpPr/>
          <p:nvPr/>
        </p:nvSpPr>
        <p:spPr>
          <a:xfrm>
            <a:off x="975208" y="3017520"/>
            <a:ext cx="1828800" cy="822960"/>
          </a:xfrm>
          <a:prstGeom prst="roundRect">
            <a:avLst>
              <a:gd name="adj" fmla="val 50000"/>
            </a:avLst>
          </a:prstGeom>
          <a:solidFill>
            <a:schemeClr val="accent1"/>
          </a:solidFill>
          <a:ln/>
        </p:spPr>
      </p:sp>
      <p:sp>
        <p:nvSpPr>
          <p:cNvPr id="7" name="Text 174"/>
          <p:cNvSpPr txBox="1"/>
          <p:nvPr/>
        </p:nvSpPr>
        <p:spPr>
          <a:xfrm>
            <a:off x="975208" y="3017520"/>
            <a:ext cx="1828800" cy="822960"/>
          </a:xfrm>
          <a:prstGeom prst="rect">
            <a:avLst/>
          </a:prstGeom>
          <a:noFill/>
          <a:ln/>
        </p:spPr>
        <p:txBody>
          <a:bodyPr wrap="square" lIns="0" tIns="0" rIns="0" bIns="0" rtlCol="0" anchor="ctr"/>
          <a:lstStyle/>
          <a:p>
            <a:pPr algn="ctr" indent="0" marL="0">
              <a:buNone/>
            </a:pPr>
            <a:r>
              <a:rPr lang="en-US" sz="2600" b="1" dirty="0">
                <a:solidFill>
                  <a:schemeClr val="bg1"/>
                </a:solidFill>
              </a:rPr>
              <a:t>TWA</a:t>
            </a:r>
            <a:endParaRPr lang="en-US" sz="2600" dirty="0"/>
          </a:p>
        </p:txBody>
      </p:sp>
      <p:sp>
        <p:nvSpPr>
          <p:cNvPr id="8" name="Rounded 175"/>
          <p:cNvSpPr/>
          <p:nvPr/>
        </p:nvSpPr>
        <p:spPr>
          <a:xfrm>
            <a:off x="3078328" y="3017520"/>
            <a:ext cx="1828800" cy="822960"/>
          </a:xfrm>
          <a:prstGeom prst="roundRect">
            <a:avLst>
              <a:gd name="adj" fmla="val 50000"/>
            </a:avLst>
          </a:prstGeom>
          <a:solidFill>
            <a:schemeClr val="accent4"/>
          </a:solidFill>
          <a:ln/>
        </p:spPr>
      </p:sp>
      <p:sp>
        <p:nvSpPr>
          <p:cNvPr id="9" name="Text 176"/>
          <p:cNvSpPr txBox="1"/>
          <p:nvPr/>
        </p:nvSpPr>
        <p:spPr>
          <a:xfrm>
            <a:off x="3078328" y="3017520"/>
            <a:ext cx="1828800" cy="822960"/>
          </a:xfrm>
          <a:prstGeom prst="rect">
            <a:avLst/>
          </a:prstGeom>
          <a:noFill/>
          <a:ln/>
        </p:spPr>
        <p:txBody>
          <a:bodyPr wrap="square" lIns="0" tIns="0" rIns="0" bIns="0" rtlCol="0" anchor="ctr"/>
          <a:lstStyle/>
          <a:p>
            <a:pPr algn="ctr" indent="0" marL="0">
              <a:buNone/>
            </a:pPr>
            <a:r>
              <a:rPr lang="en-US" sz="2600" b="1" dirty="0">
                <a:solidFill>
                  <a:schemeClr val="tx1"/>
                </a:solidFill>
              </a:rPr>
              <a:t>Pan Am</a:t>
            </a:r>
            <a:endParaRPr lang="en-US" sz="2600" dirty="0"/>
          </a:p>
        </p:txBody>
      </p:sp>
      <p:sp>
        <p:nvSpPr>
          <p:cNvPr id="10" name="Rounded 177"/>
          <p:cNvSpPr/>
          <p:nvPr/>
        </p:nvSpPr>
        <p:spPr>
          <a:xfrm>
            <a:off x="5181448" y="3017520"/>
            <a:ext cx="1828800" cy="822960"/>
          </a:xfrm>
          <a:prstGeom prst="roundRect">
            <a:avLst>
              <a:gd name="adj" fmla="val 50000"/>
            </a:avLst>
          </a:prstGeom>
          <a:solidFill>
            <a:schemeClr val="accent4"/>
          </a:solidFill>
          <a:ln/>
        </p:spPr>
      </p:sp>
      <p:sp>
        <p:nvSpPr>
          <p:cNvPr id="11" name="Text 178"/>
          <p:cNvSpPr txBox="1"/>
          <p:nvPr/>
        </p:nvSpPr>
        <p:spPr>
          <a:xfrm>
            <a:off x="5181448" y="3017520"/>
            <a:ext cx="1828800" cy="822960"/>
          </a:xfrm>
          <a:prstGeom prst="rect">
            <a:avLst/>
          </a:prstGeom>
          <a:noFill/>
          <a:ln/>
        </p:spPr>
        <p:txBody>
          <a:bodyPr wrap="square" lIns="0" tIns="0" rIns="0" bIns="0" rtlCol="0" anchor="ctr"/>
          <a:lstStyle/>
          <a:p>
            <a:pPr algn="ctr" indent="0" marL="0">
              <a:buNone/>
            </a:pPr>
            <a:r>
              <a:rPr lang="en-US" sz="2600" b="1" dirty="0">
                <a:solidFill>
                  <a:schemeClr val="tx1"/>
                </a:solidFill>
              </a:rPr>
              <a:t>…</a:t>
            </a:r>
            <a:endParaRPr lang="en-US" sz="2600" dirty="0"/>
          </a:p>
        </p:txBody>
      </p:sp>
      <p:sp>
        <p:nvSpPr>
          <p:cNvPr id="12" name="Rounded 179"/>
          <p:cNvSpPr/>
          <p:nvPr/>
        </p:nvSpPr>
        <p:spPr>
          <a:xfrm>
            <a:off x="7284568" y="3017520"/>
            <a:ext cx="1828800" cy="822960"/>
          </a:xfrm>
          <a:prstGeom prst="roundRect">
            <a:avLst>
              <a:gd name="adj" fmla="val 50000"/>
            </a:avLst>
          </a:prstGeom>
          <a:solidFill>
            <a:schemeClr val="accent4"/>
          </a:solidFill>
          <a:ln/>
        </p:spPr>
      </p:sp>
      <p:sp>
        <p:nvSpPr>
          <p:cNvPr id="13" name="Text 180"/>
          <p:cNvSpPr txBox="1"/>
          <p:nvPr/>
        </p:nvSpPr>
        <p:spPr>
          <a:xfrm>
            <a:off x="7284568" y="3017520"/>
            <a:ext cx="1828800" cy="822960"/>
          </a:xfrm>
          <a:prstGeom prst="rect">
            <a:avLst/>
          </a:prstGeom>
          <a:noFill/>
          <a:ln/>
        </p:spPr>
        <p:txBody>
          <a:bodyPr wrap="square" lIns="0" tIns="0" rIns="0" bIns="0" rtlCol="0" anchor="ctr"/>
          <a:lstStyle/>
          <a:p>
            <a:pPr algn="ctr" indent="0" marL="0">
              <a:buNone/>
            </a:pPr>
            <a:r>
              <a:rPr lang="en-US" sz="2600" b="1" dirty="0">
                <a:solidFill>
                  <a:schemeClr val="tx1"/>
                </a:solidFill>
              </a:rPr>
              <a:t>…</a:t>
            </a:r>
            <a:endParaRPr lang="en-US" sz="2600" dirty="0"/>
          </a:p>
        </p:txBody>
      </p:sp>
      <p:sp>
        <p:nvSpPr>
          <p:cNvPr id="14" name="Rounded 181"/>
          <p:cNvSpPr/>
          <p:nvPr/>
        </p:nvSpPr>
        <p:spPr>
          <a:xfrm>
            <a:off x="9387688" y="3017520"/>
            <a:ext cx="1828800" cy="822960"/>
          </a:xfrm>
          <a:prstGeom prst="roundRect">
            <a:avLst>
              <a:gd name="adj" fmla="val 50000"/>
            </a:avLst>
          </a:prstGeom>
          <a:solidFill>
            <a:schemeClr val="accent4"/>
          </a:solidFill>
          <a:ln/>
        </p:spPr>
      </p:sp>
      <p:sp>
        <p:nvSpPr>
          <p:cNvPr id="15" name="Text 182"/>
          <p:cNvSpPr txBox="1"/>
          <p:nvPr/>
        </p:nvSpPr>
        <p:spPr>
          <a:xfrm>
            <a:off x="9387688" y="3017520"/>
            <a:ext cx="1828800" cy="822960"/>
          </a:xfrm>
          <a:prstGeom prst="rect">
            <a:avLst/>
          </a:prstGeom>
          <a:noFill/>
          <a:ln/>
        </p:spPr>
        <p:txBody>
          <a:bodyPr wrap="square" lIns="0" tIns="0" rIns="0" bIns="0" rtlCol="0" anchor="ctr"/>
          <a:lstStyle/>
          <a:p>
            <a:pPr algn="ctr" indent="0" marL="0">
              <a:buNone/>
            </a:pPr>
            <a:r>
              <a:rPr lang="en-US" sz="2600" b="1" dirty="0">
                <a:solidFill>
                  <a:schemeClr val="tx1"/>
                </a:solidFill>
              </a:rPr>
              <a:t>…</a:t>
            </a:r>
            <a:endParaRPr lang="en-US" sz="2600" dirty="0"/>
          </a:p>
        </p:txBody>
      </p:sp>
      <p:sp>
        <p:nvSpPr>
          <p:cNvPr id="16" name="Text 183"/>
          <p:cNvSpPr txBox="1"/>
          <p:nvPr/>
        </p:nvSpPr>
        <p:spPr>
          <a:xfrm>
            <a:off x="975208" y="2377440"/>
            <a:ext cx="2743200" cy="457200"/>
          </a:xfrm>
          <a:prstGeom prst="rect">
            <a:avLst/>
          </a:prstGeom>
          <a:noFill/>
          <a:ln/>
        </p:spPr>
        <p:txBody>
          <a:bodyPr wrap="square" lIns="0" tIns="0" rIns="0" bIns="0" rtlCol="0" anchor="ctr"/>
          <a:lstStyle/>
          <a:p>
            <a:pPr indent="0" marL="0">
              <a:buNone/>
            </a:pPr>
            <a:r>
              <a:rPr lang="en-US" sz="2000" b="1" dirty="0">
                <a:solidFill>
                  <a:schemeClr val="accent1"/>
                </a:solidFill>
              </a:rPr>
              <a:t>Front of the line</a:t>
            </a:r>
            <a:endParaRPr lang="en-US" sz="2000" dirty="0"/>
          </a:p>
        </p:txBody>
      </p:sp>
      <p:sp>
        <p:nvSpPr>
          <p:cNvPr id="17" name="Text 184"/>
          <p:cNvSpPr txBox="1"/>
          <p:nvPr/>
        </p:nvSpPr>
        <p:spPr>
          <a:xfrm>
            <a:off x="3078328" y="4069080"/>
            <a:ext cx="7315200" cy="457200"/>
          </a:xfrm>
          <a:prstGeom prst="rect">
            <a:avLst/>
          </a:prstGeom>
          <a:noFill/>
          <a:ln/>
        </p:spPr>
        <p:txBody>
          <a:bodyPr wrap="square" lIns="0" tIns="0" rIns="0" bIns="0" rtlCol="0" anchor="ctr"/>
          <a:lstStyle/>
          <a:p>
            <a:pPr indent="0" marL="0">
              <a:buNone/>
            </a:pPr>
            <a:r>
              <a:rPr lang="en-US" sz="2000" dirty="0">
                <a:solidFill>
                  <a:schemeClr val="tx2"/>
                </a:solidFill>
              </a:rPr>
              <a:t>Still negotiating with Boeing and Douglas</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85"/>
          <p:cNvSpPr txBox="1"/>
          <p:nvPr/>
        </p:nvSpPr>
        <p:spPr>
          <a:xfrm>
            <a:off x="731520" y="155448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accent1"/>
                </a:solidFill>
              </a:rPr>
              <a:t>DECEMBER 1941 · BLACK SWAN</a:t>
            </a:r>
            <a:endParaRPr lang="en-US" sz="1500" dirty="0"/>
          </a:p>
        </p:txBody>
      </p:sp>
      <p:sp>
        <p:nvSpPr>
          <p:cNvPr id="3" name="Text 186"/>
          <p:cNvSpPr txBox="1"/>
          <p:nvPr/>
        </p:nvSpPr>
        <p:spPr>
          <a:xfrm>
            <a:off x="731520" y="1920240"/>
            <a:ext cx="10728655" cy="2286000"/>
          </a:xfrm>
          <a:prstGeom prst="rect">
            <a:avLst/>
          </a:prstGeom>
          <a:noFill/>
          <a:ln/>
        </p:spPr>
        <p:txBody>
          <a:bodyPr wrap="square" lIns="0" tIns="0" rIns="0" bIns="0" rtlCol="0" anchor="t"/>
          <a:lstStyle/>
          <a:p>
            <a:pPr algn="ctr" indent="0" marL="0">
              <a:buNone/>
            </a:pPr>
            <a:r>
              <a:rPr lang="en-US" sz="5600" b="1" spc="-200" kern="0" dirty="0">
                <a:solidFill>
                  <a:schemeClr val="tx1"/>
                </a:solidFill>
              </a:rPr>
              <a:t>Pearl Harbor.</a:t>
            </a:r>
            <a:endParaRPr lang="en-US" sz="5600" dirty="0"/>
          </a:p>
          <a:p>
            <a:pPr algn="ctr" indent="0" marL="0">
              <a:buNone/>
            </a:pPr>
            <a:r>
              <a:rPr lang="en-US" sz="5600" b="1" spc="-200" kern="0" dirty="0">
                <a:solidFill>
                  <a:schemeClr val="tx1"/>
                </a:solidFill>
              </a:rPr>
              <a:t>Every Connie goes to war.</a:t>
            </a:r>
            <a:endParaRPr lang="en-US" sz="5600" dirty="0"/>
          </a:p>
        </p:txBody>
      </p:sp>
      <p:sp>
        <p:nvSpPr>
          <p:cNvPr id="4" name="Text 187"/>
          <p:cNvSpPr txBox="1"/>
          <p:nvPr/>
        </p:nvSpPr>
        <p:spPr>
          <a:xfrm>
            <a:off x="731520" y="4389120"/>
            <a:ext cx="10728655" cy="548640"/>
          </a:xfrm>
          <a:prstGeom prst="rect">
            <a:avLst/>
          </a:prstGeom>
          <a:noFill/>
          <a:ln/>
        </p:spPr>
        <p:txBody>
          <a:bodyPr wrap="square" lIns="0" tIns="0" rIns="0" bIns="0" rtlCol="0" anchor="ctr"/>
          <a:lstStyle/>
          <a:p>
            <a:pPr algn="ctr" indent="0" marL="0">
              <a:buNone/>
            </a:pPr>
            <a:r>
              <a:rPr lang="en-US" sz="2600" dirty="0">
                <a:solidFill>
                  <a:schemeClr val="tx2"/>
                </a:solidFill>
              </a:rPr>
              <a:t>The exclusive contract becomes a piece of paper</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From Secret R&amp;D to Post-War Civilian Aviation</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A launch rewritten by the war</a:t>
            </a:r>
            <a:endParaRPr lang="en-US" sz="2800" dirty="0"/>
          </a:p>
        </p:txBody>
      </p:sp>
      <p:sp>
        <p:nvSpPr>
          <p:cNvPr id="5" name="Rounded 188"/>
          <p:cNvSpPr/>
          <p:nvPr/>
        </p:nvSpPr>
        <p:spPr>
          <a:xfrm>
            <a:off x="4140926" y="1828800"/>
            <a:ext cx="5172891" cy="548640"/>
          </a:xfrm>
          <a:prstGeom prst="roundRect">
            <a:avLst>
              <a:gd name="adj" fmla="val 16667"/>
            </a:avLst>
          </a:prstGeom>
          <a:solidFill>
            <a:schemeClr val="bg2"/>
          </a:solidFill>
          <a:ln/>
        </p:spPr>
      </p:sp>
      <p:sp>
        <p:nvSpPr>
          <p:cNvPr id="6" name="Text 189"/>
          <p:cNvSpPr txBox="1"/>
          <p:nvPr/>
        </p:nvSpPr>
        <p:spPr>
          <a:xfrm>
            <a:off x="4140926" y="1828800"/>
            <a:ext cx="5172891" cy="548640"/>
          </a:xfrm>
          <a:prstGeom prst="rect">
            <a:avLst/>
          </a:prstGeom>
          <a:noFill/>
          <a:ln/>
        </p:spPr>
        <p:txBody>
          <a:bodyPr wrap="square" lIns="0" tIns="0" rIns="0" bIns="0" rtlCol="0" anchor="ctr"/>
          <a:lstStyle/>
          <a:p>
            <a:pPr algn="ctr" indent="0" marL="0">
              <a:buNone/>
            </a:pPr>
            <a:r>
              <a:rPr lang="en-US" sz="1800" dirty="0">
                <a:solidFill>
                  <a:schemeClr val="tx2"/>
                </a:solidFill>
              </a:rPr>
              <a:t>1942 · Military takes over production</a:t>
            </a:r>
            <a:endParaRPr lang="en-US" sz="1800" dirty="0"/>
          </a:p>
        </p:txBody>
      </p:sp>
      <p:sp>
        <p:nvSpPr>
          <p:cNvPr id="7" name="Line 190"/>
          <p:cNvSpPr/>
          <p:nvPr/>
        </p:nvSpPr>
        <p:spPr>
          <a:xfrm>
            <a:off x="5434149" y="2468880"/>
            <a:ext cx="0" cy="1097280"/>
          </a:xfrm>
          <a:prstGeom prst="line">
            <a:avLst/>
          </a:prstGeom>
          <a:noFill/>
          <a:ln w="9525">
            <a:solidFill>
              <a:schemeClr val="accent2"/>
            </a:solidFill>
            <a:prstDash val="dash"/>
          </a:ln>
        </p:spPr>
      </p:sp>
      <p:sp>
        <p:nvSpPr>
          <p:cNvPr id="8" name="Line 191"/>
          <p:cNvSpPr/>
          <p:nvPr/>
        </p:nvSpPr>
        <p:spPr>
          <a:xfrm>
            <a:off x="1554480" y="3566160"/>
            <a:ext cx="9052560" cy="0"/>
          </a:xfrm>
          <a:prstGeom prst="line">
            <a:avLst/>
          </a:prstGeom>
          <a:noFill/>
          <a:ln w="12700">
            <a:solidFill>
              <a:schemeClr val="accent2"/>
            </a:solidFill>
            <a:prstDash val="solid"/>
          </a:ln>
        </p:spPr>
      </p:sp>
      <p:sp>
        <p:nvSpPr>
          <p:cNvPr id="9" name="Circle 192"/>
          <p:cNvSpPr/>
          <p:nvPr/>
        </p:nvSpPr>
        <p:spPr>
          <a:xfrm>
            <a:off x="1444752" y="3456432"/>
            <a:ext cx="219456" cy="219456"/>
          </a:xfrm>
          <a:prstGeom prst="ellipse">
            <a:avLst/>
          </a:prstGeom>
          <a:solidFill>
            <a:schemeClr val="accent5"/>
          </a:solidFill>
          <a:ln/>
        </p:spPr>
      </p:sp>
      <p:sp>
        <p:nvSpPr>
          <p:cNvPr id="10" name="Text 193"/>
          <p:cNvSpPr txBox="1"/>
          <p:nvPr/>
        </p:nvSpPr>
        <p:spPr>
          <a:xfrm>
            <a:off x="365760"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tx1"/>
                </a:solidFill>
              </a:rPr>
              <a:t>1939</a:t>
            </a:r>
            <a:endParaRPr lang="en-US" sz="3000" dirty="0"/>
          </a:p>
        </p:txBody>
      </p:sp>
      <p:sp>
        <p:nvSpPr>
          <p:cNvPr id="11" name="Text 194"/>
          <p:cNvSpPr txBox="1"/>
          <p:nvPr/>
        </p:nvSpPr>
        <p:spPr>
          <a:xfrm>
            <a:off x="365760" y="3886200"/>
            <a:ext cx="2377440" cy="731520"/>
          </a:xfrm>
          <a:prstGeom prst="rect">
            <a:avLst/>
          </a:prstGeom>
          <a:noFill/>
          <a:ln/>
        </p:spPr>
        <p:txBody>
          <a:bodyPr wrap="square" lIns="0" tIns="0" rIns="0" bIns="0" rtlCol="0" anchor="t"/>
          <a:lstStyle/>
          <a:p>
            <a:pPr algn="ctr" indent="0" marL="0">
              <a:lnSpc>
                <a:spcPct val="110000"/>
              </a:lnSpc>
              <a:buNone/>
            </a:pPr>
            <a:r>
              <a:rPr lang="en-US" sz="2000" dirty="0">
                <a:solidFill>
                  <a:schemeClr val="tx1"/>
                </a:solidFill>
              </a:rPr>
              <a:t>Secret R&amp;D</a:t>
            </a:r>
            <a:endParaRPr lang="en-US" sz="2000" dirty="0"/>
          </a:p>
        </p:txBody>
      </p:sp>
      <p:sp>
        <p:nvSpPr>
          <p:cNvPr id="12" name="Circle 195"/>
          <p:cNvSpPr/>
          <p:nvPr/>
        </p:nvSpPr>
        <p:spPr>
          <a:xfrm>
            <a:off x="4031198" y="3456432"/>
            <a:ext cx="219456" cy="219456"/>
          </a:xfrm>
          <a:prstGeom prst="ellipse">
            <a:avLst/>
          </a:prstGeom>
          <a:solidFill>
            <a:schemeClr val="accent5"/>
          </a:solidFill>
          <a:ln/>
        </p:spPr>
      </p:sp>
      <p:sp>
        <p:nvSpPr>
          <p:cNvPr id="13" name="Text 196"/>
          <p:cNvSpPr txBox="1"/>
          <p:nvPr/>
        </p:nvSpPr>
        <p:spPr>
          <a:xfrm>
            <a:off x="2952206"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tx1"/>
                </a:solidFill>
              </a:rPr>
              <a:t>1941</a:t>
            </a:r>
            <a:endParaRPr lang="en-US" sz="3000" dirty="0"/>
          </a:p>
        </p:txBody>
      </p:sp>
      <p:sp>
        <p:nvSpPr>
          <p:cNvPr id="14" name="Text 197"/>
          <p:cNvSpPr txBox="1"/>
          <p:nvPr/>
        </p:nvSpPr>
        <p:spPr>
          <a:xfrm>
            <a:off x="2952206" y="3886200"/>
            <a:ext cx="2377440" cy="731520"/>
          </a:xfrm>
          <a:prstGeom prst="rect">
            <a:avLst/>
          </a:prstGeom>
          <a:noFill/>
          <a:ln/>
        </p:spPr>
        <p:txBody>
          <a:bodyPr wrap="square" lIns="0" tIns="0" rIns="0" bIns="0" rtlCol="0" anchor="t"/>
          <a:lstStyle/>
          <a:p>
            <a:pPr algn="ctr" indent="0" marL="0">
              <a:lnSpc>
                <a:spcPct val="110000"/>
              </a:lnSpc>
              <a:buNone/>
            </a:pPr>
            <a:r>
              <a:rPr lang="en-US" sz="2000" dirty="0">
                <a:solidFill>
                  <a:schemeClr val="tx1"/>
                </a:solidFill>
              </a:rPr>
              <a:t>U.S. enters the war</a:t>
            </a:r>
            <a:endParaRPr lang="en-US" sz="2000" dirty="0"/>
          </a:p>
        </p:txBody>
      </p:sp>
      <p:sp>
        <p:nvSpPr>
          <p:cNvPr id="15" name="Circle 198"/>
          <p:cNvSpPr/>
          <p:nvPr/>
        </p:nvSpPr>
        <p:spPr>
          <a:xfrm>
            <a:off x="6617643" y="3456432"/>
            <a:ext cx="219456" cy="219456"/>
          </a:xfrm>
          <a:prstGeom prst="ellipse">
            <a:avLst/>
          </a:prstGeom>
          <a:solidFill>
            <a:schemeClr val="accent5"/>
          </a:solidFill>
          <a:ln/>
        </p:spPr>
      </p:sp>
      <p:sp>
        <p:nvSpPr>
          <p:cNvPr id="16" name="Text 199"/>
          <p:cNvSpPr txBox="1"/>
          <p:nvPr/>
        </p:nvSpPr>
        <p:spPr>
          <a:xfrm>
            <a:off x="5538651"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tx1"/>
                </a:solidFill>
              </a:rPr>
              <a:t>1943</a:t>
            </a:r>
            <a:endParaRPr lang="en-US" sz="3000" dirty="0"/>
          </a:p>
        </p:txBody>
      </p:sp>
      <p:sp>
        <p:nvSpPr>
          <p:cNvPr id="17" name="Text 200"/>
          <p:cNvSpPr txBox="1"/>
          <p:nvPr/>
        </p:nvSpPr>
        <p:spPr>
          <a:xfrm>
            <a:off x="5538651" y="3886200"/>
            <a:ext cx="2377440" cy="731520"/>
          </a:xfrm>
          <a:prstGeom prst="rect">
            <a:avLst/>
          </a:prstGeom>
          <a:noFill/>
          <a:ln/>
        </p:spPr>
        <p:txBody>
          <a:bodyPr wrap="square" lIns="0" tIns="0" rIns="0" bIns="0" rtlCol="0" anchor="t"/>
          <a:lstStyle/>
          <a:p>
            <a:pPr algn="ctr" indent="0" marL="0">
              <a:lnSpc>
                <a:spcPct val="110000"/>
              </a:lnSpc>
              <a:buNone/>
            </a:pPr>
            <a:r>
              <a:rPr lang="en-US" sz="2000" dirty="0">
                <a:solidFill>
                  <a:schemeClr val="tx1"/>
                </a:solidFill>
              </a:rPr>
              <a:t>C-69 first flight</a:t>
            </a:r>
            <a:endParaRPr lang="en-US" sz="2000" dirty="0"/>
          </a:p>
        </p:txBody>
      </p:sp>
      <p:sp>
        <p:nvSpPr>
          <p:cNvPr id="18" name="Circle 201"/>
          <p:cNvSpPr/>
          <p:nvPr/>
        </p:nvSpPr>
        <p:spPr>
          <a:xfrm>
            <a:off x="10497312" y="3456432"/>
            <a:ext cx="219456" cy="219456"/>
          </a:xfrm>
          <a:prstGeom prst="ellipse">
            <a:avLst/>
          </a:prstGeom>
          <a:solidFill>
            <a:schemeClr val="accent1"/>
          </a:solidFill>
          <a:ln/>
        </p:spPr>
      </p:sp>
      <p:sp>
        <p:nvSpPr>
          <p:cNvPr id="19" name="Text 202"/>
          <p:cNvSpPr txBox="1"/>
          <p:nvPr/>
        </p:nvSpPr>
        <p:spPr>
          <a:xfrm>
            <a:off x="9418320"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accent1"/>
                </a:solidFill>
              </a:rPr>
              <a:t>1946</a:t>
            </a:r>
            <a:endParaRPr lang="en-US" sz="3000" dirty="0"/>
          </a:p>
        </p:txBody>
      </p:sp>
      <p:sp>
        <p:nvSpPr>
          <p:cNvPr id="20" name="Text 203"/>
          <p:cNvSpPr txBox="1"/>
          <p:nvPr/>
        </p:nvSpPr>
        <p:spPr>
          <a:xfrm>
            <a:off x="9418320" y="3886200"/>
            <a:ext cx="2377440" cy="731520"/>
          </a:xfrm>
          <a:prstGeom prst="rect">
            <a:avLst/>
          </a:prstGeom>
          <a:noFill/>
          <a:ln/>
        </p:spPr>
        <p:txBody>
          <a:bodyPr wrap="square" lIns="0" tIns="0" rIns="0" bIns="0" rtlCol="0" anchor="t"/>
          <a:lstStyle/>
          <a:p>
            <a:pPr algn="ctr" indent="0" marL="0">
              <a:lnSpc>
                <a:spcPct val="110000"/>
              </a:lnSpc>
              <a:buNone/>
            </a:pPr>
            <a:r>
              <a:rPr lang="en-US" sz="2000" dirty="0">
                <a:solidFill>
                  <a:schemeClr val="tx1"/>
                </a:solidFill>
              </a:rPr>
              <a:t>TWA service</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204"/>
          <p:cNvSpPr txBox="1"/>
          <p:nvPr/>
        </p:nvSpPr>
        <p:spPr>
          <a:xfrm>
            <a:off x="6309360" y="685800"/>
            <a:ext cx="5303520" cy="1280160"/>
          </a:xfrm>
          <a:prstGeom prst="rect">
            <a:avLst/>
          </a:prstGeom>
          <a:noFill/>
          <a:ln/>
        </p:spPr>
        <p:txBody>
          <a:bodyPr wrap="square" lIns="0" tIns="0" rIns="0" bIns="0" rtlCol="0" anchor="t"/>
          <a:lstStyle/>
          <a:p>
            <a:pPr indent="0" marL="0">
              <a:buNone/>
            </a:pPr>
            <a:r>
              <a:rPr lang="en-US" sz="3600" b="1" spc="-100" kern="0" dirty="0">
                <a:solidFill>
                  <a:schemeClr val="tx1"/>
                </a:solidFill>
              </a:rPr>
              <a:t>Connie is Actually</a:t>
            </a:r>
            <a:endParaRPr lang="en-US" sz="3600" dirty="0"/>
          </a:p>
          <a:p>
            <a:pPr indent="0" marL="0">
              <a:buNone/>
            </a:pPr>
            <a:r>
              <a:rPr lang="en-US" sz="3600" b="1" spc="-100" kern="0" dirty="0">
                <a:solidFill>
                  <a:schemeClr val="tx1"/>
                </a:solidFill>
              </a:rPr>
              <a:t>an Evolving Family</a:t>
            </a:r>
            <a:endParaRPr lang="en-US" sz="3600" dirty="0"/>
          </a:p>
        </p:txBody>
      </p:sp>
      <p:sp>
        <p:nvSpPr>
          <p:cNvPr id="3" name="Line 205"/>
          <p:cNvSpPr/>
          <p:nvPr/>
        </p:nvSpPr>
        <p:spPr>
          <a:xfrm>
            <a:off x="6400800" y="2697480"/>
            <a:ext cx="0" cy="2194560"/>
          </a:xfrm>
          <a:prstGeom prst="line">
            <a:avLst/>
          </a:prstGeom>
          <a:noFill/>
          <a:ln w="12700">
            <a:solidFill>
              <a:schemeClr val="accent2"/>
            </a:solidFill>
            <a:prstDash val="solid"/>
          </a:ln>
        </p:spPr>
      </p:sp>
      <p:sp>
        <p:nvSpPr>
          <p:cNvPr id="4" name="Circle 206"/>
          <p:cNvSpPr/>
          <p:nvPr/>
        </p:nvSpPr>
        <p:spPr>
          <a:xfrm>
            <a:off x="6318504" y="2633472"/>
            <a:ext cx="164592" cy="164592"/>
          </a:xfrm>
          <a:prstGeom prst="ellipse">
            <a:avLst/>
          </a:prstGeom>
          <a:solidFill>
            <a:schemeClr val="accent1"/>
          </a:solidFill>
          <a:ln/>
        </p:spPr>
      </p:sp>
      <p:sp>
        <p:nvSpPr>
          <p:cNvPr id="5" name="Text 207"/>
          <p:cNvSpPr txBox="1"/>
          <p:nvPr/>
        </p:nvSpPr>
        <p:spPr>
          <a:xfrm>
            <a:off x="6766560" y="2496312"/>
            <a:ext cx="4846320" cy="457200"/>
          </a:xfrm>
          <a:prstGeom prst="rect">
            <a:avLst/>
          </a:prstGeom>
          <a:noFill/>
          <a:ln/>
        </p:spPr>
        <p:txBody>
          <a:bodyPr wrap="square" lIns="0" tIns="0" rIns="0" bIns="0" rtlCol="0" anchor="ctr"/>
          <a:lstStyle/>
          <a:p>
            <a:pPr indent="0" marL="0">
              <a:buNone/>
            </a:pPr>
            <a:r>
              <a:rPr lang="en-US" sz="2600" b="1" dirty="0">
                <a:solidFill>
                  <a:schemeClr val="tx1"/>
                </a:solidFill>
              </a:rPr>
              <a:t>L-049</a:t>
            </a:r>
            <a:pPr indent="0" marL="0">
              <a:buNone/>
            </a:pPr>
            <a:r>
              <a:rPr lang="en-US" sz="2000" b="1" dirty="0">
                <a:solidFill>
                  <a:schemeClr val="accent1"/>
                </a:solidFill>
              </a:rPr>
              <a:t>   1946</a:t>
            </a:r>
            <a:endParaRPr lang="en-US" sz="2600" dirty="0"/>
          </a:p>
        </p:txBody>
      </p:sp>
      <p:sp>
        <p:nvSpPr>
          <p:cNvPr id="6" name="Text 208"/>
          <p:cNvSpPr txBox="1"/>
          <p:nvPr/>
        </p:nvSpPr>
        <p:spPr>
          <a:xfrm>
            <a:off x="6766560" y="2971800"/>
            <a:ext cx="4846320" cy="320040"/>
          </a:xfrm>
          <a:prstGeom prst="rect">
            <a:avLst/>
          </a:prstGeom>
          <a:noFill/>
          <a:ln/>
        </p:spPr>
        <p:txBody>
          <a:bodyPr wrap="square" lIns="0" tIns="0" rIns="0" bIns="0" rtlCol="0" anchor="t"/>
          <a:lstStyle/>
          <a:p>
            <a:pPr indent="0" marL="0">
              <a:buNone/>
            </a:pPr>
            <a:r>
              <a:rPr lang="en-US" sz="2000" dirty="0">
                <a:solidFill>
                  <a:schemeClr val="tx2"/>
                </a:solidFill>
              </a:rPr>
              <a:t>Post-war airliner</a:t>
            </a:r>
            <a:endParaRPr lang="en-US" sz="2000" dirty="0"/>
          </a:p>
        </p:txBody>
      </p:sp>
      <p:sp>
        <p:nvSpPr>
          <p:cNvPr id="7" name="Circle 209"/>
          <p:cNvSpPr/>
          <p:nvPr/>
        </p:nvSpPr>
        <p:spPr>
          <a:xfrm>
            <a:off x="6318504" y="3730752"/>
            <a:ext cx="164592" cy="164592"/>
          </a:xfrm>
          <a:prstGeom prst="ellipse">
            <a:avLst/>
          </a:prstGeom>
          <a:solidFill>
            <a:schemeClr val="accent1"/>
          </a:solidFill>
          <a:ln/>
        </p:spPr>
      </p:sp>
      <p:sp>
        <p:nvSpPr>
          <p:cNvPr id="8" name="Text 210"/>
          <p:cNvSpPr txBox="1"/>
          <p:nvPr/>
        </p:nvSpPr>
        <p:spPr>
          <a:xfrm>
            <a:off x="6766560" y="3593592"/>
            <a:ext cx="4846320" cy="457200"/>
          </a:xfrm>
          <a:prstGeom prst="rect">
            <a:avLst/>
          </a:prstGeom>
          <a:noFill/>
          <a:ln/>
        </p:spPr>
        <p:txBody>
          <a:bodyPr wrap="square" lIns="0" tIns="0" rIns="0" bIns="0" rtlCol="0" anchor="ctr"/>
          <a:lstStyle/>
          <a:p>
            <a:pPr indent="0" marL="0">
              <a:buNone/>
            </a:pPr>
            <a:r>
              <a:rPr lang="en-US" sz="2600" b="1" dirty="0">
                <a:solidFill>
                  <a:schemeClr val="tx1"/>
                </a:solidFill>
              </a:rPr>
              <a:t>L-1049</a:t>
            </a:r>
            <a:pPr indent="0" marL="0">
              <a:buNone/>
            </a:pPr>
            <a:r>
              <a:rPr lang="en-US" sz="2000" b="1" dirty="0">
                <a:solidFill>
                  <a:schemeClr val="accent1"/>
                </a:solidFill>
              </a:rPr>
              <a:t>   1951</a:t>
            </a:r>
            <a:endParaRPr lang="en-US" sz="2600" dirty="0"/>
          </a:p>
        </p:txBody>
      </p:sp>
      <p:sp>
        <p:nvSpPr>
          <p:cNvPr id="9" name="Text 211"/>
          <p:cNvSpPr txBox="1"/>
          <p:nvPr/>
        </p:nvSpPr>
        <p:spPr>
          <a:xfrm>
            <a:off x="6766560" y="4069080"/>
            <a:ext cx="4846320" cy="320040"/>
          </a:xfrm>
          <a:prstGeom prst="rect">
            <a:avLst/>
          </a:prstGeom>
          <a:noFill/>
          <a:ln/>
        </p:spPr>
        <p:txBody>
          <a:bodyPr wrap="square" lIns="0" tIns="0" rIns="0" bIns="0" rtlCol="0" anchor="t"/>
          <a:lstStyle/>
          <a:p>
            <a:pPr indent="0" marL="0">
              <a:buNone/>
            </a:pPr>
            <a:r>
              <a:rPr lang="en-US" sz="2000" dirty="0">
                <a:solidFill>
                  <a:schemeClr val="tx2"/>
                </a:solidFill>
              </a:rPr>
              <a:t>Stretched fuselage</a:t>
            </a:r>
            <a:endParaRPr lang="en-US" sz="2000" dirty="0"/>
          </a:p>
        </p:txBody>
      </p:sp>
      <p:sp>
        <p:nvSpPr>
          <p:cNvPr id="10" name="Circle 212"/>
          <p:cNvSpPr/>
          <p:nvPr/>
        </p:nvSpPr>
        <p:spPr>
          <a:xfrm>
            <a:off x="6318504" y="4828032"/>
            <a:ext cx="164592" cy="164592"/>
          </a:xfrm>
          <a:prstGeom prst="ellipse">
            <a:avLst/>
          </a:prstGeom>
          <a:solidFill>
            <a:schemeClr val="accent1"/>
          </a:solidFill>
          <a:ln/>
        </p:spPr>
      </p:sp>
      <p:sp>
        <p:nvSpPr>
          <p:cNvPr id="11" name="Text 213"/>
          <p:cNvSpPr txBox="1"/>
          <p:nvPr/>
        </p:nvSpPr>
        <p:spPr>
          <a:xfrm>
            <a:off x="6766560" y="4690872"/>
            <a:ext cx="4846320" cy="457200"/>
          </a:xfrm>
          <a:prstGeom prst="rect">
            <a:avLst/>
          </a:prstGeom>
          <a:noFill/>
          <a:ln/>
        </p:spPr>
        <p:txBody>
          <a:bodyPr wrap="square" lIns="0" tIns="0" rIns="0" bIns="0" rtlCol="0" anchor="ctr"/>
          <a:lstStyle/>
          <a:p>
            <a:pPr indent="0" marL="0">
              <a:buNone/>
            </a:pPr>
            <a:r>
              <a:rPr lang="en-US" sz="2600" b="1" dirty="0">
                <a:solidFill>
                  <a:schemeClr val="tx1"/>
                </a:solidFill>
              </a:rPr>
              <a:t>L-1649A</a:t>
            </a:r>
            <a:pPr indent="0" marL="0">
              <a:buNone/>
            </a:pPr>
            <a:r>
              <a:rPr lang="en-US" sz="2000" b="1" dirty="0">
                <a:solidFill>
                  <a:schemeClr val="accent1"/>
                </a:solidFill>
              </a:rPr>
              <a:t>   1957</a:t>
            </a:r>
            <a:endParaRPr lang="en-US" sz="2600" dirty="0"/>
          </a:p>
        </p:txBody>
      </p:sp>
      <p:sp>
        <p:nvSpPr>
          <p:cNvPr id="12" name="Text 214"/>
          <p:cNvSpPr txBox="1"/>
          <p:nvPr/>
        </p:nvSpPr>
        <p:spPr>
          <a:xfrm>
            <a:off x="6766560" y="5166360"/>
            <a:ext cx="4846320" cy="320040"/>
          </a:xfrm>
          <a:prstGeom prst="rect">
            <a:avLst/>
          </a:prstGeom>
          <a:noFill/>
          <a:ln/>
        </p:spPr>
        <p:txBody>
          <a:bodyPr wrap="square" lIns="0" tIns="0" rIns="0" bIns="0" rtlCol="0" anchor="t"/>
          <a:lstStyle/>
          <a:p>
            <a:pPr indent="0" marL="0">
              <a:buNone/>
            </a:pPr>
            <a:r>
              <a:rPr lang="en-US" sz="2000" dirty="0">
                <a:solidFill>
                  <a:schemeClr val="tx2"/>
                </a:solidFill>
              </a:rPr>
              <a:t>Starliner: new wing, longer range</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856 Aircraft, How Big is That Scale?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Each block is 10 aircraft</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Only about 5% were Starliners</a:t>
            </a:r>
            <a:endParaRPr lang="en-US" sz="2800" dirty="0"/>
          </a:p>
        </p:txBody>
      </p:sp>
      <p:sp>
        <p:nvSpPr>
          <p:cNvPr id="6" name="Rounded 215"/>
          <p:cNvSpPr/>
          <p:nvPr/>
        </p:nvSpPr>
        <p:spPr>
          <a:xfrm>
            <a:off x="1188720" y="1874520"/>
            <a:ext cx="292608" cy="292608"/>
          </a:xfrm>
          <a:prstGeom prst="roundRect">
            <a:avLst>
              <a:gd name="adj" fmla="val 12500"/>
            </a:avLst>
          </a:prstGeom>
          <a:solidFill>
            <a:schemeClr val="accent6"/>
          </a:solidFill>
          <a:ln/>
        </p:spPr>
      </p:sp>
      <p:sp>
        <p:nvSpPr>
          <p:cNvPr id="7" name="Rounded 216"/>
          <p:cNvSpPr/>
          <p:nvPr/>
        </p:nvSpPr>
        <p:spPr>
          <a:xfrm>
            <a:off x="1554480" y="1874520"/>
            <a:ext cx="292608" cy="292608"/>
          </a:xfrm>
          <a:prstGeom prst="roundRect">
            <a:avLst>
              <a:gd name="adj" fmla="val 12500"/>
            </a:avLst>
          </a:prstGeom>
          <a:solidFill>
            <a:schemeClr val="accent6"/>
          </a:solidFill>
          <a:ln/>
        </p:spPr>
      </p:sp>
      <p:sp>
        <p:nvSpPr>
          <p:cNvPr id="8" name="Rounded 217"/>
          <p:cNvSpPr/>
          <p:nvPr/>
        </p:nvSpPr>
        <p:spPr>
          <a:xfrm>
            <a:off x="1920240" y="1874520"/>
            <a:ext cx="292608" cy="292608"/>
          </a:xfrm>
          <a:prstGeom prst="roundRect">
            <a:avLst>
              <a:gd name="adj" fmla="val 12500"/>
            </a:avLst>
          </a:prstGeom>
          <a:solidFill>
            <a:schemeClr val="accent6"/>
          </a:solidFill>
          <a:ln/>
        </p:spPr>
      </p:sp>
      <p:sp>
        <p:nvSpPr>
          <p:cNvPr id="9" name="Rounded 218"/>
          <p:cNvSpPr/>
          <p:nvPr/>
        </p:nvSpPr>
        <p:spPr>
          <a:xfrm>
            <a:off x="2286000" y="1874520"/>
            <a:ext cx="292608" cy="292608"/>
          </a:xfrm>
          <a:prstGeom prst="roundRect">
            <a:avLst>
              <a:gd name="adj" fmla="val 12500"/>
            </a:avLst>
          </a:prstGeom>
          <a:solidFill>
            <a:schemeClr val="accent6"/>
          </a:solidFill>
          <a:ln/>
        </p:spPr>
      </p:sp>
      <p:sp>
        <p:nvSpPr>
          <p:cNvPr id="10" name="Rounded 219"/>
          <p:cNvSpPr/>
          <p:nvPr/>
        </p:nvSpPr>
        <p:spPr>
          <a:xfrm>
            <a:off x="2651760" y="1874520"/>
            <a:ext cx="292608" cy="292608"/>
          </a:xfrm>
          <a:prstGeom prst="roundRect">
            <a:avLst>
              <a:gd name="adj" fmla="val 12500"/>
            </a:avLst>
          </a:prstGeom>
          <a:solidFill>
            <a:schemeClr val="accent6"/>
          </a:solidFill>
          <a:ln/>
        </p:spPr>
      </p:sp>
      <p:sp>
        <p:nvSpPr>
          <p:cNvPr id="11" name="Rounded 220"/>
          <p:cNvSpPr/>
          <p:nvPr/>
        </p:nvSpPr>
        <p:spPr>
          <a:xfrm>
            <a:off x="3017520" y="1874520"/>
            <a:ext cx="292608" cy="292608"/>
          </a:xfrm>
          <a:prstGeom prst="roundRect">
            <a:avLst>
              <a:gd name="adj" fmla="val 12500"/>
            </a:avLst>
          </a:prstGeom>
          <a:solidFill>
            <a:schemeClr val="accent6"/>
          </a:solidFill>
          <a:ln/>
        </p:spPr>
      </p:sp>
      <p:sp>
        <p:nvSpPr>
          <p:cNvPr id="12" name="Rounded 221"/>
          <p:cNvSpPr/>
          <p:nvPr/>
        </p:nvSpPr>
        <p:spPr>
          <a:xfrm>
            <a:off x="3383280" y="1874520"/>
            <a:ext cx="292608" cy="292608"/>
          </a:xfrm>
          <a:prstGeom prst="roundRect">
            <a:avLst>
              <a:gd name="adj" fmla="val 12500"/>
            </a:avLst>
          </a:prstGeom>
          <a:solidFill>
            <a:schemeClr val="accent6"/>
          </a:solidFill>
          <a:ln/>
        </p:spPr>
      </p:sp>
      <p:sp>
        <p:nvSpPr>
          <p:cNvPr id="13" name="Rounded 222"/>
          <p:cNvSpPr/>
          <p:nvPr/>
        </p:nvSpPr>
        <p:spPr>
          <a:xfrm>
            <a:off x="3749040" y="1874520"/>
            <a:ext cx="292608" cy="292608"/>
          </a:xfrm>
          <a:prstGeom prst="roundRect">
            <a:avLst>
              <a:gd name="adj" fmla="val 12500"/>
            </a:avLst>
          </a:prstGeom>
          <a:solidFill>
            <a:schemeClr val="accent6"/>
          </a:solidFill>
          <a:ln/>
        </p:spPr>
      </p:sp>
      <p:sp>
        <p:nvSpPr>
          <p:cNvPr id="14" name="Rounded 223"/>
          <p:cNvSpPr/>
          <p:nvPr/>
        </p:nvSpPr>
        <p:spPr>
          <a:xfrm>
            <a:off x="4114800" y="1874520"/>
            <a:ext cx="292608" cy="292608"/>
          </a:xfrm>
          <a:prstGeom prst="roundRect">
            <a:avLst>
              <a:gd name="adj" fmla="val 12500"/>
            </a:avLst>
          </a:prstGeom>
          <a:solidFill>
            <a:schemeClr val="accent6"/>
          </a:solidFill>
          <a:ln/>
        </p:spPr>
      </p:sp>
      <p:sp>
        <p:nvSpPr>
          <p:cNvPr id="15" name="Rounded 224"/>
          <p:cNvSpPr/>
          <p:nvPr/>
        </p:nvSpPr>
        <p:spPr>
          <a:xfrm>
            <a:off x="4480560" y="1874520"/>
            <a:ext cx="292608" cy="292608"/>
          </a:xfrm>
          <a:prstGeom prst="roundRect">
            <a:avLst>
              <a:gd name="adj" fmla="val 12500"/>
            </a:avLst>
          </a:prstGeom>
          <a:solidFill>
            <a:schemeClr val="accent6"/>
          </a:solidFill>
          <a:ln/>
        </p:spPr>
      </p:sp>
      <p:sp>
        <p:nvSpPr>
          <p:cNvPr id="16" name="Rounded 225"/>
          <p:cNvSpPr/>
          <p:nvPr/>
        </p:nvSpPr>
        <p:spPr>
          <a:xfrm>
            <a:off x="1188720" y="2240280"/>
            <a:ext cx="292608" cy="292608"/>
          </a:xfrm>
          <a:prstGeom prst="roundRect">
            <a:avLst>
              <a:gd name="adj" fmla="val 12500"/>
            </a:avLst>
          </a:prstGeom>
          <a:solidFill>
            <a:schemeClr val="accent6"/>
          </a:solidFill>
          <a:ln/>
        </p:spPr>
      </p:sp>
      <p:sp>
        <p:nvSpPr>
          <p:cNvPr id="17" name="Rounded 226"/>
          <p:cNvSpPr/>
          <p:nvPr/>
        </p:nvSpPr>
        <p:spPr>
          <a:xfrm>
            <a:off x="1554480" y="2240280"/>
            <a:ext cx="292608" cy="292608"/>
          </a:xfrm>
          <a:prstGeom prst="roundRect">
            <a:avLst>
              <a:gd name="adj" fmla="val 12500"/>
            </a:avLst>
          </a:prstGeom>
          <a:solidFill>
            <a:schemeClr val="accent6"/>
          </a:solidFill>
          <a:ln/>
        </p:spPr>
      </p:sp>
      <p:sp>
        <p:nvSpPr>
          <p:cNvPr id="18" name="Rounded 227"/>
          <p:cNvSpPr/>
          <p:nvPr/>
        </p:nvSpPr>
        <p:spPr>
          <a:xfrm>
            <a:off x="1920240" y="2240280"/>
            <a:ext cx="292608" cy="292608"/>
          </a:xfrm>
          <a:prstGeom prst="roundRect">
            <a:avLst>
              <a:gd name="adj" fmla="val 12500"/>
            </a:avLst>
          </a:prstGeom>
          <a:solidFill>
            <a:schemeClr val="accent6"/>
          </a:solidFill>
          <a:ln/>
        </p:spPr>
      </p:sp>
      <p:sp>
        <p:nvSpPr>
          <p:cNvPr id="19" name="Rounded 228"/>
          <p:cNvSpPr/>
          <p:nvPr/>
        </p:nvSpPr>
        <p:spPr>
          <a:xfrm>
            <a:off x="2286000" y="2240280"/>
            <a:ext cx="292608" cy="292608"/>
          </a:xfrm>
          <a:prstGeom prst="roundRect">
            <a:avLst>
              <a:gd name="adj" fmla="val 12500"/>
            </a:avLst>
          </a:prstGeom>
          <a:solidFill>
            <a:schemeClr val="accent6"/>
          </a:solidFill>
          <a:ln/>
        </p:spPr>
      </p:sp>
      <p:sp>
        <p:nvSpPr>
          <p:cNvPr id="20" name="Rounded 229"/>
          <p:cNvSpPr/>
          <p:nvPr/>
        </p:nvSpPr>
        <p:spPr>
          <a:xfrm>
            <a:off x="2651760" y="2240280"/>
            <a:ext cx="292608" cy="292608"/>
          </a:xfrm>
          <a:prstGeom prst="roundRect">
            <a:avLst>
              <a:gd name="adj" fmla="val 12500"/>
            </a:avLst>
          </a:prstGeom>
          <a:solidFill>
            <a:schemeClr val="accent6"/>
          </a:solidFill>
          <a:ln/>
        </p:spPr>
      </p:sp>
      <p:sp>
        <p:nvSpPr>
          <p:cNvPr id="21" name="Rounded 230"/>
          <p:cNvSpPr/>
          <p:nvPr/>
        </p:nvSpPr>
        <p:spPr>
          <a:xfrm>
            <a:off x="3017520" y="2240280"/>
            <a:ext cx="292608" cy="292608"/>
          </a:xfrm>
          <a:prstGeom prst="roundRect">
            <a:avLst>
              <a:gd name="adj" fmla="val 12500"/>
            </a:avLst>
          </a:prstGeom>
          <a:solidFill>
            <a:schemeClr val="accent6"/>
          </a:solidFill>
          <a:ln/>
        </p:spPr>
      </p:sp>
      <p:sp>
        <p:nvSpPr>
          <p:cNvPr id="22" name="Rounded 231"/>
          <p:cNvSpPr/>
          <p:nvPr/>
        </p:nvSpPr>
        <p:spPr>
          <a:xfrm>
            <a:off x="3383280" y="2240280"/>
            <a:ext cx="292608" cy="292608"/>
          </a:xfrm>
          <a:prstGeom prst="roundRect">
            <a:avLst>
              <a:gd name="adj" fmla="val 12500"/>
            </a:avLst>
          </a:prstGeom>
          <a:solidFill>
            <a:schemeClr val="accent6"/>
          </a:solidFill>
          <a:ln/>
        </p:spPr>
      </p:sp>
      <p:sp>
        <p:nvSpPr>
          <p:cNvPr id="23" name="Rounded 232"/>
          <p:cNvSpPr/>
          <p:nvPr/>
        </p:nvSpPr>
        <p:spPr>
          <a:xfrm>
            <a:off x="3749040" y="2240280"/>
            <a:ext cx="292608" cy="292608"/>
          </a:xfrm>
          <a:prstGeom prst="roundRect">
            <a:avLst>
              <a:gd name="adj" fmla="val 12500"/>
            </a:avLst>
          </a:prstGeom>
          <a:solidFill>
            <a:schemeClr val="accent6"/>
          </a:solidFill>
          <a:ln/>
        </p:spPr>
      </p:sp>
      <p:sp>
        <p:nvSpPr>
          <p:cNvPr id="24" name="Rounded 233"/>
          <p:cNvSpPr/>
          <p:nvPr/>
        </p:nvSpPr>
        <p:spPr>
          <a:xfrm>
            <a:off x="4114800" y="2240280"/>
            <a:ext cx="292608" cy="292608"/>
          </a:xfrm>
          <a:prstGeom prst="roundRect">
            <a:avLst>
              <a:gd name="adj" fmla="val 12500"/>
            </a:avLst>
          </a:prstGeom>
          <a:solidFill>
            <a:schemeClr val="accent6"/>
          </a:solidFill>
          <a:ln/>
        </p:spPr>
      </p:sp>
      <p:sp>
        <p:nvSpPr>
          <p:cNvPr id="25" name="Rounded 234"/>
          <p:cNvSpPr/>
          <p:nvPr/>
        </p:nvSpPr>
        <p:spPr>
          <a:xfrm>
            <a:off x="4480560" y="2240280"/>
            <a:ext cx="292608" cy="292608"/>
          </a:xfrm>
          <a:prstGeom prst="roundRect">
            <a:avLst>
              <a:gd name="adj" fmla="val 12500"/>
            </a:avLst>
          </a:prstGeom>
          <a:solidFill>
            <a:schemeClr val="accent6"/>
          </a:solidFill>
          <a:ln/>
        </p:spPr>
      </p:sp>
      <p:sp>
        <p:nvSpPr>
          <p:cNvPr id="26" name="Rounded 235"/>
          <p:cNvSpPr/>
          <p:nvPr/>
        </p:nvSpPr>
        <p:spPr>
          <a:xfrm>
            <a:off x="1188720" y="2606040"/>
            <a:ext cx="292608" cy="292608"/>
          </a:xfrm>
          <a:prstGeom prst="roundRect">
            <a:avLst>
              <a:gd name="adj" fmla="val 12500"/>
            </a:avLst>
          </a:prstGeom>
          <a:solidFill>
            <a:schemeClr val="accent6"/>
          </a:solidFill>
          <a:ln/>
        </p:spPr>
      </p:sp>
      <p:sp>
        <p:nvSpPr>
          <p:cNvPr id="27" name="Rounded 236"/>
          <p:cNvSpPr/>
          <p:nvPr/>
        </p:nvSpPr>
        <p:spPr>
          <a:xfrm>
            <a:off x="1554480" y="2606040"/>
            <a:ext cx="292608" cy="292608"/>
          </a:xfrm>
          <a:prstGeom prst="roundRect">
            <a:avLst>
              <a:gd name="adj" fmla="val 12500"/>
            </a:avLst>
          </a:prstGeom>
          <a:solidFill>
            <a:schemeClr val="accent6"/>
          </a:solidFill>
          <a:ln/>
        </p:spPr>
      </p:sp>
      <p:sp>
        <p:nvSpPr>
          <p:cNvPr id="28" name="Rounded 237"/>
          <p:cNvSpPr/>
          <p:nvPr/>
        </p:nvSpPr>
        <p:spPr>
          <a:xfrm>
            <a:off x="1920240" y="2606040"/>
            <a:ext cx="292608" cy="292608"/>
          </a:xfrm>
          <a:prstGeom prst="roundRect">
            <a:avLst>
              <a:gd name="adj" fmla="val 12500"/>
            </a:avLst>
          </a:prstGeom>
          <a:solidFill>
            <a:schemeClr val="accent6"/>
          </a:solidFill>
          <a:ln/>
        </p:spPr>
      </p:sp>
      <p:sp>
        <p:nvSpPr>
          <p:cNvPr id="29" name="Rounded 238"/>
          <p:cNvSpPr/>
          <p:nvPr/>
        </p:nvSpPr>
        <p:spPr>
          <a:xfrm>
            <a:off x="2286000" y="2606040"/>
            <a:ext cx="292608" cy="292608"/>
          </a:xfrm>
          <a:prstGeom prst="roundRect">
            <a:avLst>
              <a:gd name="adj" fmla="val 12500"/>
            </a:avLst>
          </a:prstGeom>
          <a:solidFill>
            <a:schemeClr val="accent6"/>
          </a:solidFill>
          <a:ln/>
        </p:spPr>
      </p:sp>
      <p:sp>
        <p:nvSpPr>
          <p:cNvPr id="30" name="Rounded 239"/>
          <p:cNvSpPr/>
          <p:nvPr/>
        </p:nvSpPr>
        <p:spPr>
          <a:xfrm>
            <a:off x="2651760" y="2606040"/>
            <a:ext cx="292608" cy="292608"/>
          </a:xfrm>
          <a:prstGeom prst="roundRect">
            <a:avLst>
              <a:gd name="adj" fmla="val 12500"/>
            </a:avLst>
          </a:prstGeom>
          <a:solidFill>
            <a:schemeClr val="accent6"/>
          </a:solidFill>
          <a:ln/>
        </p:spPr>
      </p:sp>
      <p:sp>
        <p:nvSpPr>
          <p:cNvPr id="31" name="Rounded 240"/>
          <p:cNvSpPr/>
          <p:nvPr/>
        </p:nvSpPr>
        <p:spPr>
          <a:xfrm>
            <a:off x="3017520" y="2606040"/>
            <a:ext cx="292608" cy="292608"/>
          </a:xfrm>
          <a:prstGeom prst="roundRect">
            <a:avLst>
              <a:gd name="adj" fmla="val 12500"/>
            </a:avLst>
          </a:prstGeom>
          <a:solidFill>
            <a:schemeClr val="accent6"/>
          </a:solidFill>
          <a:ln/>
        </p:spPr>
      </p:sp>
      <p:sp>
        <p:nvSpPr>
          <p:cNvPr id="32" name="Rounded 241"/>
          <p:cNvSpPr/>
          <p:nvPr/>
        </p:nvSpPr>
        <p:spPr>
          <a:xfrm>
            <a:off x="3383280" y="2606040"/>
            <a:ext cx="292608" cy="292608"/>
          </a:xfrm>
          <a:prstGeom prst="roundRect">
            <a:avLst>
              <a:gd name="adj" fmla="val 12500"/>
            </a:avLst>
          </a:prstGeom>
          <a:solidFill>
            <a:schemeClr val="accent6"/>
          </a:solidFill>
          <a:ln/>
        </p:spPr>
      </p:sp>
      <p:sp>
        <p:nvSpPr>
          <p:cNvPr id="33" name="Rounded 242"/>
          <p:cNvSpPr/>
          <p:nvPr/>
        </p:nvSpPr>
        <p:spPr>
          <a:xfrm>
            <a:off x="3749040" y="2606040"/>
            <a:ext cx="292608" cy="292608"/>
          </a:xfrm>
          <a:prstGeom prst="roundRect">
            <a:avLst>
              <a:gd name="adj" fmla="val 12500"/>
            </a:avLst>
          </a:prstGeom>
          <a:solidFill>
            <a:schemeClr val="accent6"/>
          </a:solidFill>
          <a:ln/>
        </p:spPr>
      </p:sp>
      <p:sp>
        <p:nvSpPr>
          <p:cNvPr id="34" name="Rounded 243"/>
          <p:cNvSpPr/>
          <p:nvPr/>
        </p:nvSpPr>
        <p:spPr>
          <a:xfrm>
            <a:off x="4114800" y="2606040"/>
            <a:ext cx="292608" cy="292608"/>
          </a:xfrm>
          <a:prstGeom prst="roundRect">
            <a:avLst>
              <a:gd name="adj" fmla="val 12500"/>
            </a:avLst>
          </a:prstGeom>
          <a:solidFill>
            <a:schemeClr val="accent6"/>
          </a:solidFill>
          <a:ln/>
        </p:spPr>
      </p:sp>
      <p:sp>
        <p:nvSpPr>
          <p:cNvPr id="35" name="Rounded 244"/>
          <p:cNvSpPr/>
          <p:nvPr/>
        </p:nvSpPr>
        <p:spPr>
          <a:xfrm>
            <a:off x="4480560" y="2606040"/>
            <a:ext cx="292608" cy="292608"/>
          </a:xfrm>
          <a:prstGeom prst="roundRect">
            <a:avLst>
              <a:gd name="adj" fmla="val 12500"/>
            </a:avLst>
          </a:prstGeom>
          <a:solidFill>
            <a:schemeClr val="accent6"/>
          </a:solidFill>
          <a:ln/>
        </p:spPr>
      </p:sp>
      <p:sp>
        <p:nvSpPr>
          <p:cNvPr id="36" name="Rounded 245"/>
          <p:cNvSpPr/>
          <p:nvPr/>
        </p:nvSpPr>
        <p:spPr>
          <a:xfrm>
            <a:off x="1188720" y="2971800"/>
            <a:ext cx="292608" cy="292608"/>
          </a:xfrm>
          <a:prstGeom prst="roundRect">
            <a:avLst>
              <a:gd name="adj" fmla="val 12500"/>
            </a:avLst>
          </a:prstGeom>
          <a:solidFill>
            <a:schemeClr val="accent6"/>
          </a:solidFill>
          <a:ln/>
        </p:spPr>
      </p:sp>
      <p:sp>
        <p:nvSpPr>
          <p:cNvPr id="37" name="Rounded 246"/>
          <p:cNvSpPr/>
          <p:nvPr/>
        </p:nvSpPr>
        <p:spPr>
          <a:xfrm>
            <a:off x="1554480" y="2971800"/>
            <a:ext cx="292608" cy="292608"/>
          </a:xfrm>
          <a:prstGeom prst="roundRect">
            <a:avLst>
              <a:gd name="adj" fmla="val 12500"/>
            </a:avLst>
          </a:prstGeom>
          <a:solidFill>
            <a:schemeClr val="accent6"/>
          </a:solidFill>
          <a:ln/>
        </p:spPr>
      </p:sp>
      <p:sp>
        <p:nvSpPr>
          <p:cNvPr id="38" name="Rounded 247"/>
          <p:cNvSpPr/>
          <p:nvPr/>
        </p:nvSpPr>
        <p:spPr>
          <a:xfrm>
            <a:off x="1920240" y="2971800"/>
            <a:ext cx="292608" cy="292608"/>
          </a:xfrm>
          <a:prstGeom prst="roundRect">
            <a:avLst>
              <a:gd name="adj" fmla="val 12500"/>
            </a:avLst>
          </a:prstGeom>
          <a:solidFill>
            <a:schemeClr val="accent6"/>
          </a:solidFill>
          <a:ln/>
        </p:spPr>
      </p:sp>
      <p:sp>
        <p:nvSpPr>
          <p:cNvPr id="39" name="Rounded 248"/>
          <p:cNvSpPr/>
          <p:nvPr/>
        </p:nvSpPr>
        <p:spPr>
          <a:xfrm>
            <a:off x="2286000" y="2971800"/>
            <a:ext cx="292608" cy="292608"/>
          </a:xfrm>
          <a:prstGeom prst="roundRect">
            <a:avLst>
              <a:gd name="adj" fmla="val 12500"/>
            </a:avLst>
          </a:prstGeom>
          <a:solidFill>
            <a:schemeClr val="accent6"/>
          </a:solidFill>
          <a:ln/>
        </p:spPr>
      </p:sp>
      <p:sp>
        <p:nvSpPr>
          <p:cNvPr id="40" name="Rounded 249"/>
          <p:cNvSpPr/>
          <p:nvPr/>
        </p:nvSpPr>
        <p:spPr>
          <a:xfrm>
            <a:off x="2651760" y="2971800"/>
            <a:ext cx="292608" cy="292608"/>
          </a:xfrm>
          <a:prstGeom prst="roundRect">
            <a:avLst>
              <a:gd name="adj" fmla="val 12500"/>
            </a:avLst>
          </a:prstGeom>
          <a:solidFill>
            <a:schemeClr val="accent6"/>
          </a:solidFill>
          <a:ln/>
        </p:spPr>
      </p:sp>
      <p:sp>
        <p:nvSpPr>
          <p:cNvPr id="41" name="Rounded 250"/>
          <p:cNvSpPr/>
          <p:nvPr/>
        </p:nvSpPr>
        <p:spPr>
          <a:xfrm>
            <a:off x="3017520" y="2971800"/>
            <a:ext cx="292608" cy="292608"/>
          </a:xfrm>
          <a:prstGeom prst="roundRect">
            <a:avLst>
              <a:gd name="adj" fmla="val 12500"/>
            </a:avLst>
          </a:prstGeom>
          <a:solidFill>
            <a:schemeClr val="accent6"/>
          </a:solidFill>
          <a:ln/>
        </p:spPr>
      </p:sp>
      <p:sp>
        <p:nvSpPr>
          <p:cNvPr id="42" name="Rounded 251"/>
          <p:cNvSpPr/>
          <p:nvPr/>
        </p:nvSpPr>
        <p:spPr>
          <a:xfrm>
            <a:off x="3383280" y="2971800"/>
            <a:ext cx="292608" cy="292608"/>
          </a:xfrm>
          <a:prstGeom prst="roundRect">
            <a:avLst>
              <a:gd name="adj" fmla="val 12500"/>
            </a:avLst>
          </a:prstGeom>
          <a:solidFill>
            <a:schemeClr val="accent6"/>
          </a:solidFill>
          <a:ln/>
        </p:spPr>
      </p:sp>
      <p:sp>
        <p:nvSpPr>
          <p:cNvPr id="43" name="Rounded 252"/>
          <p:cNvSpPr/>
          <p:nvPr/>
        </p:nvSpPr>
        <p:spPr>
          <a:xfrm>
            <a:off x="3749040" y="2971800"/>
            <a:ext cx="292608" cy="292608"/>
          </a:xfrm>
          <a:prstGeom prst="roundRect">
            <a:avLst>
              <a:gd name="adj" fmla="val 12500"/>
            </a:avLst>
          </a:prstGeom>
          <a:solidFill>
            <a:schemeClr val="accent6"/>
          </a:solidFill>
          <a:ln/>
        </p:spPr>
      </p:sp>
      <p:sp>
        <p:nvSpPr>
          <p:cNvPr id="44" name="Rounded 253"/>
          <p:cNvSpPr/>
          <p:nvPr/>
        </p:nvSpPr>
        <p:spPr>
          <a:xfrm>
            <a:off x="4114800" y="2971800"/>
            <a:ext cx="292608" cy="292608"/>
          </a:xfrm>
          <a:prstGeom prst="roundRect">
            <a:avLst>
              <a:gd name="adj" fmla="val 12500"/>
            </a:avLst>
          </a:prstGeom>
          <a:solidFill>
            <a:schemeClr val="accent6"/>
          </a:solidFill>
          <a:ln/>
        </p:spPr>
      </p:sp>
      <p:sp>
        <p:nvSpPr>
          <p:cNvPr id="45" name="Rounded 254"/>
          <p:cNvSpPr/>
          <p:nvPr/>
        </p:nvSpPr>
        <p:spPr>
          <a:xfrm>
            <a:off x="4480560" y="2971800"/>
            <a:ext cx="292608" cy="292608"/>
          </a:xfrm>
          <a:prstGeom prst="roundRect">
            <a:avLst>
              <a:gd name="adj" fmla="val 12500"/>
            </a:avLst>
          </a:prstGeom>
          <a:solidFill>
            <a:schemeClr val="accent6"/>
          </a:solidFill>
          <a:ln/>
        </p:spPr>
      </p:sp>
      <p:sp>
        <p:nvSpPr>
          <p:cNvPr id="46" name="Rounded 255"/>
          <p:cNvSpPr/>
          <p:nvPr/>
        </p:nvSpPr>
        <p:spPr>
          <a:xfrm>
            <a:off x="1188720" y="3337560"/>
            <a:ext cx="292608" cy="292608"/>
          </a:xfrm>
          <a:prstGeom prst="roundRect">
            <a:avLst>
              <a:gd name="adj" fmla="val 12500"/>
            </a:avLst>
          </a:prstGeom>
          <a:solidFill>
            <a:schemeClr val="accent6"/>
          </a:solidFill>
          <a:ln/>
        </p:spPr>
      </p:sp>
      <p:sp>
        <p:nvSpPr>
          <p:cNvPr id="47" name="Rounded 256"/>
          <p:cNvSpPr/>
          <p:nvPr/>
        </p:nvSpPr>
        <p:spPr>
          <a:xfrm>
            <a:off x="1554480" y="3337560"/>
            <a:ext cx="292608" cy="292608"/>
          </a:xfrm>
          <a:prstGeom prst="roundRect">
            <a:avLst>
              <a:gd name="adj" fmla="val 12500"/>
            </a:avLst>
          </a:prstGeom>
          <a:solidFill>
            <a:schemeClr val="accent6"/>
          </a:solidFill>
          <a:ln/>
        </p:spPr>
      </p:sp>
      <p:sp>
        <p:nvSpPr>
          <p:cNvPr id="48" name="Rounded 257"/>
          <p:cNvSpPr/>
          <p:nvPr/>
        </p:nvSpPr>
        <p:spPr>
          <a:xfrm>
            <a:off x="1920240" y="3337560"/>
            <a:ext cx="292608" cy="292608"/>
          </a:xfrm>
          <a:prstGeom prst="roundRect">
            <a:avLst>
              <a:gd name="adj" fmla="val 12500"/>
            </a:avLst>
          </a:prstGeom>
          <a:solidFill>
            <a:schemeClr val="accent6"/>
          </a:solidFill>
          <a:ln/>
        </p:spPr>
      </p:sp>
      <p:sp>
        <p:nvSpPr>
          <p:cNvPr id="49" name="Rounded 258"/>
          <p:cNvSpPr/>
          <p:nvPr/>
        </p:nvSpPr>
        <p:spPr>
          <a:xfrm>
            <a:off x="2286000" y="3337560"/>
            <a:ext cx="292608" cy="292608"/>
          </a:xfrm>
          <a:prstGeom prst="roundRect">
            <a:avLst>
              <a:gd name="adj" fmla="val 12500"/>
            </a:avLst>
          </a:prstGeom>
          <a:solidFill>
            <a:schemeClr val="accent6"/>
          </a:solidFill>
          <a:ln/>
        </p:spPr>
      </p:sp>
      <p:sp>
        <p:nvSpPr>
          <p:cNvPr id="50" name="Rounded 259"/>
          <p:cNvSpPr/>
          <p:nvPr/>
        </p:nvSpPr>
        <p:spPr>
          <a:xfrm>
            <a:off x="2651760" y="3337560"/>
            <a:ext cx="292608" cy="292608"/>
          </a:xfrm>
          <a:prstGeom prst="roundRect">
            <a:avLst>
              <a:gd name="adj" fmla="val 12500"/>
            </a:avLst>
          </a:prstGeom>
          <a:solidFill>
            <a:schemeClr val="accent6"/>
          </a:solidFill>
          <a:ln/>
        </p:spPr>
      </p:sp>
      <p:sp>
        <p:nvSpPr>
          <p:cNvPr id="51" name="Rounded 260"/>
          <p:cNvSpPr/>
          <p:nvPr/>
        </p:nvSpPr>
        <p:spPr>
          <a:xfrm>
            <a:off x="3017520" y="3337560"/>
            <a:ext cx="292608" cy="292608"/>
          </a:xfrm>
          <a:prstGeom prst="roundRect">
            <a:avLst>
              <a:gd name="adj" fmla="val 12500"/>
            </a:avLst>
          </a:prstGeom>
          <a:solidFill>
            <a:schemeClr val="accent6"/>
          </a:solidFill>
          <a:ln/>
        </p:spPr>
      </p:sp>
      <p:sp>
        <p:nvSpPr>
          <p:cNvPr id="52" name="Rounded 261"/>
          <p:cNvSpPr/>
          <p:nvPr/>
        </p:nvSpPr>
        <p:spPr>
          <a:xfrm>
            <a:off x="3383280" y="3337560"/>
            <a:ext cx="292608" cy="292608"/>
          </a:xfrm>
          <a:prstGeom prst="roundRect">
            <a:avLst>
              <a:gd name="adj" fmla="val 12500"/>
            </a:avLst>
          </a:prstGeom>
          <a:solidFill>
            <a:schemeClr val="accent6"/>
          </a:solidFill>
          <a:ln/>
        </p:spPr>
      </p:sp>
      <p:sp>
        <p:nvSpPr>
          <p:cNvPr id="53" name="Rounded 262"/>
          <p:cNvSpPr/>
          <p:nvPr/>
        </p:nvSpPr>
        <p:spPr>
          <a:xfrm>
            <a:off x="3749040" y="3337560"/>
            <a:ext cx="292608" cy="292608"/>
          </a:xfrm>
          <a:prstGeom prst="roundRect">
            <a:avLst>
              <a:gd name="adj" fmla="val 12500"/>
            </a:avLst>
          </a:prstGeom>
          <a:solidFill>
            <a:schemeClr val="accent6"/>
          </a:solidFill>
          <a:ln/>
        </p:spPr>
      </p:sp>
      <p:sp>
        <p:nvSpPr>
          <p:cNvPr id="54" name="Rounded 263"/>
          <p:cNvSpPr/>
          <p:nvPr/>
        </p:nvSpPr>
        <p:spPr>
          <a:xfrm>
            <a:off x="4114800" y="3337560"/>
            <a:ext cx="292608" cy="292608"/>
          </a:xfrm>
          <a:prstGeom prst="roundRect">
            <a:avLst>
              <a:gd name="adj" fmla="val 12500"/>
            </a:avLst>
          </a:prstGeom>
          <a:solidFill>
            <a:schemeClr val="accent6"/>
          </a:solidFill>
          <a:ln/>
        </p:spPr>
      </p:sp>
      <p:sp>
        <p:nvSpPr>
          <p:cNvPr id="55" name="Rounded 264"/>
          <p:cNvSpPr/>
          <p:nvPr/>
        </p:nvSpPr>
        <p:spPr>
          <a:xfrm>
            <a:off x="4480560" y="3337560"/>
            <a:ext cx="292608" cy="292608"/>
          </a:xfrm>
          <a:prstGeom prst="roundRect">
            <a:avLst>
              <a:gd name="adj" fmla="val 12500"/>
            </a:avLst>
          </a:prstGeom>
          <a:solidFill>
            <a:schemeClr val="accent6"/>
          </a:solidFill>
          <a:ln/>
        </p:spPr>
      </p:sp>
      <p:sp>
        <p:nvSpPr>
          <p:cNvPr id="56" name="Rounded 265"/>
          <p:cNvSpPr/>
          <p:nvPr/>
        </p:nvSpPr>
        <p:spPr>
          <a:xfrm>
            <a:off x="1188720" y="3703320"/>
            <a:ext cx="292608" cy="292608"/>
          </a:xfrm>
          <a:prstGeom prst="roundRect">
            <a:avLst>
              <a:gd name="adj" fmla="val 12500"/>
            </a:avLst>
          </a:prstGeom>
          <a:solidFill>
            <a:schemeClr val="accent6"/>
          </a:solidFill>
          <a:ln/>
        </p:spPr>
      </p:sp>
      <p:sp>
        <p:nvSpPr>
          <p:cNvPr id="57" name="Rounded 266"/>
          <p:cNvSpPr/>
          <p:nvPr/>
        </p:nvSpPr>
        <p:spPr>
          <a:xfrm>
            <a:off x="1554480" y="3703320"/>
            <a:ext cx="292608" cy="292608"/>
          </a:xfrm>
          <a:prstGeom prst="roundRect">
            <a:avLst>
              <a:gd name="adj" fmla="val 12500"/>
            </a:avLst>
          </a:prstGeom>
          <a:solidFill>
            <a:schemeClr val="accent6"/>
          </a:solidFill>
          <a:ln/>
        </p:spPr>
      </p:sp>
      <p:sp>
        <p:nvSpPr>
          <p:cNvPr id="58" name="Rounded 267"/>
          <p:cNvSpPr/>
          <p:nvPr/>
        </p:nvSpPr>
        <p:spPr>
          <a:xfrm>
            <a:off x="1920240" y="3703320"/>
            <a:ext cx="292608" cy="292608"/>
          </a:xfrm>
          <a:prstGeom prst="roundRect">
            <a:avLst>
              <a:gd name="adj" fmla="val 12500"/>
            </a:avLst>
          </a:prstGeom>
          <a:solidFill>
            <a:schemeClr val="accent6"/>
          </a:solidFill>
          <a:ln/>
        </p:spPr>
      </p:sp>
      <p:sp>
        <p:nvSpPr>
          <p:cNvPr id="59" name="Rounded 268"/>
          <p:cNvSpPr/>
          <p:nvPr/>
        </p:nvSpPr>
        <p:spPr>
          <a:xfrm>
            <a:off x="2286000" y="3703320"/>
            <a:ext cx="292608" cy="292608"/>
          </a:xfrm>
          <a:prstGeom prst="roundRect">
            <a:avLst>
              <a:gd name="adj" fmla="val 12500"/>
            </a:avLst>
          </a:prstGeom>
          <a:solidFill>
            <a:schemeClr val="accent6"/>
          </a:solidFill>
          <a:ln/>
        </p:spPr>
      </p:sp>
      <p:sp>
        <p:nvSpPr>
          <p:cNvPr id="60" name="Rounded 269"/>
          <p:cNvSpPr/>
          <p:nvPr/>
        </p:nvSpPr>
        <p:spPr>
          <a:xfrm>
            <a:off x="2651760" y="3703320"/>
            <a:ext cx="292608" cy="292608"/>
          </a:xfrm>
          <a:prstGeom prst="roundRect">
            <a:avLst>
              <a:gd name="adj" fmla="val 12500"/>
            </a:avLst>
          </a:prstGeom>
          <a:solidFill>
            <a:schemeClr val="accent6"/>
          </a:solidFill>
          <a:ln/>
        </p:spPr>
      </p:sp>
      <p:sp>
        <p:nvSpPr>
          <p:cNvPr id="61" name="Rounded 270"/>
          <p:cNvSpPr/>
          <p:nvPr/>
        </p:nvSpPr>
        <p:spPr>
          <a:xfrm>
            <a:off x="3017520" y="3703320"/>
            <a:ext cx="292608" cy="292608"/>
          </a:xfrm>
          <a:prstGeom prst="roundRect">
            <a:avLst>
              <a:gd name="adj" fmla="val 12500"/>
            </a:avLst>
          </a:prstGeom>
          <a:solidFill>
            <a:schemeClr val="accent6"/>
          </a:solidFill>
          <a:ln/>
        </p:spPr>
      </p:sp>
      <p:sp>
        <p:nvSpPr>
          <p:cNvPr id="62" name="Rounded 271"/>
          <p:cNvSpPr/>
          <p:nvPr/>
        </p:nvSpPr>
        <p:spPr>
          <a:xfrm>
            <a:off x="3383280" y="3703320"/>
            <a:ext cx="292608" cy="292608"/>
          </a:xfrm>
          <a:prstGeom prst="roundRect">
            <a:avLst>
              <a:gd name="adj" fmla="val 12500"/>
            </a:avLst>
          </a:prstGeom>
          <a:solidFill>
            <a:schemeClr val="accent6"/>
          </a:solidFill>
          <a:ln/>
        </p:spPr>
      </p:sp>
      <p:sp>
        <p:nvSpPr>
          <p:cNvPr id="63" name="Rounded 272"/>
          <p:cNvSpPr/>
          <p:nvPr/>
        </p:nvSpPr>
        <p:spPr>
          <a:xfrm>
            <a:off x="3749040" y="3703320"/>
            <a:ext cx="292608" cy="292608"/>
          </a:xfrm>
          <a:prstGeom prst="roundRect">
            <a:avLst>
              <a:gd name="adj" fmla="val 12500"/>
            </a:avLst>
          </a:prstGeom>
          <a:solidFill>
            <a:schemeClr val="accent6"/>
          </a:solidFill>
          <a:ln/>
        </p:spPr>
      </p:sp>
      <p:sp>
        <p:nvSpPr>
          <p:cNvPr id="64" name="Rounded 273"/>
          <p:cNvSpPr/>
          <p:nvPr/>
        </p:nvSpPr>
        <p:spPr>
          <a:xfrm>
            <a:off x="4114800" y="3703320"/>
            <a:ext cx="292608" cy="292608"/>
          </a:xfrm>
          <a:prstGeom prst="roundRect">
            <a:avLst>
              <a:gd name="adj" fmla="val 12500"/>
            </a:avLst>
          </a:prstGeom>
          <a:solidFill>
            <a:schemeClr val="accent6"/>
          </a:solidFill>
          <a:ln/>
        </p:spPr>
      </p:sp>
      <p:sp>
        <p:nvSpPr>
          <p:cNvPr id="65" name="Rounded 274"/>
          <p:cNvSpPr/>
          <p:nvPr/>
        </p:nvSpPr>
        <p:spPr>
          <a:xfrm>
            <a:off x="4480560" y="3703320"/>
            <a:ext cx="292608" cy="292608"/>
          </a:xfrm>
          <a:prstGeom prst="roundRect">
            <a:avLst>
              <a:gd name="adj" fmla="val 12500"/>
            </a:avLst>
          </a:prstGeom>
          <a:solidFill>
            <a:schemeClr val="accent6"/>
          </a:solidFill>
          <a:ln/>
        </p:spPr>
      </p:sp>
      <p:sp>
        <p:nvSpPr>
          <p:cNvPr id="66" name="Rounded 275"/>
          <p:cNvSpPr/>
          <p:nvPr/>
        </p:nvSpPr>
        <p:spPr>
          <a:xfrm>
            <a:off x="1188720" y="4069080"/>
            <a:ext cx="292608" cy="292608"/>
          </a:xfrm>
          <a:prstGeom prst="roundRect">
            <a:avLst>
              <a:gd name="adj" fmla="val 12500"/>
            </a:avLst>
          </a:prstGeom>
          <a:solidFill>
            <a:schemeClr val="accent6"/>
          </a:solidFill>
          <a:ln/>
        </p:spPr>
      </p:sp>
      <p:sp>
        <p:nvSpPr>
          <p:cNvPr id="67" name="Rounded 276"/>
          <p:cNvSpPr/>
          <p:nvPr/>
        </p:nvSpPr>
        <p:spPr>
          <a:xfrm>
            <a:off x="1554480" y="4069080"/>
            <a:ext cx="292608" cy="292608"/>
          </a:xfrm>
          <a:prstGeom prst="roundRect">
            <a:avLst>
              <a:gd name="adj" fmla="val 12500"/>
            </a:avLst>
          </a:prstGeom>
          <a:solidFill>
            <a:schemeClr val="accent6"/>
          </a:solidFill>
          <a:ln/>
        </p:spPr>
      </p:sp>
      <p:sp>
        <p:nvSpPr>
          <p:cNvPr id="68" name="Rounded 277"/>
          <p:cNvSpPr/>
          <p:nvPr/>
        </p:nvSpPr>
        <p:spPr>
          <a:xfrm>
            <a:off x="1920240" y="4069080"/>
            <a:ext cx="292608" cy="292608"/>
          </a:xfrm>
          <a:prstGeom prst="roundRect">
            <a:avLst>
              <a:gd name="adj" fmla="val 12500"/>
            </a:avLst>
          </a:prstGeom>
          <a:solidFill>
            <a:schemeClr val="accent6"/>
          </a:solidFill>
          <a:ln/>
        </p:spPr>
      </p:sp>
      <p:sp>
        <p:nvSpPr>
          <p:cNvPr id="69" name="Rounded 278"/>
          <p:cNvSpPr/>
          <p:nvPr/>
        </p:nvSpPr>
        <p:spPr>
          <a:xfrm>
            <a:off x="2286000" y="4069080"/>
            <a:ext cx="292608" cy="292608"/>
          </a:xfrm>
          <a:prstGeom prst="roundRect">
            <a:avLst>
              <a:gd name="adj" fmla="val 12500"/>
            </a:avLst>
          </a:prstGeom>
          <a:solidFill>
            <a:schemeClr val="accent6"/>
          </a:solidFill>
          <a:ln/>
        </p:spPr>
      </p:sp>
      <p:sp>
        <p:nvSpPr>
          <p:cNvPr id="70" name="Rounded 279"/>
          <p:cNvSpPr/>
          <p:nvPr/>
        </p:nvSpPr>
        <p:spPr>
          <a:xfrm>
            <a:off x="2651760" y="4069080"/>
            <a:ext cx="292608" cy="292608"/>
          </a:xfrm>
          <a:prstGeom prst="roundRect">
            <a:avLst>
              <a:gd name="adj" fmla="val 12500"/>
            </a:avLst>
          </a:prstGeom>
          <a:solidFill>
            <a:schemeClr val="accent6"/>
          </a:solidFill>
          <a:ln/>
        </p:spPr>
      </p:sp>
      <p:sp>
        <p:nvSpPr>
          <p:cNvPr id="71" name="Rounded 280"/>
          <p:cNvSpPr/>
          <p:nvPr/>
        </p:nvSpPr>
        <p:spPr>
          <a:xfrm>
            <a:off x="3017520" y="4069080"/>
            <a:ext cx="292608" cy="292608"/>
          </a:xfrm>
          <a:prstGeom prst="roundRect">
            <a:avLst>
              <a:gd name="adj" fmla="val 12500"/>
            </a:avLst>
          </a:prstGeom>
          <a:solidFill>
            <a:schemeClr val="accent6"/>
          </a:solidFill>
          <a:ln/>
        </p:spPr>
      </p:sp>
      <p:sp>
        <p:nvSpPr>
          <p:cNvPr id="72" name="Rounded 281"/>
          <p:cNvSpPr/>
          <p:nvPr/>
        </p:nvSpPr>
        <p:spPr>
          <a:xfrm>
            <a:off x="3383280" y="4069080"/>
            <a:ext cx="292608" cy="292608"/>
          </a:xfrm>
          <a:prstGeom prst="roundRect">
            <a:avLst>
              <a:gd name="adj" fmla="val 12500"/>
            </a:avLst>
          </a:prstGeom>
          <a:solidFill>
            <a:schemeClr val="accent6"/>
          </a:solidFill>
          <a:ln/>
        </p:spPr>
      </p:sp>
      <p:sp>
        <p:nvSpPr>
          <p:cNvPr id="73" name="Rounded 282"/>
          <p:cNvSpPr/>
          <p:nvPr/>
        </p:nvSpPr>
        <p:spPr>
          <a:xfrm>
            <a:off x="3749040" y="4069080"/>
            <a:ext cx="292608" cy="292608"/>
          </a:xfrm>
          <a:prstGeom prst="roundRect">
            <a:avLst>
              <a:gd name="adj" fmla="val 12500"/>
            </a:avLst>
          </a:prstGeom>
          <a:solidFill>
            <a:schemeClr val="accent6"/>
          </a:solidFill>
          <a:ln/>
        </p:spPr>
      </p:sp>
      <p:sp>
        <p:nvSpPr>
          <p:cNvPr id="74" name="Rounded 283"/>
          <p:cNvSpPr/>
          <p:nvPr/>
        </p:nvSpPr>
        <p:spPr>
          <a:xfrm>
            <a:off x="4114800" y="4069080"/>
            <a:ext cx="292608" cy="292608"/>
          </a:xfrm>
          <a:prstGeom prst="roundRect">
            <a:avLst>
              <a:gd name="adj" fmla="val 12500"/>
            </a:avLst>
          </a:prstGeom>
          <a:solidFill>
            <a:schemeClr val="accent6"/>
          </a:solidFill>
          <a:ln/>
        </p:spPr>
      </p:sp>
      <p:sp>
        <p:nvSpPr>
          <p:cNvPr id="75" name="Rounded 284"/>
          <p:cNvSpPr/>
          <p:nvPr/>
        </p:nvSpPr>
        <p:spPr>
          <a:xfrm>
            <a:off x="4480560" y="4069080"/>
            <a:ext cx="292608" cy="292608"/>
          </a:xfrm>
          <a:prstGeom prst="roundRect">
            <a:avLst>
              <a:gd name="adj" fmla="val 12500"/>
            </a:avLst>
          </a:prstGeom>
          <a:solidFill>
            <a:schemeClr val="accent6"/>
          </a:solidFill>
          <a:ln/>
        </p:spPr>
      </p:sp>
      <p:sp>
        <p:nvSpPr>
          <p:cNvPr id="76" name="Rounded 285"/>
          <p:cNvSpPr/>
          <p:nvPr/>
        </p:nvSpPr>
        <p:spPr>
          <a:xfrm>
            <a:off x="1188720" y="4434840"/>
            <a:ext cx="292608" cy="292608"/>
          </a:xfrm>
          <a:prstGeom prst="roundRect">
            <a:avLst>
              <a:gd name="adj" fmla="val 12500"/>
            </a:avLst>
          </a:prstGeom>
          <a:solidFill>
            <a:schemeClr val="accent6"/>
          </a:solidFill>
          <a:ln/>
        </p:spPr>
      </p:sp>
      <p:sp>
        <p:nvSpPr>
          <p:cNvPr id="77" name="Rounded 286"/>
          <p:cNvSpPr/>
          <p:nvPr/>
        </p:nvSpPr>
        <p:spPr>
          <a:xfrm>
            <a:off x="1554480" y="4434840"/>
            <a:ext cx="292608" cy="292608"/>
          </a:xfrm>
          <a:prstGeom prst="roundRect">
            <a:avLst>
              <a:gd name="adj" fmla="val 12500"/>
            </a:avLst>
          </a:prstGeom>
          <a:solidFill>
            <a:schemeClr val="accent6"/>
          </a:solidFill>
          <a:ln/>
        </p:spPr>
      </p:sp>
      <p:sp>
        <p:nvSpPr>
          <p:cNvPr id="78" name="Rounded 287"/>
          <p:cNvSpPr/>
          <p:nvPr/>
        </p:nvSpPr>
        <p:spPr>
          <a:xfrm>
            <a:off x="1920240" y="4434840"/>
            <a:ext cx="292608" cy="292608"/>
          </a:xfrm>
          <a:prstGeom prst="roundRect">
            <a:avLst>
              <a:gd name="adj" fmla="val 12500"/>
            </a:avLst>
          </a:prstGeom>
          <a:solidFill>
            <a:schemeClr val="accent6"/>
          </a:solidFill>
          <a:ln/>
        </p:spPr>
      </p:sp>
      <p:sp>
        <p:nvSpPr>
          <p:cNvPr id="79" name="Rounded 288"/>
          <p:cNvSpPr/>
          <p:nvPr/>
        </p:nvSpPr>
        <p:spPr>
          <a:xfrm>
            <a:off x="2286000" y="4434840"/>
            <a:ext cx="292608" cy="292608"/>
          </a:xfrm>
          <a:prstGeom prst="roundRect">
            <a:avLst>
              <a:gd name="adj" fmla="val 12500"/>
            </a:avLst>
          </a:prstGeom>
          <a:solidFill>
            <a:schemeClr val="accent6"/>
          </a:solidFill>
          <a:ln/>
        </p:spPr>
      </p:sp>
      <p:sp>
        <p:nvSpPr>
          <p:cNvPr id="80" name="Rounded 289"/>
          <p:cNvSpPr/>
          <p:nvPr/>
        </p:nvSpPr>
        <p:spPr>
          <a:xfrm>
            <a:off x="2651760" y="4434840"/>
            <a:ext cx="292608" cy="292608"/>
          </a:xfrm>
          <a:prstGeom prst="roundRect">
            <a:avLst>
              <a:gd name="adj" fmla="val 12500"/>
            </a:avLst>
          </a:prstGeom>
          <a:solidFill>
            <a:schemeClr val="accent6"/>
          </a:solidFill>
          <a:ln/>
        </p:spPr>
      </p:sp>
      <p:sp>
        <p:nvSpPr>
          <p:cNvPr id="81" name="Rounded 290"/>
          <p:cNvSpPr/>
          <p:nvPr/>
        </p:nvSpPr>
        <p:spPr>
          <a:xfrm>
            <a:off x="3017520" y="4434840"/>
            <a:ext cx="292608" cy="292608"/>
          </a:xfrm>
          <a:prstGeom prst="roundRect">
            <a:avLst>
              <a:gd name="adj" fmla="val 12500"/>
            </a:avLst>
          </a:prstGeom>
          <a:solidFill>
            <a:schemeClr val="accent6"/>
          </a:solidFill>
          <a:ln/>
        </p:spPr>
      </p:sp>
      <p:sp>
        <p:nvSpPr>
          <p:cNvPr id="82" name="Rounded 291"/>
          <p:cNvSpPr/>
          <p:nvPr/>
        </p:nvSpPr>
        <p:spPr>
          <a:xfrm>
            <a:off x="3383280" y="4434840"/>
            <a:ext cx="292608" cy="292608"/>
          </a:xfrm>
          <a:prstGeom prst="roundRect">
            <a:avLst>
              <a:gd name="adj" fmla="val 12500"/>
            </a:avLst>
          </a:prstGeom>
          <a:solidFill>
            <a:schemeClr val="accent6"/>
          </a:solidFill>
          <a:ln/>
        </p:spPr>
      </p:sp>
      <p:sp>
        <p:nvSpPr>
          <p:cNvPr id="83" name="Rounded 292"/>
          <p:cNvSpPr/>
          <p:nvPr/>
        </p:nvSpPr>
        <p:spPr>
          <a:xfrm>
            <a:off x="3749040" y="4434840"/>
            <a:ext cx="292608" cy="292608"/>
          </a:xfrm>
          <a:prstGeom prst="roundRect">
            <a:avLst>
              <a:gd name="adj" fmla="val 12500"/>
            </a:avLst>
          </a:prstGeom>
          <a:solidFill>
            <a:schemeClr val="accent6"/>
          </a:solidFill>
          <a:ln/>
        </p:spPr>
      </p:sp>
      <p:sp>
        <p:nvSpPr>
          <p:cNvPr id="84" name="Rounded 293"/>
          <p:cNvSpPr/>
          <p:nvPr/>
        </p:nvSpPr>
        <p:spPr>
          <a:xfrm>
            <a:off x="4114800" y="4434840"/>
            <a:ext cx="292608" cy="292608"/>
          </a:xfrm>
          <a:prstGeom prst="roundRect">
            <a:avLst>
              <a:gd name="adj" fmla="val 12500"/>
            </a:avLst>
          </a:prstGeom>
          <a:solidFill>
            <a:schemeClr val="accent6"/>
          </a:solidFill>
          <a:ln/>
        </p:spPr>
      </p:sp>
      <p:sp>
        <p:nvSpPr>
          <p:cNvPr id="85" name="Rounded 294"/>
          <p:cNvSpPr/>
          <p:nvPr/>
        </p:nvSpPr>
        <p:spPr>
          <a:xfrm>
            <a:off x="4480560" y="4434840"/>
            <a:ext cx="292608" cy="292608"/>
          </a:xfrm>
          <a:prstGeom prst="roundRect">
            <a:avLst>
              <a:gd name="adj" fmla="val 12500"/>
            </a:avLst>
          </a:prstGeom>
          <a:solidFill>
            <a:schemeClr val="accent6"/>
          </a:solidFill>
          <a:ln/>
        </p:spPr>
      </p:sp>
      <p:sp>
        <p:nvSpPr>
          <p:cNvPr id="86" name="Rounded 295"/>
          <p:cNvSpPr/>
          <p:nvPr/>
        </p:nvSpPr>
        <p:spPr>
          <a:xfrm>
            <a:off x="1188720" y="4800600"/>
            <a:ext cx="292608" cy="292608"/>
          </a:xfrm>
          <a:prstGeom prst="roundRect">
            <a:avLst>
              <a:gd name="adj" fmla="val 12500"/>
            </a:avLst>
          </a:prstGeom>
          <a:solidFill>
            <a:schemeClr val="accent6"/>
          </a:solidFill>
          <a:ln/>
        </p:spPr>
      </p:sp>
      <p:sp>
        <p:nvSpPr>
          <p:cNvPr id="87" name="Rounded 296"/>
          <p:cNvSpPr/>
          <p:nvPr/>
        </p:nvSpPr>
        <p:spPr>
          <a:xfrm>
            <a:off x="1554480" y="4800600"/>
            <a:ext cx="58522" cy="292608"/>
          </a:xfrm>
          <a:prstGeom prst="roundRect">
            <a:avLst>
              <a:gd name="adj" fmla="val 62500"/>
            </a:avLst>
          </a:prstGeom>
          <a:solidFill>
            <a:schemeClr val="accent6"/>
          </a:solidFill>
          <a:ln/>
        </p:spPr>
      </p:sp>
      <p:sp>
        <p:nvSpPr>
          <p:cNvPr id="88" name="Rounded 297"/>
          <p:cNvSpPr/>
          <p:nvPr/>
        </p:nvSpPr>
        <p:spPr>
          <a:xfrm>
            <a:off x="1613002" y="4800600"/>
            <a:ext cx="234086" cy="292608"/>
          </a:xfrm>
          <a:prstGeom prst="roundRect">
            <a:avLst>
              <a:gd name="adj" fmla="val 15625"/>
            </a:avLst>
          </a:prstGeom>
          <a:solidFill>
            <a:schemeClr val="accent1"/>
          </a:solidFill>
          <a:ln/>
        </p:spPr>
      </p:sp>
      <p:sp>
        <p:nvSpPr>
          <p:cNvPr id="89" name="Rounded 298"/>
          <p:cNvSpPr/>
          <p:nvPr/>
        </p:nvSpPr>
        <p:spPr>
          <a:xfrm>
            <a:off x="1920240" y="4800600"/>
            <a:ext cx="292608" cy="292608"/>
          </a:xfrm>
          <a:prstGeom prst="roundRect">
            <a:avLst>
              <a:gd name="adj" fmla="val 12500"/>
            </a:avLst>
          </a:prstGeom>
          <a:solidFill>
            <a:schemeClr val="accent1"/>
          </a:solidFill>
          <a:ln/>
        </p:spPr>
      </p:sp>
      <p:sp>
        <p:nvSpPr>
          <p:cNvPr id="90" name="Rounded 299"/>
          <p:cNvSpPr/>
          <p:nvPr/>
        </p:nvSpPr>
        <p:spPr>
          <a:xfrm>
            <a:off x="2286000" y="4800600"/>
            <a:ext cx="292608" cy="292608"/>
          </a:xfrm>
          <a:prstGeom prst="roundRect">
            <a:avLst>
              <a:gd name="adj" fmla="val 12500"/>
            </a:avLst>
          </a:prstGeom>
          <a:solidFill>
            <a:schemeClr val="accent1"/>
          </a:solidFill>
          <a:ln/>
        </p:spPr>
      </p:sp>
      <p:sp>
        <p:nvSpPr>
          <p:cNvPr id="91" name="Rounded 300"/>
          <p:cNvSpPr/>
          <p:nvPr/>
        </p:nvSpPr>
        <p:spPr>
          <a:xfrm>
            <a:off x="2651760" y="4800600"/>
            <a:ext cx="292608" cy="292608"/>
          </a:xfrm>
          <a:prstGeom prst="roundRect">
            <a:avLst>
              <a:gd name="adj" fmla="val 12500"/>
            </a:avLst>
          </a:prstGeom>
          <a:solidFill>
            <a:schemeClr val="accent1"/>
          </a:solidFill>
          <a:ln/>
        </p:spPr>
      </p:sp>
      <p:sp>
        <p:nvSpPr>
          <p:cNvPr id="92" name="Rounded 301"/>
          <p:cNvSpPr/>
          <p:nvPr/>
        </p:nvSpPr>
        <p:spPr>
          <a:xfrm>
            <a:off x="3017520" y="4800600"/>
            <a:ext cx="175565" cy="292608"/>
          </a:xfrm>
          <a:prstGeom prst="roundRect">
            <a:avLst>
              <a:gd name="adj" fmla="val 20833"/>
            </a:avLst>
          </a:prstGeom>
          <a:solidFill>
            <a:schemeClr val="accent1"/>
          </a:solidFill>
          <a:ln/>
        </p:spPr>
      </p:sp>
      <p:sp>
        <p:nvSpPr>
          <p:cNvPr id="93" name="Text 302"/>
          <p:cNvSpPr txBox="1"/>
          <p:nvPr/>
        </p:nvSpPr>
        <p:spPr>
          <a:xfrm>
            <a:off x="5852160" y="1965960"/>
            <a:ext cx="5486400" cy="411480"/>
          </a:xfrm>
          <a:prstGeom prst="rect">
            <a:avLst/>
          </a:prstGeom>
          <a:noFill/>
          <a:ln/>
        </p:spPr>
        <p:txBody>
          <a:bodyPr wrap="square" lIns="0" tIns="0" rIns="0" bIns="0" rtlCol="0" anchor="ctr"/>
          <a:lstStyle/>
          <a:p>
            <a:pPr indent="0" marL="0">
              <a:buNone/>
            </a:pPr>
            <a:r>
              <a:rPr lang="en-US" sz="2600" dirty="0">
                <a:solidFill>
                  <a:schemeClr val="tx2"/>
                </a:solidFill>
              </a:rPr>
              <a:t>800 + 56</a:t>
            </a:r>
            <a:endParaRPr lang="en-US" sz="2600" dirty="0"/>
          </a:p>
        </p:txBody>
      </p:sp>
      <p:sp>
        <p:nvSpPr>
          <p:cNvPr id="94" name="Text 303"/>
          <p:cNvSpPr txBox="1"/>
          <p:nvPr/>
        </p:nvSpPr>
        <p:spPr>
          <a:xfrm>
            <a:off x="5852160" y="2331720"/>
            <a:ext cx="5486400" cy="1005840"/>
          </a:xfrm>
          <a:prstGeom prst="rect">
            <a:avLst/>
          </a:prstGeom>
          <a:noFill/>
          <a:ln/>
        </p:spPr>
        <p:txBody>
          <a:bodyPr wrap="square" lIns="0" tIns="0" rIns="0" bIns="0" rtlCol="0" anchor="ctr"/>
          <a:lstStyle/>
          <a:p>
            <a:pPr indent="0" marL="0">
              <a:buNone/>
            </a:pPr>
            <a:r>
              <a:rPr lang="en-US" sz="8000" b="1" spc="-300" kern="0" dirty="0">
                <a:solidFill>
                  <a:schemeClr val="tx1"/>
                </a:solidFill>
              </a:rPr>
              <a:t>856</a:t>
            </a:r>
            <a:endParaRPr lang="en-US" sz="8000" dirty="0"/>
          </a:p>
        </p:txBody>
      </p:sp>
      <p:sp>
        <p:nvSpPr>
          <p:cNvPr id="95" name="Line 304"/>
          <p:cNvSpPr/>
          <p:nvPr/>
        </p:nvSpPr>
        <p:spPr>
          <a:xfrm>
            <a:off x="5852160" y="3520440"/>
            <a:ext cx="5120640" cy="0"/>
          </a:xfrm>
          <a:prstGeom prst="line">
            <a:avLst/>
          </a:prstGeom>
          <a:noFill/>
          <a:ln w="9525">
            <a:solidFill>
              <a:schemeClr val="accent2"/>
            </a:solidFill>
            <a:prstDash val="solid"/>
          </a:ln>
        </p:spPr>
      </p:sp>
      <p:sp>
        <p:nvSpPr>
          <p:cNvPr id="96" name="Text 305"/>
          <p:cNvSpPr txBox="1"/>
          <p:nvPr/>
        </p:nvSpPr>
        <p:spPr>
          <a:xfrm>
            <a:off x="5852160" y="3703320"/>
            <a:ext cx="5486400" cy="914400"/>
          </a:xfrm>
          <a:prstGeom prst="rect">
            <a:avLst/>
          </a:prstGeom>
          <a:noFill/>
          <a:ln/>
        </p:spPr>
        <p:txBody>
          <a:bodyPr wrap="square" lIns="0" tIns="0" rIns="0" bIns="0" rtlCol="0" anchor="ctr"/>
          <a:lstStyle/>
          <a:p>
            <a:pPr indent="0" marL="0">
              <a:buNone/>
            </a:pPr>
            <a:r>
              <a:rPr lang="en-US" sz="6000" b="1" spc="-200" kern="0" dirty="0">
                <a:solidFill>
                  <a:schemeClr val="accent1"/>
                </a:solidFill>
              </a:rPr>
              <a:t>44</a:t>
            </a:r>
            <a:pPr indent="0" marL="0">
              <a:buNone/>
            </a:pPr>
            <a:r>
              <a:rPr lang="en-US" sz="2600" dirty="0">
                <a:solidFill>
                  <a:schemeClr val="tx1"/>
                </a:solidFill>
              </a:rPr>
              <a:t>  Starliners</a:t>
            </a:r>
            <a:endParaRPr lang="en-US" sz="6000" dirty="0"/>
          </a:p>
        </p:txBody>
      </p:sp>
      <p:sp>
        <p:nvSpPr>
          <p:cNvPr id="97" name="Text 306"/>
          <p:cNvSpPr txBox="1"/>
          <p:nvPr/>
        </p:nvSpPr>
        <p:spPr>
          <a:xfrm>
            <a:off x="5852160" y="4572000"/>
            <a:ext cx="5486400" cy="457200"/>
          </a:xfrm>
          <a:prstGeom prst="rect">
            <a:avLst/>
          </a:prstGeom>
          <a:noFill/>
          <a:ln/>
        </p:spPr>
        <p:txBody>
          <a:bodyPr wrap="square" lIns="0" tIns="0" rIns="0" bIns="0" rtlCol="0" anchor="ctr"/>
          <a:lstStyle/>
          <a:p>
            <a:pPr indent="0" marL="0">
              <a:buNone/>
            </a:pPr>
            <a:r>
              <a:rPr lang="en-US" sz="2600" dirty="0">
                <a:solidFill>
                  <a:schemeClr val="tx2"/>
                </a:solidFill>
              </a:rPr>
              <a:t>≈ 5%</a:t>
            </a: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The Same Family Stepping into Different Historical Roles</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Passengers, a President, and the military</a:t>
            </a:r>
            <a:endParaRPr lang="en-US" sz="2800" dirty="0"/>
          </a:p>
        </p:txBody>
      </p:sp>
      <p:sp>
        <p:nvSpPr>
          <p:cNvPr id="5" name="Rounded 307"/>
          <p:cNvSpPr/>
          <p:nvPr/>
        </p:nvSpPr>
        <p:spPr>
          <a:xfrm>
            <a:off x="655168" y="1554480"/>
            <a:ext cx="3383280" cy="3429000"/>
          </a:xfrm>
          <a:prstGeom prst="roundRect">
            <a:avLst>
              <a:gd name="adj" fmla="val 5946"/>
            </a:avLst>
          </a:prstGeom>
          <a:solidFill>
            <a:schemeClr val="bg2"/>
          </a:solidFill>
          <a:ln/>
        </p:spPr>
      </p:sp>
      <p:sp>
        <p:nvSpPr>
          <p:cNvPr id="6" name="Circle 308"/>
          <p:cNvSpPr/>
          <p:nvPr/>
        </p:nvSpPr>
        <p:spPr>
          <a:xfrm>
            <a:off x="1066648" y="1965960"/>
            <a:ext cx="822960" cy="822960"/>
          </a:xfrm>
          <a:prstGeom prst="ellipse">
            <a:avLst/>
          </a:prstGeom>
          <a:solidFill>
            <a:schemeClr val="accent4"/>
          </a:solidFill>
          <a:ln/>
        </p:spPr>
      </p:sp>
      <p:pic>
        <p:nvPicPr>
          <p:cNvPr id="7" name="Icon 309" descr="preencoded.png">    </p:cNvPr>
          <p:cNvPicPr>
            <a:picLocks noChangeAspect="1"/>
          </p:cNvPicPr>
          <p:nvPr/>
        </p:nvPicPr>
        <p:blipFill>
          <a:blip r:embed="rId1"/>
          <a:stretch>
            <a:fillRect/>
          </a:stretch>
        </p:blipFill>
        <p:spPr>
          <a:xfrm>
            <a:off x="1272388" y="2171700"/>
            <a:ext cx="411480" cy="411480"/>
          </a:xfrm>
          <a:prstGeom prst="rect">
            <a:avLst/>
          </a:prstGeom>
        </p:spPr>
      </p:pic>
      <p:sp>
        <p:nvSpPr>
          <p:cNvPr id="8" name="Text 310"/>
          <p:cNvSpPr txBox="1"/>
          <p:nvPr/>
        </p:nvSpPr>
        <p:spPr>
          <a:xfrm>
            <a:off x="1066648" y="3063240"/>
            <a:ext cx="256032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1944</a:t>
            </a:r>
            <a:endParaRPr lang="en-US" sz="1500" dirty="0"/>
          </a:p>
        </p:txBody>
      </p:sp>
      <p:sp>
        <p:nvSpPr>
          <p:cNvPr id="9" name="Text 311"/>
          <p:cNvSpPr txBox="1"/>
          <p:nvPr/>
        </p:nvSpPr>
        <p:spPr>
          <a:xfrm>
            <a:off x="1066648" y="3337560"/>
            <a:ext cx="2560320" cy="548640"/>
          </a:xfrm>
          <a:prstGeom prst="rect">
            <a:avLst/>
          </a:prstGeom>
          <a:noFill/>
          <a:ln/>
        </p:spPr>
        <p:txBody>
          <a:bodyPr wrap="square" lIns="0" tIns="0" rIns="0" bIns="0" rtlCol="0" anchor="t"/>
          <a:lstStyle/>
          <a:p>
            <a:pPr indent="0" marL="0">
              <a:buNone/>
            </a:pPr>
            <a:r>
              <a:rPr lang="en-US" sz="2800" b="1" spc="-50" kern="0" dirty="0">
                <a:solidFill>
                  <a:schemeClr val="tx1"/>
                </a:solidFill>
              </a:rPr>
              <a:t>Orville Wright</a:t>
            </a:r>
            <a:endParaRPr lang="en-US" sz="2800" dirty="0"/>
          </a:p>
        </p:txBody>
      </p:sp>
      <p:sp>
        <p:nvSpPr>
          <p:cNvPr id="10" name="Text 312"/>
          <p:cNvSpPr txBox="1"/>
          <p:nvPr/>
        </p:nvSpPr>
        <p:spPr>
          <a:xfrm>
            <a:off x="1066648" y="3977640"/>
            <a:ext cx="2560320" cy="731520"/>
          </a:xfrm>
          <a:prstGeom prst="rect">
            <a:avLst/>
          </a:prstGeom>
          <a:noFill/>
          <a:ln/>
        </p:spPr>
        <p:txBody>
          <a:bodyPr wrap="square" lIns="0" tIns="0" rIns="0" bIns="0" rtlCol="0" anchor="t"/>
          <a:lstStyle/>
          <a:p>
            <a:pPr indent="0" marL="0">
              <a:lnSpc>
                <a:spcPct val="110000"/>
              </a:lnSpc>
              <a:buNone/>
            </a:pPr>
            <a:r>
              <a:rPr lang="en-US" sz="2000" dirty="0">
                <a:solidFill>
                  <a:schemeClr val="tx2"/>
                </a:solidFill>
              </a:rPr>
              <a:t>His last flight</a:t>
            </a:r>
            <a:endParaRPr lang="en-US" sz="2000" dirty="0"/>
          </a:p>
        </p:txBody>
      </p:sp>
      <p:sp>
        <p:nvSpPr>
          <p:cNvPr id="11" name="Rounded 313"/>
          <p:cNvSpPr/>
          <p:nvPr/>
        </p:nvSpPr>
        <p:spPr>
          <a:xfrm>
            <a:off x="4404208" y="1554480"/>
            <a:ext cx="3383280" cy="3429000"/>
          </a:xfrm>
          <a:prstGeom prst="roundRect">
            <a:avLst>
              <a:gd name="adj" fmla="val 5946"/>
            </a:avLst>
          </a:prstGeom>
          <a:solidFill>
            <a:schemeClr val="bg2"/>
          </a:solidFill>
          <a:ln/>
        </p:spPr>
      </p:sp>
      <p:sp>
        <p:nvSpPr>
          <p:cNvPr id="12" name="Circle 314"/>
          <p:cNvSpPr/>
          <p:nvPr/>
        </p:nvSpPr>
        <p:spPr>
          <a:xfrm>
            <a:off x="4815688" y="1965960"/>
            <a:ext cx="822960" cy="822960"/>
          </a:xfrm>
          <a:prstGeom prst="ellipse">
            <a:avLst/>
          </a:prstGeom>
          <a:solidFill>
            <a:schemeClr val="accent4"/>
          </a:solidFill>
          <a:ln/>
        </p:spPr>
      </p:sp>
      <p:pic>
        <p:nvPicPr>
          <p:cNvPr id="13" name="Icon 315" descr="preencoded.png">    </p:cNvPr>
          <p:cNvPicPr>
            <a:picLocks noChangeAspect="1"/>
          </p:cNvPicPr>
          <p:nvPr/>
        </p:nvPicPr>
        <p:blipFill>
          <a:blip r:embed="rId2"/>
          <a:stretch>
            <a:fillRect/>
          </a:stretch>
        </p:blipFill>
        <p:spPr>
          <a:xfrm>
            <a:off x="5021428" y="2171700"/>
            <a:ext cx="411480" cy="411480"/>
          </a:xfrm>
          <a:prstGeom prst="rect">
            <a:avLst/>
          </a:prstGeom>
        </p:spPr>
      </p:pic>
      <p:sp>
        <p:nvSpPr>
          <p:cNvPr id="14" name="Text 316"/>
          <p:cNvSpPr txBox="1"/>
          <p:nvPr/>
        </p:nvSpPr>
        <p:spPr>
          <a:xfrm>
            <a:off x="4815688" y="3063240"/>
            <a:ext cx="256032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1953</a:t>
            </a:r>
            <a:endParaRPr lang="en-US" sz="1500" dirty="0"/>
          </a:p>
        </p:txBody>
      </p:sp>
      <p:sp>
        <p:nvSpPr>
          <p:cNvPr id="15" name="Text 317"/>
          <p:cNvSpPr txBox="1"/>
          <p:nvPr/>
        </p:nvSpPr>
        <p:spPr>
          <a:xfrm>
            <a:off x="4815688" y="3337560"/>
            <a:ext cx="2560320" cy="548640"/>
          </a:xfrm>
          <a:prstGeom prst="rect">
            <a:avLst/>
          </a:prstGeom>
          <a:noFill/>
          <a:ln/>
        </p:spPr>
        <p:txBody>
          <a:bodyPr wrap="square" lIns="0" tIns="0" rIns="0" bIns="0" rtlCol="0" anchor="t"/>
          <a:lstStyle/>
          <a:p>
            <a:pPr indent="0" marL="0">
              <a:buNone/>
            </a:pPr>
            <a:r>
              <a:rPr lang="en-US" sz="2800" b="1" spc="-50" kern="0" dirty="0">
                <a:solidFill>
                  <a:schemeClr val="tx1"/>
                </a:solidFill>
              </a:rPr>
              <a:t>Columbine II</a:t>
            </a:r>
            <a:endParaRPr lang="en-US" sz="2800" dirty="0"/>
          </a:p>
        </p:txBody>
      </p:sp>
      <p:sp>
        <p:nvSpPr>
          <p:cNvPr id="16" name="Text 318"/>
          <p:cNvSpPr txBox="1"/>
          <p:nvPr/>
        </p:nvSpPr>
        <p:spPr>
          <a:xfrm>
            <a:off x="4815688" y="3977640"/>
            <a:ext cx="2560320" cy="731520"/>
          </a:xfrm>
          <a:prstGeom prst="rect">
            <a:avLst/>
          </a:prstGeom>
          <a:noFill/>
          <a:ln/>
        </p:spPr>
        <p:txBody>
          <a:bodyPr wrap="square" lIns="0" tIns="0" rIns="0" bIns="0" rtlCol="0" anchor="t"/>
          <a:lstStyle/>
          <a:p>
            <a:pPr indent="0" marL="0">
              <a:lnSpc>
                <a:spcPct val="110000"/>
              </a:lnSpc>
              <a:buNone/>
            </a:pPr>
            <a:r>
              <a:rPr lang="en-US" sz="2000" dirty="0">
                <a:solidFill>
                  <a:schemeClr val="tx2"/>
                </a:solidFill>
              </a:rPr>
              <a:t>First “Air Force One”</a:t>
            </a:r>
            <a:endParaRPr lang="en-US" sz="2000" dirty="0"/>
          </a:p>
        </p:txBody>
      </p:sp>
      <p:sp>
        <p:nvSpPr>
          <p:cNvPr id="17" name="Rounded 319"/>
          <p:cNvSpPr/>
          <p:nvPr/>
        </p:nvSpPr>
        <p:spPr>
          <a:xfrm>
            <a:off x="8153248" y="1554480"/>
            <a:ext cx="3383280" cy="3429000"/>
          </a:xfrm>
          <a:prstGeom prst="roundRect">
            <a:avLst>
              <a:gd name="adj" fmla="val 5946"/>
            </a:avLst>
          </a:prstGeom>
          <a:solidFill>
            <a:schemeClr val="bg2"/>
          </a:solidFill>
          <a:ln/>
        </p:spPr>
      </p:sp>
      <p:sp>
        <p:nvSpPr>
          <p:cNvPr id="18" name="Circle 320"/>
          <p:cNvSpPr/>
          <p:nvPr/>
        </p:nvSpPr>
        <p:spPr>
          <a:xfrm>
            <a:off x="8564728" y="1965960"/>
            <a:ext cx="822960" cy="822960"/>
          </a:xfrm>
          <a:prstGeom prst="ellipse">
            <a:avLst/>
          </a:prstGeom>
          <a:solidFill>
            <a:schemeClr val="accent4"/>
          </a:solidFill>
          <a:ln/>
        </p:spPr>
      </p:sp>
      <p:pic>
        <p:nvPicPr>
          <p:cNvPr id="19" name="Icon 321" descr="preencoded.png">    </p:cNvPr>
          <p:cNvPicPr>
            <a:picLocks noChangeAspect="1"/>
          </p:cNvPicPr>
          <p:nvPr/>
        </p:nvPicPr>
        <p:blipFill>
          <a:blip r:embed="rId3"/>
          <a:stretch>
            <a:fillRect/>
          </a:stretch>
        </p:blipFill>
        <p:spPr>
          <a:xfrm>
            <a:off x="8770468" y="2171700"/>
            <a:ext cx="411480" cy="411480"/>
          </a:xfrm>
          <a:prstGeom prst="rect">
            <a:avLst/>
          </a:prstGeom>
        </p:spPr>
      </p:pic>
      <p:sp>
        <p:nvSpPr>
          <p:cNvPr id="20" name="Text 322"/>
          <p:cNvSpPr txBox="1"/>
          <p:nvPr/>
        </p:nvSpPr>
        <p:spPr>
          <a:xfrm>
            <a:off x="8564728" y="3063240"/>
            <a:ext cx="2560320" cy="274320"/>
          </a:xfrm>
          <a:prstGeom prst="rect">
            <a:avLst/>
          </a:prstGeom>
          <a:noFill/>
          <a:ln/>
        </p:spPr>
        <p:txBody>
          <a:bodyPr wrap="square" lIns="0" tIns="0" rIns="0" bIns="0" rtlCol="0" anchor="ctr"/>
          <a:lstStyle/>
          <a:p>
            <a:pPr algn="l" indent="0" marL="0">
              <a:buNone/>
            </a:pPr>
            <a:r>
              <a:rPr lang="en-US" sz="1500" b="1" spc="300" kern="0" dirty="0">
                <a:solidFill>
                  <a:schemeClr val="accent1"/>
                </a:solidFill>
              </a:rPr>
              <a:t>COLD WAR</a:t>
            </a:r>
            <a:endParaRPr lang="en-US" sz="1500" dirty="0"/>
          </a:p>
        </p:txBody>
      </p:sp>
      <p:sp>
        <p:nvSpPr>
          <p:cNvPr id="21" name="Text 323"/>
          <p:cNvSpPr txBox="1"/>
          <p:nvPr/>
        </p:nvSpPr>
        <p:spPr>
          <a:xfrm>
            <a:off x="8564728" y="3337560"/>
            <a:ext cx="2560320" cy="548640"/>
          </a:xfrm>
          <a:prstGeom prst="rect">
            <a:avLst/>
          </a:prstGeom>
          <a:noFill/>
          <a:ln/>
        </p:spPr>
        <p:txBody>
          <a:bodyPr wrap="square" lIns="0" tIns="0" rIns="0" bIns="0" rtlCol="0" anchor="t"/>
          <a:lstStyle/>
          <a:p>
            <a:pPr indent="0" marL="0">
              <a:buNone/>
            </a:pPr>
            <a:r>
              <a:rPr lang="en-US" sz="2800" b="1" spc="-50" kern="0" dirty="0">
                <a:solidFill>
                  <a:schemeClr val="tx1"/>
                </a:solidFill>
              </a:rPr>
              <a:t>EC-121</a:t>
            </a:r>
            <a:endParaRPr lang="en-US" sz="2800" dirty="0"/>
          </a:p>
        </p:txBody>
      </p:sp>
      <p:sp>
        <p:nvSpPr>
          <p:cNvPr id="22" name="Text 324"/>
          <p:cNvSpPr txBox="1"/>
          <p:nvPr/>
        </p:nvSpPr>
        <p:spPr>
          <a:xfrm>
            <a:off x="8564728" y="3977640"/>
            <a:ext cx="2560320" cy="731520"/>
          </a:xfrm>
          <a:prstGeom prst="rect">
            <a:avLst/>
          </a:prstGeom>
          <a:noFill/>
          <a:ln/>
        </p:spPr>
        <p:txBody>
          <a:bodyPr wrap="square" lIns="0" tIns="0" rIns="0" bIns="0" rtlCol="0" anchor="t"/>
          <a:lstStyle/>
          <a:p>
            <a:pPr indent="0" marL="0">
              <a:lnSpc>
                <a:spcPct val="110000"/>
              </a:lnSpc>
              <a:buNone/>
            </a:pPr>
            <a:r>
              <a:rPr lang="en-US" sz="2000" dirty="0">
                <a:solidFill>
                  <a:schemeClr val="tx2"/>
                </a:solidFill>
              </a:rPr>
              <a:t>Airborne early warning</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The Next Era Came Very Quickly</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Cruise speed, same scale</a:t>
            </a:r>
            <a:endParaRPr lang="en-US" sz="24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Nearly twice as fast</a:t>
            </a:r>
            <a:endParaRPr lang="en-US" sz="2800" dirty="0"/>
          </a:p>
        </p:txBody>
      </p:sp>
      <p:sp>
        <p:nvSpPr>
          <p:cNvPr id="6" name="Text 325"/>
          <p:cNvSpPr txBox="1"/>
          <p:nvPr/>
        </p:nvSpPr>
        <p:spPr>
          <a:xfrm>
            <a:off x="822960" y="2057400"/>
            <a:ext cx="2194560" cy="274320"/>
          </a:xfrm>
          <a:prstGeom prst="rect">
            <a:avLst/>
          </a:prstGeom>
          <a:noFill/>
          <a:ln/>
        </p:spPr>
        <p:txBody>
          <a:bodyPr wrap="square" lIns="0" tIns="0" rIns="0" bIns="0" rtlCol="0" anchor="ctr"/>
          <a:lstStyle/>
          <a:p>
            <a:pPr algn="r" indent="0" marL="0">
              <a:buNone/>
            </a:pPr>
            <a:r>
              <a:rPr lang="en-US" sz="1500" b="1" spc="300" kern="0" dirty="0">
                <a:solidFill>
                  <a:schemeClr val="tx2"/>
                </a:solidFill>
              </a:rPr>
              <a:t>1957</a:t>
            </a:r>
            <a:endParaRPr lang="en-US" sz="1500" dirty="0"/>
          </a:p>
        </p:txBody>
      </p:sp>
      <p:sp>
        <p:nvSpPr>
          <p:cNvPr id="7" name="Text 326"/>
          <p:cNvSpPr txBox="1"/>
          <p:nvPr/>
        </p:nvSpPr>
        <p:spPr>
          <a:xfrm>
            <a:off x="822960" y="2350008"/>
            <a:ext cx="2194560" cy="457200"/>
          </a:xfrm>
          <a:prstGeom prst="rect">
            <a:avLst/>
          </a:prstGeom>
          <a:noFill/>
          <a:ln/>
        </p:spPr>
        <p:txBody>
          <a:bodyPr wrap="square" lIns="0" tIns="0" rIns="0" bIns="0" rtlCol="0" anchor="ctr"/>
          <a:lstStyle/>
          <a:p>
            <a:pPr algn="r" indent="0" marL="0">
              <a:buNone/>
            </a:pPr>
            <a:r>
              <a:rPr lang="en-US" sz="2600" b="1" dirty="0">
                <a:solidFill>
                  <a:schemeClr val="tx1"/>
                </a:solidFill>
              </a:rPr>
              <a:t>Super Star</a:t>
            </a:r>
            <a:endParaRPr lang="en-US" sz="2600" dirty="0"/>
          </a:p>
        </p:txBody>
      </p:sp>
      <p:sp>
        <p:nvSpPr>
          <p:cNvPr id="8" name="Shape 327"/>
          <p:cNvSpPr/>
          <p:nvPr/>
        </p:nvSpPr>
        <p:spPr>
          <a:xfrm>
            <a:off x="3291840" y="2542032"/>
            <a:ext cx="3218688" cy="36576"/>
          </a:xfrm>
          <a:prstGeom prst="rect">
            <a:avLst/>
          </a:prstGeom>
          <a:solidFill>
            <a:schemeClr val="accent2"/>
          </a:solidFill>
          <a:ln/>
        </p:spPr>
      </p:sp>
      <p:sp>
        <p:nvSpPr>
          <p:cNvPr id="9" name="Rounded 328"/>
          <p:cNvSpPr/>
          <p:nvPr/>
        </p:nvSpPr>
        <p:spPr>
          <a:xfrm>
            <a:off x="6510528" y="2331720"/>
            <a:ext cx="134112" cy="457200"/>
          </a:xfrm>
          <a:prstGeom prst="roundRect">
            <a:avLst>
              <a:gd name="adj" fmla="val 34091"/>
            </a:avLst>
          </a:prstGeom>
          <a:solidFill>
            <a:schemeClr val="accent1"/>
          </a:solidFill>
          <a:ln/>
        </p:spPr>
      </p:sp>
      <p:sp>
        <p:nvSpPr>
          <p:cNvPr id="10" name="Text 329"/>
          <p:cNvSpPr txBox="1"/>
          <p:nvPr/>
        </p:nvSpPr>
        <p:spPr>
          <a:xfrm>
            <a:off x="6873240" y="2258568"/>
            <a:ext cx="2377440" cy="603504"/>
          </a:xfrm>
          <a:prstGeom prst="rect">
            <a:avLst/>
          </a:prstGeom>
          <a:noFill/>
          <a:ln/>
        </p:spPr>
        <p:txBody>
          <a:bodyPr wrap="square" lIns="0" tIns="0" rIns="0" bIns="0" rtlCol="0" anchor="ctr"/>
          <a:lstStyle/>
          <a:p>
            <a:pPr indent="0" marL="0">
              <a:buNone/>
            </a:pPr>
            <a:r>
              <a:rPr lang="en-US" sz="2400" b="1" dirty="0">
                <a:solidFill>
                  <a:schemeClr val="tx1"/>
                </a:solidFill>
              </a:rPr>
              <a:t>480–500 km/h</a:t>
            </a:r>
            <a:endParaRPr lang="en-US" sz="2400" dirty="0"/>
          </a:p>
        </p:txBody>
      </p:sp>
      <p:sp>
        <p:nvSpPr>
          <p:cNvPr id="11" name="Text 330"/>
          <p:cNvSpPr txBox="1"/>
          <p:nvPr/>
        </p:nvSpPr>
        <p:spPr>
          <a:xfrm>
            <a:off x="822960" y="3474720"/>
            <a:ext cx="2194560" cy="274320"/>
          </a:xfrm>
          <a:prstGeom prst="rect">
            <a:avLst/>
          </a:prstGeom>
          <a:noFill/>
          <a:ln/>
        </p:spPr>
        <p:txBody>
          <a:bodyPr wrap="square" lIns="0" tIns="0" rIns="0" bIns="0" rtlCol="0" anchor="ctr"/>
          <a:lstStyle/>
          <a:p>
            <a:pPr algn="r" indent="0" marL="0">
              <a:buNone/>
            </a:pPr>
            <a:r>
              <a:rPr lang="en-US" sz="1500" b="1" spc="300" kern="0" dirty="0">
                <a:solidFill>
                  <a:schemeClr val="tx2"/>
                </a:solidFill>
              </a:rPr>
              <a:t>1960</a:t>
            </a:r>
            <a:endParaRPr lang="en-US" sz="1500" dirty="0"/>
          </a:p>
        </p:txBody>
      </p:sp>
      <p:sp>
        <p:nvSpPr>
          <p:cNvPr id="12" name="Text 331"/>
          <p:cNvSpPr txBox="1"/>
          <p:nvPr/>
        </p:nvSpPr>
        <p:spPr>
          <a:xfrm>
            <a:off x="822960" y="3767328"/>
            <a:ext cx="2194560" cy="457200"/>
          </a:xfrm>
          <a:prstGeom prst="rect">
            <a:avLst/>
          </a:prstGeom>
          <a:noFill/>
          <a:ln/>
        </p:spPr>
        <p:txBody>
          <a:bodyPr wrap="square" lIns="0" tIns="0" rIns="0" bIns="0" rtlCol="0" anchor="ctr"/>
          <a:lstStyle/>
          <a:p>
            <a:pPr algn="r" indent="0" marL="0">
              <a:buNone/>
            </a:pPr>
            <a:r>
              <a:rPr lang="en-US" sz="2600" b="1" dirty="0">
                <a:solidFill>
                  <a:schemeClr val="tx1"/>
                </a:solidFill>
              </a:rPr>
              <a:t>Boeing 707</a:t>
            </a:r>
            <a:endParaRPr lang="en-US" sz="2600" dirty="0"/>
          </a:p>
        </p:txBody>
      </p:sp>
      <p:sp>
        <p:nvSpPr>
          <p:cNvPr id="13" name="Shape 332"/>
          <p:cNvSpPr/>
          <p:nvPr/>
        </p:nvSpPr>
        <p:spPr>
          <a:xfrm>
            <a:off x="3291840" y="3959352"/>
            <a:ext cx="5900928" cy="36576"/>
          </a:xfrm>
          <a:prstGeom prst="rect">
            <a:avLst/>
          </a:prstGeom>
          <a:solidFill>
            <a:schemeClr val="accent2"/>
          </a:solidFill>
          <a:ln/>
        </p:spPr>
      </p:sp>
      <p:sp>
        <p:nvSpPr>
          <p:cNvPr id="14" name="Rounded 333"/>
          <p:cNvSpPr/>
          <p:nvPr/>
        </p:nvSpPr>
        <p:spPr>
          <a:xfrm>
            <a:off x="9192768" y="3749040"/>
            <a:ext cx="134112" cy="457200"/>
          </a:xfrm>
          <a:prstGeom prst="roundRect">
            <a:avLst>
              <a:gd name="adj" fmla="val 34091"/>
            </a:avLst>
          </a:prstGeom>
          <a:solidFill>
            <a:schemeClr val="accent5"/>
          </a:solidFill>
          <a:ln/>
        </p:spPr>
      </p:sp>
      <p:sp>
        <p:nvSpPr>
          <p:cNvPr id="15" name="Text 334"/>
          <p:cNvSpPr txBox="1"/>
          <p:nvPr/>
        </p:nvSpPr>
        <p:spPr>
          <a:xfrm>
            <a:off x="9555480" y="3675888"/>
            <a:ext cx="2377440" cy="603504"/>
          </a:xfrm>
          <a:prstGeom prst="rect">
            <a:avLst/>
          </a:prstGeom>
          <a:noFill/>
          <a:ln/>
        </p:spPr>
        <p:txBody>
          <a:bodyPr wrap="square" lIns="0" tIns="0" rIns="0" bIns="0" rtlCol="0" anchor="ctr"/>
          <a:lstStyle/>
          <a:p>
            <a:pPr indent="0" marL="0">
              <a:buNone/>
            </a:pPr>
            <a:r>
              <a:rPr lang="en-US" sz="2400" b="1" dirty="0">
                <a:solidFill>
                  <a:schemeClr val="tx1"/>
                </a:solidFill>
              </a:rPr>
              <a:t>880–900 km/h</a:t>
            </a:r>
            <a:endParaRPr lang="en-US" sz="2400" dirty="0"/>
          </a:p>
        </p:txBody>
      </p:sp>
      <p:sp>
        <p:nvSpPr>
          <p:cNvPr id="16" name="Line 335"/>
          <p:cNvSpPr/>
          <p:nvPr/>
        </p:nvSpPr>
        <p:spPr>
          <a:xfrm>
            <a:off x="3291840" y="4892040"/>
            <a:ext cx="6035040" cy="0"/>
          </a:xfrm>
          <a:prstGeom prst="line">
            <a:avLst/>
          </a:prstGeom>
          <a:noFill/>
          <a:ln w="9525">
            <a:solidFill>
              <a:schemeClr val="accent2"/>
            </a:solidFill>
            <a:prstDash val="solid"/>
          </a:ln>
        </p:spPr>
      </p:sp>
      <p:sp>
        <p:nvSpPr>
          <p:cNvPr id="17" name="Line 336"/>
          <p:cNvSpPr/>
          <p:nvPr/>
        </p:nvSpPr>
        <p:spPr>
          <a:xfrm>
            <a:off x="3291840" y="4837176"/>
            <a:ext cx="0" cy="109728"/>
          </a:xfrm>
          <a:prstGeom prst="line">
            <a:avLst/>
          </a:prstGeom>
          <a:noFill/>
          <a:ln w="9525">
            <a:solidFill>
              <a:schemeClr val="accent2"/>
            </a:solidFill>
            <a:prstDash val="solid"/>
          </a:ln>
        </p:spPr>
      </p:sp>
      <p:sp>
        <p:nvSpPr>
          <p:cNvPr id="18" name="Text 337"/>
          <p:cNvSpPr txBox="1"/>
          <p:nvPr/>
        </p:nvSpPr>
        <p:spPr>
          <a:xfrm>
            <a:off x="283464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0</a:t>
            </a:r>
            <a:endParaRPr lang="en-US" sz="1800" dirty="0"/>
          </a:p>
        </p:txBody>
      </p:sp>
      <p:sp>
        <p:nvSpPr>
          <p:cNvPr id="19" name="Line 338"/>
          <p:cNvSpPr/>
          <p:nvPr/>
        </p:nvSpPr>
        <p:spPr>
          <a:xfrm>
            <a:off x="5303520" y="4837176"/>
            <a:ext cx="0" cy="109728"/>
          </a:xfrm>
          <a:prstGeom prst="line">
            <a:avLst/>
          </a:prstGeom>
          <a:noFill/>
          <a:ln w="9525">
            <a:solidFill>
              <a:schemeClr val="accent2"/>
            </a:solidFill>
            <a:prstDash val="solid"/>
          </a:ln>
        </p:spPr>
      </p:sp>
      <p:sp>
        <p:nvSpPr>
          <p:cNvPr id="20" name="Text 339"/>
          <p:cNvSpPr txBox="1"/>
          <p:nvPr/>
        </p:nvSpPr>
        <p:spPr>
          <a:xfrm>
            <a:off x="484632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300</a:t>
            </a:r>
            <a:endParaRPr lang="en-US" sz="1800" dirty="0"/>
          </a:p>
        </p:txBody>
      </p:sp>
      <p:sp>
        <p:nvSpPr>
          <p:cNvPr id="21" name="Line 340"/>
          <p:cNvSpPr/>
          <p:nvPr/>
        </p:nvSpPr>
        <p:spPr>
          <a:xfrm>
            <a:off x="7315200" y="4837176"/>
            <a:ext cx="0" cy="109728"/>
          </a:xfrm>
          <a:prstGeom prst="line">
            <a:avLst/>
          </a:prstGeom>
          <a:noFill/>
          <a:ln w="9525">
            <a:solidFill>
              <a:schemeClr val="accent2"/>
            </a:solidFill>
            <a:prstDash val="solid"/>
          </a:ln>
        </p:spPr>
      </p:sp>
      <p:sp>
        <p:nvSpPr>
          <p:cNvPr id="22" name="Text 341"/>
          <p:cNvSpPr txBox="1"/>
          <p:nvPr/>
        </p:nvSpPr>
        <p:spPr>
          <a:xfrm>
            <a:off x="685800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600</a:t>
            </a:r>
            <a:endParaRPr lang="en-US" sz="1800" dirty="0"/>
          </a:p>
        </p:txBody>
      </p:sp>
      <p:sp>
        <p:nvSpPr>
          <p:cNvPr id="23" name="Line 342"/>
          <p:cNvSpPr/>
          <p:nvPr/>
        </p:nvSpPr>
        <p:spPr>
          <a:xfrm>
            <a:off x="9326880" y="4837176"/>
            <a:ext cx="0" cy="109728"/>
          </a:xfrm>
          <a:prstGeom prst="line">
            <a:avLst/>
          </a:prstGeom>
          <a:noFill/>
          <a:ln w="9525">
            <a:solidFill>
              <a:schemeClr val="accent2"/>
            </a:solidFill>
            <a:prstDash val="solid"/>
          </a:ln>
        </p:spPr>
      </p:sp>
      <p:sp>
        <p:nvSpPr>
          <p:cNvPr id="24" name="Text 343"/>
          <p:cNvSpPr txBox="1"/>
          <p:nvPr/>
        </p:nvSpPr>
        <p:spPr>
          <a:xfrm>
            <a:off x="8869680" y="4983480"/>
            <a:ext cx="914400" cy="274320"/>
          </a:xfrm>
          <a:prstGeom prst="rect">
            <a:avLst/>
          </a:prstGeom>
          <a:noFill/>
          <a:ln/>
        </p:spPr>
        <p:txBody>
          <a:bodyPr wrap="square" lIns="0" tIns="0" rIns="0" bIns="0" rtlCol="0" anchor="ctr"/>
          <a:lstStyle/>
          <a:p>
            <a:pPr algn="ctr" indent="0" marL="0">
              <a:buNone/>
            </a:pPr>
            <a:r>
              <a:rPr lang="en-US" sz="1800" dirty="0">
                <a:solidFill>
                  <a:schemeClr val="tx2"/>
                </a:solidFill>
              </a:rPr>
              <a:t>900</a:t>
            </a:r>
            <a:endParaRPr lang="en-US" sz="1800" dirty="0"/>
          </a:p>
        </p:txBody>
      </p:sp>
      <p:sp>
        <p:nvSpPr>
          <p:cNvPr id="25" name="Text 344"/>
          <p:cNvSpPr txBox="1"/>
          <p:nvPr/>
        </p:nvSpPr>
        <p:spPr>
          <a:xfrm>
            <a:off x="9646920" y="4983480"/>
            <a:ext cx="914400" cy="274320"/>
          </a:xfrm>
          <a:prstGeom prst="rect">
            <a:avLst/>
          </a:prstGeom>
          <a:noFill/>
          <a:ln/>
        </p:spPr>
        <p:txBody>
          <a:bodyPr wrap="square" lIns="0" tIns="0" rIns="0" bIns="0" rtlCol="0" anchor="ctr"/>
          <a:lstStyle/>
          <a:p>
            <a:pPr indent="0" marL="0">
              <a:buNone/>
            </a:pPr>
            <a:r>
              <a:rPr lang="en-US" sz="1800" dirty="0">
                <a:solidFill>
                  <a:schemeClr val="tx2"/>
                </a:solidFill>
              </a:rPr>
              <a:t>km/h</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€150m: The True Cost of Preserving a Legend</a:t>
            </a:r>
            <a:endParaRPr lang="en-US" sz="3200" dirty="0"/>
          </a:p>
        </p:txBody>
      </p:sp>
      <p:sp>
        <p:nvSpPr>
          <p:cNvPr id="3" name="Text 0"/>
          <p:cNvSpPr/>
          <p:nvPr>
            <p:ph idx="101"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800" dirty="0">
                <a:solidFill>
                  <a:schemeClr val="tx1"/>
                </a:solidFill>
              </a:rPr>
              <a:t>From returning to the skies, to a static display</a:t>
            </a:r>
            <a:endParaRPr lang="en-US" sz="2800" dirty="0"/>
          </a:p>
        </p:txBody>
      </p:sp>
      <p:sp>
        <p:nvSpPr>
          <p:cNvPr id="5" name="Text 345"/>
          <p:cNvSpPr txBox="1"/>
          <p:nvPr/>
        </p:nvSpPr>
        <p:spPr>
          <a:xfrm>
            <a:off x="914400" y="1463040"/>
            <a:ext cx="10362895" cy="1005840"/>
          </a:xfrm>
          <a:prstGeom prst="rect">
            <a:avLst/>
          </a:prstGeom>
          <a:noFill/>
          <a:ln/>
        </p:spPr>
        <p:txBody>
          <a:bodyPr wrap="square" lIns="0" tIns="0" rIns="0" bIns="0" rtlCol="0" anchor="ctr"/>
          <a:lstStyle/>
          <a:p>
            <a:pPr algn="ctr" indent="0" marL="0">
              <a:buNone/>
            </a:pPr>
            <a:r>
              <a:rPr lang="en-US" sz="6600" b="1" spc="-250" kern="0" dirty="0">
                <a:solidFill>
                  <a:schemeClr val="tx1"/>
                </a:solidFill>
              </a:rPr>
              <a:t>€150 million</a:t>
            </a:r>
            <a:endParaRPr lang="en-US" sz="6600" dirty="0"/>
          </a:p>
        </p:txBody>
      </p:sp>
      <p:sp>
        <p:nvSpPr>
          <p:cNvPr id="6" name="Text 346"/>
          <p:cNvSpPr txBox="1"/>
          <p:nvPr/>
        </p:nvSpPr>
        <p:spPr>
          <a:xfrm>
            <a:off x="914400" y="2468880"/>
            <a:ext cx="10362895" cy="365760"/>
          </a:xfrm>
          <a:prstGeom prst="rect">
            <a:avLst/>
          </a:prstGeom>
          <a:noFill/>
          <a:ln/>
        </p:spPr>
        <p:txBody>
          <a:bodyPr wrap="square" lIns="0" tIns="0" rIns="0" bIns="0" rtlCol="0" anchor="ctr"/>
          <a:lstStyle/>
          <a:p>
            <a:pPr algn="ctr" indent="0" marL="0">
              <a:buNone/>
            </a:pPr>
            <a:r>
              <a:rPr lang="en-US" sz="2200" dirty="0">
                <a:solidFill>
                  <a:schemeClr val="tx2"/>
                </a:solidFill>
              </a:rPr>
              <a:t>Project cost, 2007–2019</a:t>
            </a:r>
            <a:endParaRPr lang="en-US" sz="2200" dirty="0"/>
          </a:p>
        </p:txBody>
      </p:sp>
      <p:sp>
        <p:nvSpPr>
          <p:cNvPr id="7" name="Line 347"/>
          <p:cNvSpPr/>
          <p:nvPr/>
        </p:nvSpPr>
        <p:spPr>
          <a:xfrm>
            <a:off x="1737360" y="4069080"/>
            <a:ext cx="8714232" cy="0"/>
          </a:xfrm>
          <a:prstGeom prst="line">
            <a:avLst/>
          </a:prstGeom>
          <a:noFill/>
          <a:ln w="12700">
            <a:solidFill>
              <a:schemeClr val="accent2"/>
            </a:solidFill>
            <a:prstDash val="solid"/>
          </a:ln>
        </p:spPr>
      </p:sp>
      <p:sp>
        <p:nvSpPr>
          <p:cNvPr id="8" name="Circle 348"/>
          <p:cNvSpPr/>
          <p:nvPr/>
        </p:nvSpPr>
        <p:spPr>
          <a:xfrm>
            <a:off x="1636776" y="3968496"/>
            <a:ext cx="201168" cy="201168"/>
          </a:xfrm>
          <a:prstGeom prst="ellipse">
            <a:avLst/>
          </a:prstGeom>
          <a:solidFill>
            <a:schemeClr val="accent5"/>
          </a:solidFill>
          <a:ln/>
        </p:spPr>
      </p:sp>
      <p:sp>
        <p:nvSpPr>
          <p:cNvPr id="9" name="Text 349"/>
          <p:cNvSpPr txBox="1"/>
          <p:nvPr/>
        </p:nvSpPr>
        <p:spPr>
          <a:xfrm>
            <a:off x="457200"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2007</a:t>
            </a:r>
            <a:endParaRPr lang="en-US" sz="2600" dirty="0"/>
          </a:p>
        </p:txBody>
      </p:sp>
      <p:sp>
        <p:nvSpPr>
          <p:cNvPr id="10" name="Text 350"/>
          <p:cNvSpPr txBox="1"/>
          <p:nvPr/>
        </p:nvSpPr>
        <p:spPr>
          <a:xfrm>
            <a:off x="457200"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Purchased</a:t>
            </a:r>
            <a:endParaRPr lang="en-US" sz="2000" dirty="0"/>
          </a:p>
        </p:txBody>
      </p:sp>
      <p:sp>
        <p:nvSpPr>
          <p:cNvPr id="11" name="Circle 351"/>
          <p:cNvSpPr/>
          <p:nvPr/>
        </p:nvSpPr>
        <p:spPr>
          <a:xfrm>
            <a:off x="4541520" y="3968496"/>
            <a:ext cx="201168" cy="201168"/>
          </a:xfrm>
          <a:prstGeom prst="ellipse">
            <a:avLst/>
          </a:prstGeom>
          <a:solidFill>
            <a:schemeClr val="accent5"/>
          </a:solidFill>
          <a:ln/>
        </p:spPr>
      </p:sp>
      <p:sp>
        <p:nvSpPr>
          <p:cNvPr id="12" name="Text 352"/>
          <p:cNvSpPr txBox="1"/>
          <p:nvPr/>
        </p:nvSpPr>
        <p:spPr>
          <a:xfrm>
            <a:off x="3361944"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2018</a:t>
            </a:r>
            <a:endParaRPr lang="en-US" sz="2600" dirty="0"/>
          </a:p>
        </p:txBody>
      </p:sp>
      <p:sp>
        <p:nvSpPr>
          <p:cNvPr id="13" name="Text 353"/>
          <p:cNvSpPr txBox="1"/>
          <p:nvPr/>
        </p:nvSpPr>
        <p:spPr>
          <a:xfrm>
            <a:off x="3361944"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Flight plan halted</a:t>
            </a:r>
            <a:endParaRPr lang="en-US" sz="2000" dirty="0"/>
          </a:p>
        </p:txBody>
      </p:sp>
      <p:sp>
        <p:nvSpPr>
          <p:cNvPr id="14" name="Circle 354"/>
          <p:cNvSpPr/>
          <p:nvPr/>
        </p:nvSpPr>
        <p:spPr>
          <a:xfrm>
            <a:off x="7446264" y="3968496"/>
            <a:ext cx="201168" cy="201168"/>
          </a:xfrm>
          <a:prstGeom prst="ellipse">
            <a:avLst/>
          </a:prstGeom>
          <a:solidFill>
            <a:schemeClr val="accent5"/>
          </a:solidFill>
          <a:ln/>
        </p:spPr>
      </p:sp>
      <p:sp>
        <p:nvSpPr>
          <p:cNvPr id="15" name="Text 355"/>
          <p:cNvSpPr txBox="1"/>
          <p:nvPr/>
        </p:nvSpPr>
        <p:spPr>
          <a:xfrm>
            <a:off x="6266688"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2019</a:t>
            </a:r>
            <a:endParaRPr lang="en-US" sz="2600" dirty="0"/>
          </a:p>
        </p:txBody>
      </p:sp>
      <p:sp>
        <p:nvSpPr>
          <p:cNvPr id="16" name="Text 356"/>
          <p:cNvSpPr txBox="1"/>
          <p:nvPr/>
        </p:nvSpPr>
        <p:spPr>
          <a:xfrm>
            <a:off x="6266688"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Back to Germany</a:t>
            </a:r>
            <a:endParaRPr lang="en-US" sz="2000" dirty="0"/>
          </a:p>
        </p:txBody>
      </p:sp>
      <p:sp>
        <p:nvSpPr>
          <p:cNvPr id="17" name="Circle 357"/>
          <p:cNvSpPr/>
          <p:nvPr/>
        </p:nvSpPr>
        <p:spPr>
          <a:xfrm>
            <a:off x="10351008" y="3968496"/>
            <a:ext cx="201168" cy="201168"/>
          </a:xfrm>
          <a:prstGeom prst="ellipse">
            <a:avLst/>
          </a:prstGeom>
          <a:solidFill>
            <a:schemeClr val="accent1"/>
          </a:solidFill>
          <a:ln/>
        </p:spPr>
      </p:sp>
      <p:sp>
        <p:nvSpPr>
          <p:cNvPr id="18" name="Text 358"/>
          <p:cNvSpPr txBox="1"/>
          <p:nvPr/>
        </p:nvSpPr>
        <p:spPr>
          <a:xfrm>
            <a:off x="9171432"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2025</a:t>
            </a:r>
            <a:endParaRPr lang="en-US" sz="2600" dirty="0"/>
          </a:p>
        </p:txBody>
      </p:sp>
      <p:sp>
        <p:nvSpPr>
          <p:cNvPr id="19" name="Text 359"/>
          <p:cNvSpPr txBox="1"/>
          <p:nvPr/>
        </p:nvSpPr>
        <p:spPr>
          <a:xfrm>
            <a:off x="9171432" y="4343400"/>
            <a:ext cx="2560320" cy="640080"/>
          </a:xfrm>
          <a:prstGeom prst="rect">
            <a:avLst/>
          </a:prstGeom>
          <a:noFill/>
          <a:ln/>
        </p:spPr>
        <p:txBody>
          <a:bodyPr wrap="square" lIns="0" tIns="0" rIns="0" bIns="0" rtlCol="0" anchor="t"/>
          <a:lstStyle/>
          <a:p>
            <a:pPr algn="ctr" indent="0" marL="0">
              <a:buNone/>
            </a:pPr>
            <a:r>
              <a:rPr lang="en-US" sz="2000" dirty="0">
                <a:solidFill>
                  <a:schemeClr val="tx2"/>
                </a:solidFill>
              </a:rPr>
              <a:t>Restored for display</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360"/>
          <p:cNvSpPr txBox="1"/>
          <p:nvPr/>
        </p:nvSpPr>
        <p:spPr>
          <a:xfrm>
            <a:off x="731520" y="822960"/>
            <a:ext cx="10728655" cy="822960"/>
          </a:xfrm>
          <a:prstGeom prst="rect">
            <a:avLst/>
          </a:prstGeom>
          <a:noFill/>
          <a:ln/>
        </p:spPr>
        <p:txBody>
          <a:bodyPr wrap="square" lIns="0" tIns="0" rIns="0" bIns="0" rtlCol="0" anchor="ctr"/>
          <a:lstStyle/>
          <a:p>
            <a:pPr algn="ctr" indent="0" marL="0">
              <a:buNone/>
            </a:pPr>
            <a:r>
              <a:rPr lang="en-US" sz="4000" b="1" spc="-150" kern="0" dirty="0">
                <a:solidFill>
                  <a:schemeClr val="tx1"/>
                </a:solidFill>
              </a:rPr>
              <a:t>What Kind of Journey Would You Choose?</a:t>
            </a:r>
            <a:endParaRPr lang="en-US" sz="4000" dirty="0"/>
          </a:p>
        </p:txBody>
      </p:sp>
      <p:sp>
        <p:nvSpPr>
          <p:cNvPr id="3" name="Circle 361"/>
          <p:cNvSpPr/>
          <p:nvPr/>
        </p:nvSpPr>
        <p:spPr>
          <a:xfrm>
            <a:off x="2072488" y="2240280"/>
            <a:ext cx="914400" cy="914400"/>
          </a:xfrm>
          <a:prstGeom prst="ellipse">
            <a:avLst/>
          </a:prstGeom>
          <a:solidFill>
            <a:schemeClr val="bg2"/>
          </a:solidFill>
          <a:ln/>
        </p:spPr>
      </p:sp>
      <p:pic>
        <p:nvPicPr>
          <p:cNvPr id="4" name="Icon 362" descr="preencoded.png">    </p:cNvPr>
          <p:cNvPicPr>
            <a:picLocks noChangeAspect="1"/>
          </p:cNvPicPr>
          <p:nvPr/>
        </p:nvPicPr>
        <p:blipFill>
          <a:blip r:embed="rId2"/>
          <a:stretch>
            <a:fillRect/>
          </a:stretch>
        </p:blipFill>
        <p:spPr>
          <a:xfrm>
            <a:off x="2301088" y="2468880"/>
            <a:ext cx="457200" cy="457200"/>
          </a:xfrm>
          <a:prstGeom prst="rect">
            <a:avLst/>
          </a:prstGeom>
        </p:spPr>
      </p:pic>
      <p:sp>
        <p:nvSpPr>
          <p:cNvPr id="5" name="Text 363"/>
          <p:cNvSpPr txBox="1"/>
          <p:nvPr/>
        </p:nvSpPr>
        <p:spPr>
          <a:xfrm>
            <a:off x="975208" y="3337560"/>
            <a:ext cx="3108960" cy="548640"/>
          </a:xfrm>
          <a:prstGeom prst="rect">
            <a:avLst/>
          </a:prstGeom>
          <a:noFill/>
          <a:ln/>
        </p:spPr>
        <p:txBody>
          <a:bodyPr wrap="square" lIns="0" tIns="0" rIns="0" bIns="0" rtlCol="0" anchor="t"/>
          <a:lstStyle/>
          <a:p>
            <a:pPr algn="ctr" indent="0" marL="0">
              <a:buNone/>
            </a:pPr>
            <a:r>
              <a:rPr lang="en-US" sz="2600" dirty="0">
                <a:solidFill>
                  <a:schemeClr val="tx1"/>
                </a:solidFill>
              </a:rPr>
              <a:t>Time</a:t>
            </a:r>
            <a:endParaRPr lang="en-US" sz="2600" dirty="0"/>
          </a:p>
        </p:txBody>
      </p:sp>
      <p:sp>
        <p:nvSpPr>
          <p:cNvPr id="6" name="Circle 364"/>
          <p:cNvSpPr/>
          <p:nvPr/>
        </p:nvSpPr>
        <p:spPr>
          <a:xfrm>
            <a:off x="5638648" y="2240280"/>
            <a:ext cx="914400" cy="914400"/>
          </a:xfrm>
          <a:prstGeom prst="ellipse">
            <a:avLst/>
          </a:prstGeom>
          <a:solidFill>
            <a:schemeClr val="bg2"/>
          </a:solidFill>
          <a:ln/>
        </p:spPr>
      </p:sp>
      <p:pic>
        <p:nvPicPr>
          <p:cNvPr id="7" name="Icon 365" descr="preencoded.png">    </p:cNvPr>
          <p:cNvPicPr>
            <a:picLocks noChangeAspect="1"/>
          </p:cNvPicPr>
          <p:nvPr/>
        </p:nvPicPr>
        <p:blipFill>
          <a:blip r:embed="rId3"/>
          <a:stretch>
            <a:fillRect/>
          </a:stretch>
        </p:blipFill>
        <p:spPr>
          <a:xfrm>
            <a:off x="5867248" y="2468880"/>
            <a:ext cx="457200" cy="457200"/>
          </a:xfrm>
          <a:prstGeom prst="rect">
            <a:avLst/>
          </a:prstGeom>
        </p:spPr>
      </p:pic>
      <p:sp>
        <p:nvSpPr>
          <p:cNvPr id="8" name="Text 366"/>
          <p:cNvSpPr txBox="1"/>
          <p:nvPr/>
        </p:nvSpPr>
        <p:spPr>
          <a:xfrm>
            <a:off x="4541368" y="3337560"/>
            <a:ext cx="3108960" cy="548640"/>
          </a:xfrm>
          <a:prstGeom prst="rect">
            <a:avLst/>
          </a:prstGeom>
          <a:noFill/>
          <a:ln/>
        </p:spPr>
        <p:txBody>
          <a:bodyPr wrap="square" lIns="0" tIns="0" rIns="0" bIns="0" rtlCol="0" anchor="t"/>
          <a:lstStyle/>
          <a:p>
            <a:pPr algn="ctr" indent="0" marL="0">
              <a:buNone/>
            </a:pPr>
            <a:r>
              <a:rPr lang="en-US" sz="2600" dirty="0">
                <a:solidFill>
                  <a:schemeClr val="tx1"/>
                </a:solidFill>
              </a:rPr>
              <a:t>Design</a:t>
            </a:r>
            <a:endParaRPr lang="en-US" sz="2600" dirty="0"/>
          </a:p>
        </p:txBody>
      </p:sp>
      <p:sp>
        <p:nvSpPr>
          <p:cNvPr id="9" name="Circle 367"/>
          <p:cNvSpPr/>
          <p:nvPr/>
        </p:nvSpPr>
        <p:spPr>
          <a:xfrm>
            <a:off x="9204808" y="2240280"/>
            <a:ext cx="914400" cy="914400"/>
          </a:xfrm>
          <a:prstGeom prst="ellipse">
            <a:avLst/>
          </a:prstGeom>
          <a:solidFill>
            <a:schemeClr val="bg2"/>
          </a:solidFill>
          <a:ln/>
        </p:spPr>
      </p:sp>
      <p:pic>
        <p:nvPicPr>
          <p:cNvPr id="10" name="Icon 368" descr="preencoded.png">    </p:cNvPr>
          <p:cNvPicPr>
            <a:picLocks noChangeAspect="1"/>
          </p:cNvPicPr>
          <p:nvPr/>
        </p:nvPicPr>
        <p:blipFill>
          <a:blip r:embed="rId4"/>
          <a:stretch>
            <a:fillRect/>
          </a:stretch>
        </p:blipFill>
        <p:spPr>
          <a:xfrm>
            <a:off x="9433408" y="2468880"/>
            <a:ext cx="457200" cy="457200"/>
          </a:xfrm>
          <a:prstGeom prst="rect">
            <a:avLst/>
          </a:prstGeom>
        </p:spPr>
      </p:pic>
      <p:sp>
        <p:nvSpPr>
          <p:cNvPr id="11" name="Text 369"/>
          <p:cNvSpPr txBox="1"/>
          <p:nvPr/>
        </p:nvSpPr>
        <p:spPr>
          <a:xfrm>
            <a:off x="8107528" y="3337560"/>
            <a:ext cx="3108960" cy="548640"/>
          </a:xfrm>
          <a:prstGeom prst="rect">
            <a:avLst/>
          </a:prstGeom>
          <a:noFill/>
          <a:ln/>
        </p:spPr>
        <p:txBody>
          <a:bodyPr wrap="square" lIns="0" tIns="0" rIns="0" bIns="0" rtlCol="0" anchor="t"/>
          <a:lstStyle/>
          <a:p>
            <a:pPr algn="ctr" indent="0" marL="0">
              <a:buNone/>
            </a:pPr>
            <a:r>
              <a:rPr lang="en-US" sz="2600" dirty="0">
                <a:solidFill>
                  <a:schemeClr val="tx1"/>
                </a:solidFill>
              </a:rPr>
              <a:t>History</a:t>
            </a:r>
            <a:endParaRPr lang="en-US" sz="2600" dirty="0"/>
          </a:p>
        </p:txBody>
      </p:sp>
      <p:sp>
        <p:nvSpPr>
          <p:cNvPr id="12" name="Text 370"/>
          <p:cNvSpPr txBox="1"/>
          <p:nvPr/>
        </p:nvSpPr>
        <p:spPr>
          <a:xfrm>
            <a:off x="731520" y="4434840"/>
            <a:ext cx="10728655" cy="731520"/>
          </a:xfrm>
          <a:prstGeom prst="rect">
            <a:avLst/>
          </a:prstGeom>
          <a:noFill/>
          <a:ln/>
        </p:spPr>
        <p:txBody>
          <a:bodyPr wrap="square" lIns="0" tIns="0" rIns="0" bIns="0" rtlCol="0" anchor="ctr"/>
          <a:lstStyle/>
          <a:p>
            <a:pPr algn="ctr" indent="0" marL="0">
              <a:buNone/>
            </a:pPr>
            <a:r>
              <a:rPr lang="en-US" sz="3400" b="1" spc="-100" kern="0" dirty="0">
                <a:solidFill>
                  <a:schemeClr val="accent1"/>
                </a:solidFill>
              </a:rPr>
              <a:t>Imagine yourself boarding Connie</a:t>
            </a:r>
            <a:endParaRPr lang="en-US" sz="3400" dirty="0"/>
          </a:p>
        </p:txBody>
      </p:sp>
      <p:sp>
        <p:nvSpPr>
          <p:cNvPr id="13" name="Text 371"/>
          <p:cNvSpPr txBox="1"/>
          <p:nvPr/>
        </p:nvSpPr>
        <p:spPr>
          <a:xfrm>
            <a:off x="731520" y="5669280"/>
            <a:ext cx="10728655" cy="274320"/>
          </a:xfrm>
          <a:prstGeom prst="rect">
            <a:avLst/>
          </a:prstGeom>
          <a:noFill/>
          <a:ln/>
        </p:spPr>
        <p:txBody>
          <a:bodyPr wrap="square" lIns="0" tIns="0" rIns="0" bIns="0" rtlCol="0" anchor="ctr"/>
          <a:lstStyle/>
          <a:p>
            <a:pPr algn="ctr" indent="0" marL="0">
              <a:buNone/>
            </a:pPr>
            <a:r>
              <a:rPr lang="en-US" sz="1500" b="1" spc="300" kern="0" dirty="0">
                <a:solidFill>
                  <a:schemeClr val="tx2"/>
                </a:solidFill>
              </a:rPr>
              <a:t>LOCKHEED CONSTELLATION</a:t>
            </a:r>
            <a:endParaRPr lang="en-US" sz="15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Four Things That Are Easy to Confuse</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Q&amp;A backup</a:t>
            </a:r>
            <a:endParaRPr lang="en-US" sz="2400" dirty="0"/>
          </a:p>
        </p:txBody>
      </p:sp>
      <p:sp>
        <p:nvSpPr>
          <p:cNvPr id="5" name="Rounded 372"/>
          <p:cNvSpPr/>
          <p:nvPr/>
        </p:nvSpPr>
        <p:spPr>
          <a:xfrm>
            <a:off x="732892" y="1920240"/>
            <a:ext cx="5120640" cy="1691640"/>
          </a:xfrm>
          <a:prstGeom prst="roundRect">
            <a:avLst>
              <a:gd name="adj" fmla="val 11892"/>
            </a:avLst>
          </a:prstGeom>
          <a:solidFill>
            <a:schemeClr val="bg2"/>
          </a:solidFill>
          <a:ln/>
        </p:spPr>
      </p:sp>
      <p:sp>
        <p:nvSpPr>
          <p:cNvPr id="6" name="Text 373"/>
          <p:cNvSpPr txBox="1"/>
          <p:nvPr/>
        </p:nvSpPr>
        <p:spPr>
          <a:xfrm>
            <a:off x="1144372" y="224028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Pressurization</a:t>
            </a:r>
            <a:endParaRPr lang="en-US" sz="2600" dirty="0"/>
          </a:p>
        </p:txBody>
      </p:sp>
      <p:sp>
        <p:nvSpPr>
          <p:cNvPr id="7" name="Text 374"/>
          <p:cNvSpPr txBox="1"/>
          <p:nvPr/>
        </p:nvSpPr>
        <p:spPr>
          <a:xfrm>
            <a:off x="1144372" y="2788920"/>
            <a:ext cx="4297680" cy="548640"/>
          </a:xfrm>
          <a:prstGeom prst="rect">
            <a:avLst/>
          </a:prstGeom>
          <a:noFill/>
          <a:ln/>
        </p:spPr>
        <p:txBody>
          <a:bodyPr wrap="square" lIns="0" tIns="0" rIns="0" bIns="0" rtlCol="0" anchor="t"/>
          <a:lstStyle/>
          <a:p>
            <a:pPr indent="0" marL="0">
              <a:buNone/>
            </a:pPr>
            <a:r>
              <a:rPr lang="en-US" sz="2200" dirty="0">
                <a:solidFill>
                  <a:schemeClr val="tx1"/>
                </a:solidFill>
              </a:rPr>
              <a:t>Boeing 307 came first</a:t>
            </a:r>
            <a:endParaRPr lang="en-US" sz="2200" dirty="0"/>
          </a:p>
        </p:txBody>
      </p:sp>
      <p:sp>
        <p:nvSpPr>
          <p:cNvPr id="8" name="Rounded 375"/>
          <p:cNvSpPr/>
          <p:nvPr/>
        </p:nvSpPr>
        <p:spPr>
          <a:xfrm>
            <a:off x="6338164" y="1920240"/>
            <a:ext cx="5120640" cy="1691640"/>
          </a:xfrm>
          <a:prstGeom prst="roundRect">
            <a:avLst>
              <a:gd name="adj" fmla="val 11892"/>
            </a:avLst>
          </a:prstGeom>
          <a:solidFill>
            <a:schemeClr val="bg2"/>
          </a:solidFill>
          <a:ln/>
        </p:spPr>
      </p:sp>
      <p:sp>
        <p:nvSpPr>
          <p:cNvPr id="9" name="Text 376"/>
          <p:cNvSpPr txBox="1"/>
          <p:nvPr/>
        </p:nvSpPr>
        <p:spPr>
          <a:xfrm>
            <a:off x="6749644" y="224028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35 aircraft</a:t>
            </a:r>
            <a:endParaRPr lang="en-US" sz="2600" dirty="0"/>
          </a:p>
        </p:txBody>
      </p:sp>
      <p:sp>
        <p:nvSpPr>
          <p:cNvPr id="10" name="Text 377"/>
          <p:cNvSpPr txBox="1"/>
          <p:nvPr/>
        </p:nvSpPr>
        <p:spPr>
          <a:xfrm>
            <a:off x="6749644" y="2788920"/>
            <a:ext cx="4297680" cy="548640"/>
          </a:xfrm>
          <a:prstGeom prst="rect">
            <a:avLst/>
          </a:prstGeom>
          <a:noFill/>
          <a:ln/>
        </p:spPr>
        <p:txBody>
          <a:bodyPr wrap="square" lIns="0" tIns="0" rIns="0" bIns="0" rtlCol="0" anchor="t"/>
          <a:lstStyle/>
          <a:p>
            <a:pPr indent="0" marL="0">
              <a:buNone/>
            </a:pPr>
            <a:r>
              <a:rPr lang="en-US" sz="2200" dirty="0">
                <a:solidFill>
                  <a:schemeClr val="tx1"/>
                </a:solidFill>
              </a:rPr>
              <a:t>A contract condition, not deliveries</a:t>
            </a:r>
            <a:endParaRPr lang="en-US" sz="2200" dirty="0"/>
          </a:p>
        </p:txBody>
      </p:sp>
      <p:sp>
        <p:nvSpPr>
          <p:cNvPr id="11" name="Rounded 378"/>
          <p:cNvSpPr/>
          <p:nvPr/>
        </p:nvSpPr>
        <p:spPr>
          <a:xfrm>
            <a:off x="732892" y="3931920"/>
            <a:ext cx="5120640" cy="1691640"/>
          </a:xfrm>
          <a:prstGeom prst="roundRect">
            <a:avLst>
              <a:gd name="adj" fmla="val 11892"/>
            </a:avLst>
          </a:prstGeom>
          <a:solidFill>
            <a:schemeClr val="bg2"/>
          </a:solidFill>
          <a:ln/>
        </p:spPr>
      </p:sp>
      <p:sp>
        <p:nvSpPr>
          <p:cNvPr id="12" name="Text 379"/>
          <p:cNvSpPr txBox="1"/>
          <p:nvPr/>
        </p:nvSpPr>
        <p:spPr>
          <a:xfrm>
            <a:off x="1144372" y="425196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123 ft</a:t>
            </a:r>
            <a:endParaRPr lang="en-US" sz="2600" dirty="0"/>
          </a:p>
        </p:txBody>
      </p:sp>
      <p:sp>
        <p:nvSpPr>
          <p:cNvPr id="13" name="Text 380"/>
          <p:cNvSpPr txBox="1"/>
          <p:nvPr/>
        </p:nvSpPr>
        <p:spPr>
          <a:xfrm>
            <a:off x="1144372" y="4800600"/>
            <a:ext cx="4297680" cy="548640"/>
          </a:xfrm>
          <a:prstGeom prst="rect">
            <a:avLst/>
          </a:prstGeom>
          <a:noFill/>
          <a:ln/>
        </p:spPr>
        <p:txBody>
          <a:bodyPr wrap="square" lIns="0" tIns="0" rIns="0" bIns="0" rtlCol="0" anchor="t"/>
          <a:lstStyle/>
          <a:p>
            <a:pPr indent="0" marL="0">
              <a:buNone/>
            </a:pPr>
            <a:r>
              <a:rPr lang="en-US" sz="2200" dirty="0">
                <a:solidFill>
                  <a:schemeClr val="tx1"/>
                </a:solidFill>
              </a:rPr>
              <a:t>Full wingspan, tip to tip</a:t>
            </a:r>
            <a:endParaRPr lang="en-US" sz="2200" dirty="0"/>
          </a:p>
        </p:txBody>
      </p:sp>
      <p:sp>
        <p:nvSpPr>
          <p:cNvPr id="14" name="Rounded 381"/>
          <p:cNvSpPr/>
          <p:nvPr/>
        </p:nvSpPr>
        <p:spPr>
          <a:xfrm>
            <a:off x="6338164" y="3931920"/>
            <a:ext cx="5120640" cy="1691640"/>
          </a:xfrm>
          <a:prstGeom prst="roundRect">
            <a:avLst>
              <a:gd name="adj" fmla="val 11892"/>
            </a:avLst>
          </a:prstGeom>
          <a:solidFill>
            <a:schemeClr val="bg2"/>
          </a:solidFill>
          <a:ln/>
        </p:spPr>
      </p:sp>
      <p:sp>
        <p:nvSpPr>
          <p:cNvPr id="15" name="Text 382"/>
          <p:cNvSpPr txBox="1"/>
          <p:nvPr/>
        </p:nvSpPr>
        <p:spPr>
          <a:xfrm>
            <a:off x="6749644" y="425196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€150 million</a:t>
            </a:r>
            <a:endParaRPr lang="en-US" sz="2600" dirty="0"/>
          </a:p>
        </p:txBody>
      </p:sp>
      <p:sp>
        <p:nvSpPr>
          <p:cNvPr id="16" name="Text 383"/>
          <p:cNvSpPr txBox="1"/>
          <p:nvPr/>
        </p:nvSpPr>
        <p:spPr>
          <a:xfrm>
            <a:off x="6749644" y="4800600"/>
            <a:ext cx="4297680" cy="548640"/>
          </a:xfrm>
          <a:prstGeom prst="rect">
            <a:avLst/>
          </a:prstGeom>
          <a:noFill/>
          <a:ln/>
        </p:spPr>
        <p:txBody>
          <a:bodyPr wrap="square" lIns="0" tIns="0" rIns="0" bIns="0" rtlCol="0" anchor="t"/>
          <a:lstStyle/>
          <a:p>
            <a:pPr indent="0" marL="0">
              <a:buNone/>
            </a:pPr>
            <a:r>
              <a:rPr lang="en-US" sz="2200" dirty="0">
                <a:solidFill>
                  <a:schemeClr val="tx1"/>
                </a:solidFill>
              </a:rPr>
              <a:t>Project cost, not market value</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References</a:t>
            </a:r>
            <a:endParaRPr lang="en-US" sz="3200" dirty="0"/>
          </a:p>
        </p:txBody>
      </p:sp>
      <p:sp>
        <p:nvSpPr>
          <p:cNvPr id="3" name="Text 0"/>
          <p:cNvSpPr/>
          <p:nvPr>
            <p:ph idx="101" type="body" hasCustomPrompt="1"/>
          </p:nvPr>
        </p:nvSpPr>
        <p:spPr>
          <a:xfrm>
            <a:off x="914400" y="1298448"/>
            <a:ext cx="10362895" cy="502920"/>
          </a:xfrm>
          <a:prstGeom prst="rect">
            <a:avLst/>
          </a:prstGeom>
          <a:noFill/>
          <a:ln/>
        </p:spPr>
        <p:txBody>
          <a:bodyPr wrap="square" lIns="0" tIns="0" rIns="0" bIns="0" rtlCol="0" anchor="t"/>
          <a:lstStyle/>
          <a:p>
            <a:pPr algn="ctr" indent="0" marL="0">
              <a:buNone/>
            </a:pPr>
            <a:r>
              <a:rPr lang="en-US" sz="2400" dirty="0">
                <a:solidFill>
                  <a:schemeClr val="tx2"/>
                </a:solidFill>
              </a:rPr>
              <a:t>Checked 2026-10-05</a:t>
            </a:r>
            <a:endParaRPr lang="en-US" sz="2400" dirty="0"/>
          </a:p>
        </p:txBody>
      </p:sp>
      <p:sp>
        <p:nvSpPr>
          <p:cNvPr id="5" name="Text 384"/>
          <p:cNvSpPr txBox="1"/>
          <p:nvPr/>
        </p:nvSpPr>
        <p:spPr>
          <a:xfrm>
            <a:off x="731520" y="1874520"/>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lh:</a:t>
            </a:r>
            <a:endParaRPr lang="en-US" sz="1300" dirty="0"/>
          </a:p>
        </p:txBody>
      </p:sp>
      <p:sp>
        <p:nvSpPr>
          <p:cNvPr id="6" name="Text 385"/>
          <p:cNvSpPr txBox="1"/>
          <p:nvPr/>
        </p:nvSpPr>
        <p:spPr>
          <a:xfrm>
            <a:off x="1645920" y="1874520"/>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https://www.lufthansa.com/ba/en/100-years/fleet</a:t>
            </a:r>
            <a:endParaRPr lang="en-US" sz="1300" dirty="0"/>
          </a:p>
        </p:txBody>
      </p:sp>
      <p:sp>
        <p:nvSpPr>
          <p:cNvPr id="7" name="Text 386"/>
          <p:cNvSpPr txBox="1"/>
          <p:nvPr/>
        </p:nvSpPr>
        <p:spPr>
          <a:xfrm>
            <a:off x="731520" y="2212848"/>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lm:</a:t>
            </a:r>
            <a:endParaRPr lang="en-US" sz="1300" dirty="0"/>
          </a:p>
        </p:txBody>
      </p:sp>
      <p:sp>
        <p:nvSpPr>
          <p:cNvPr id="8" name="Text 387"/>
          <p:cNvSpPr txBox="1"/>
          <p:nvPr/>
        </p:nvSpPr>
        <p:spPr>
          <a:xfrm>
            <a:off x="1645920" y="2212848"/>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https://www.f35.com/en-us/news/features/history/constellation.html</a:t>
            </a:r>
            <a:endParaRPr lang="en-US" sz="1300" dirty="0"/>
          </a:p>
        </p:txBody>
      </p:sp>
      <p:sp>
        <p:nvSpPr>
          <p:cNvPr id="9" name="Text 388"/>
          <p:cNvSpPr txBox="1"/>
          <p:nvPr/>
        </p:nvSpPr>
        <p:spPr>
          <a:xfrm>
            <a:off x="731520" y="2551176"/>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twa:</a:t>
            </a:r>
            <a:endParaRPr lang="en-US" sz="1300" dirty="0"/>
          </a:p>
        </p:txBody>
      </p:sp>
      <p:sp>
        <p:nvSpPr>
          <p:cNvPr id="10" name="Text 389"/>
          <p:cNvSpPr txBox="1"/>
          <p:nvPr/>
        </p:nvSpPr>
        <p:spPr>
          <a:xfrm>
            <a:off x="1645920" y="2551176"/>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https://twamuseum.org/history</a:t>
            </a:r>
            <a:endParaRPr lang="en-US" sz="1300" dirty="0"/>
          </a:p>
        </p:txBody>
      </p:sp>
      <p:sp>
        <p:nvSpPr>
          <p:cNvPr id="11" name="Text 390"/>
          <p:cNvSpPr txBox="1"/>
          <p:nvPr/>
        </p:nvSpPr>
        <p:spPr>
          <a:xfrm>
            <a:off x="731520" y="2889504"/>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scfa:</a:t>
            </a:r>
            <a:endParaRPr lang="en-US" sz="1300" dirty="0"/>
          </a:p>
        </p:txBody>
      </p:sp>
      <p:sp>
        <p:nvSpPr>
          <p:cNvPr id="12" name="Text 391"/>
          <p:cNvSpPr txBox="1"/>
          <p:nvPr/>
        </p:nvSpPr>
        <p:spPr>
          <a:xfrm>
            <a:off x="1645920" y="2889504"/>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https://www.superconstellation.ch/index.php/en/flugzeuge-en/l-1049-hb-rsc-en/technische-daten-en</a:t>
            </a:r>
            <a:endParaRPr lang="en-US" sz="1300" dirty="0"/>
          </a:p>
        </p:txBody>
      </p:sp>
      <p:sp>
        <p:nvSpPr>
          <p:cNvPr id="13" name="Text 392"/>
          <p:cNvSpPr txBox="1"/>
          <p:nvPr/>
        </p:nvSpPr>
        <p:spPr>
          <a:xfrm>
            <a:off x="731520" y="3227832"/>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hist:</a:t>
            </a:r>
            <a:endParaRPr lang="en-US" sz="1300" dirty="0"/>
          </a:p>
        </p:txBody>
      </p:sp>
      <p:sp>
        <p:nvSpPr>
          <p:cNvPr id="14" name="Text 393"/>
          <p:cNvSpPr txBox="1"/>
          <p:nvPr/>
        </p:nvSpPr>
        <p:spPr>
          <a:xfrm>
            <a:off x="1645920" y="3227832"/>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https://www.superconstellation.ch/index.php/en/flugzeuge-en/l-1049-hb-rsc-en/171-geschichte-l-1049-en</a:t>
            </a:r>
            <a:endParaRPr lang="en-US" sz="1300" dirty="0"/>
          </a:p>
        </p:txBody>
      </p:sp>
      <p:sp>
        <p:nvSpPr>
          <p:cNvPr id="15" name="Text 394"/>
          <p:cNvSpPr txBox="1"/>
          <p:nvPr/>
        </p:nvSpPr>
        <p:spPr>
          <a:xfrm>
            <a:off x="731520" y="3566160"/>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sfo:</a:t>
            </a:r>
            <a:endParaRPr lang="en-US" sz="1300" dirty="0"/>
          </a:p>
        </p:txBody>
      </p:sp>
      <p:sp>
        <p:nvSpPr>
          <p:cNvPr id="16" name="Text 395"/>
          <p:cNvSpPr txBox="1"/>
          <p:nvPr/>
        </p:nvSpPr>
        <p:spPr>
          <a:xfrm>
            <a:off x="1645920" y="3566160"/>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https://www.sfomuseum.org/exhibitions/queen-skies-legacy-lockheed-constellation</a:t>
            </a:r>
            <a:endParaRPr lang="en-US" sz="1300" dirty="0"/>
          </a:p>
        </p:txBody>
      </p:sp>
      <p:sp>
        <p:nvSpPr>
          <p:cNvPr id="17" name="Text 396"/>
          <p:cNvSpPr txBox="1"/>
          <p:nvPr/>
        </p:nvSpPr>
        <p:spPr>
          <a:xfrm>
            <a:off x="731520" y="3904488"/>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nps:</a:t>
            </a:r>
            <a:endParaRPr lang="en-US" sz="1300" dirty="0"/>
          </a:p>
        </p:txBody>
      </p:sp>
      <p:sp>
        <p:nvSpPr>
          <p:cNvPr id="18" name="Text 397"/>
          <p:cNvSpPr txBox="1"/>
          <p:nvPr/>
        </p:nvSpPr>
        <p:spPr>
          <a:xfrm>
            <a:off x="1645920" y="3904488"/>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https://www.nps.gov/places/000/first-flight-landing.htm</a:t>
            </a:r>
            <a:endParaRPr lang="en-US" sz="1300" dirty="0"/>
          </a:p>
        </p:txBody>
      </p:sp>
      <p:sp>
        <p:nvSpPr>
          <p:cNvPr id="19" name="Text 398"/>
          <p:cNvSpPr txBox="1"/>
          <p:nvPr/>
        </p:nvSpPr>
        <p:spPr>
          <a:xfrm>
            <a:off x="731520" y="4242816"/>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nas:</a:t>
            </a:r>
            <a:endParaRPr lang="en-US" sz="1300" dirty="0"/>
          </a:p>
        </p:txBody>
      </p:sp>
      <p:sp>
        <p:nvSpPr>
          <p:cNvPr id="20" name="Text 399"/>
          <p:cNvSpPr txBox="1"/>
          <p:nvPr/>
        </p:nvSpPr>
        <p:spPr>
          <a:xfrm>
            <a:off x="1645920" y="4242816"/>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https://www.si.edu/object/lockheed-1049f-55-96-constellation%3Anasm_A19880371000</a:t>
            </a:r>
            <a:endParaRPr lang="en-US" sz="1300" dirty="0"/>
          </a:p>
        </p:txBody>
      </p:sp>
      <p:sp>
        <p:nvSpPr>
          <p:cNvPr id="21" name="Text 400"/>
          <p:cNvSpPr txBox="1"/>
          <p:nvPr/>
        </p:nvSpPr>
        <p:spPr>
          <a:xfrm>
            <a:off x="731520" y="4581144"/>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af:</a:t>
            </a:r>
            <a:endParaRPr lang="en-US" sz="1300" dirty="0"/>
          </a:p>
        </p:txBody>
      </p:sp>
      <p:sp>
        <p:nvSpPr>
          <p:cNvPr id="22" name="Text 401"/>
          <p:cNvSpPr txBox="1"/>
          <p:nvPr/>
        </p:nvSpPr>
        <p:spPr>
          <a:xfrm>
            <a:off x="1645920" y="4581144"/>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https://www.airmanmagazine.af.mil/Features/Display/Article/2592502/original-air-force-one/</a:t>
            </a:r>
            <a:endParaRPr lang="en-US" sz="1300" dirty="0"/>
          </a:p>
        </p:txBody>
      </p:sp>
      <p:sp>
        <p:nvSpPr>
          <p:cNvPr id="23" name="Text 402"/>
          <p:cNvSpPr txBox="1"/>
          <p:nvPr/>
        </p:nvSpPr>
        <p:spPr>
          <a:xfrm>
            <a:off x="731520" y="4919472"/>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ec:</a:t>
            </a:r>
            <a:endParaRPr lang="en-US" sz="1300" dirty="0"/>
          </a:p>
        </p:txBody>
      </p:sp>
      <p:sp>
        <p:nvSpPr>
          <p:cNvPr id="24" name="Text 403"/>
          <p:cNvSpPr txBox="1"/>
          <p:nvPr/>
        </p:nvSpPr>
        <p:spPr>
          <a:xfrm>
            <a:off x="1645920" y="4919472"/>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https://www.nationalmuseum.af.mil/Visit/Museum-Exhibits/Fact-Sheets/Display/Article/196058/lockheed-ec-121d-constellation/</a:t>
            </a:r>
            <a:endParaRPr lang="en-US" sz="1300" dirty="0"/>
          </a:p>
        </p:txBody>
      </p:sp>
      <p:sp>
        <p:nvSpPr>
          <p:cNvPr id="25" name="Text 404"/>
          <p:cNvSpPr txBox="1"/>
          <p:nvPr/>
        </p:nvSpPr>
        <p:spPr>
          <a:xfrm>
            <a:off x="731520" y="5257800"/>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restore:</a:t>
            </a:r>
            <a:endParaRPr lang="en-US" sz="1300" dirty="0"/>
          </a:p>
        </p:txBody>
      </p:sp>
      <p:sp>
        <p:nvSpPr>
          <p:cNvPr id="26" name="Text 405"/>
          <p:cNvSpPr txBox="1"/>
          <p:nvPr/>
        </p:nvSpPr>
        <p:spPr>
          <a:xfrm>
            <a:off x="1645920" y="5257800"/>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https://newsroom.lufthansagroup.com/en/lufthansa-celebrates-roll-out-of-the-legendary-lockheed-super-star/</a:t>
            </a:r>
            <a:endParaRPr lang="en-US" sz="1300" dirty="0"/>
          </a:p>
        </p:txBody>
      </p:sp>
      <p:sp>
        <p:nvSpPr>
          <p:cNvPr id="27" name="Text 406"/>
          <p:cNvSpPr txBox="1"/>
          <p:nvPr/>
        </p:nvSpPr>
        <p:spPr>
          <a:xfrm>
            <a:off x="731520" y="5596128"/>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cost:</a:t>
            </a:r>
            <a:endParaRPr lang="en-US" sz="1300" dirty="0"/>
          </a:p>
        </p:txBody>
      </p:sp>
      <p:sp>
        <p:nvSpPr>
          <p:cNvPr id="28" name="Text 407"/>
          <p:cNvSpPr txBox="1"/>
          <p:nvPr/>
        </p:nvSpPr>
        <p:spPr>
          <a:xfrm>
            <a:off x="1645920" y="5596128"/>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https://www.aerotelegraph.com/galerie/gescheiterte-restaurierung-kostete-150-millionen/5c3fy6k</a:t>
            </a:r>
            <a:endParaRPr lang="en-US" sz="1300" dirty="0"/>
          </a:p>
        </p:txBody>
      </p:sp>
      <p:sp>
        <p:nvSpPr>
          <p:cNvPr id="29" name="Text 408"/>
          <p:cNvSpPr txBox="1"/>
          <p:nvPr/>
        </p:nvSpPr>
        <p:spPr>
          <a:xfrm>
            <a:off x="731520" y="5934456"/>
            <a:ext cx="914400" cy="338328"/>
          </a:xfrm>
          <a:prstGeom prst="rect">
            <a:avLst/>
          </a:prstGeom>
          <a:noFill/>
          <a:ln/>
        </p:spPr>
        <p:txBody>
          <a:bodyPr wrap="square" lIns="0" tIns="0" rIns="0" bIns="0" rtlCol="0" anchor="ctr"/>
          <a:lstStyle/>
          <a:p>
            <a:pPr indent="0" marL="0">
              <a:buNone/>
            </a:pPr>
            <a:r>
              <a:rPr lang="en-US" sz="1300" b="1" dirty="0">
                <a:solidFill>
                  <a:schemeClr val="accent1"/>
                </a:solidFill>
              </a:rPr>
              <a:t>cabin:</a:t>
            </a:r>
            <a:endParaRPr lang="en-US" sz="1300" dirty="0"/>
          </a:p>
        </p:txBody>
      </p:sp>
      <p:sp>
        <p:nvSpPr>
          <p:cNvPr id="30" name="Text 409"/>
          <p:cNvSpPr txBox="1"/>
          <p:nvPr/>
        </p:nvSpPr>
        <p:spPr>
          <a:xfrm>
            <a:off x="1645920" y="5934456"/>
            <a:ext cx="10515600" cy="338328"/>
          </a:xfrm>
          <a:prstGeom prst="rect">
            <a:avLst/>
          </a:prstGeom>
          <a:noFill/>
          <a:ln/>
        </p:spPr>
        <p:txBody>
          <a:bodyPr wrap="square" lIns="0" tIns="0" rIns="0" bIns="0" rtlCol="0" anchor="ctr"/>
          <a:lstStyle/>
          <a:p>
            <a:pPr indent="0" marL="0">
              <a:buNone/>
            </a:pPr>
            <a:r>
              <a:rPr lang="en-US" sz="1300" dirty="0">
                <a:solidFill>
                  <a:schemeClr val="tx2"/>
                </a:solidFill>
              </a:rPr>
              <a:t>https://cdn0.scrvt.com/fcc1c913dc63063c259fa05200249ccd/0b731d3206c7515e/bf1389bccf84/The-history-of-Lufthansa-Technik.pdf</a:t>
            </a:r>
            <a:endParaRPr lang="en-US" sz="13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onstellation Keynote">
  <a:themeElements>
    <a:clrScheme name="Constellation Keynote">
      <a:dk1>
        <a:srgbClr val="F5F5F7"/>
      </a:dk1>
      <a:lt1>
        <a:srgbClr val="000000"/>
      </a:lt1>
      <a:dk2>
        <a:srgbClr val="B9B9BE"/>
      </a:dk2>
      <a:lt2>
        <a:srgbClr val="1C1C1E"/>
      </a:lt2>
      <a:accent1>
        <a:srgbClr val="FF9F0A"/>
      </a:accent1>
      <a:accent2>
        <a:srgbClr val="3A3A3C"/>
      </a:accent2>
      <a:accent3>
        <a:srgbClr val="636366"/>
      </a:accent3>
      <a:accent4>
        <a:srgbClr val="2C2C2E"/>
      </a:accent4>
      <a:accent5>
        <a:srgbClr val="FFFFFF"/>
      </a:accent5>
      <a:accent6>
        <a:srgbClr val="48484A"/>
      </a:accent6>
      <a:hlink>
        <a:srgbClr val="FF9F0A"/>
      </a:hlink>
      <a:folHlink>
        <a:srgbClr val="B9B9BE"/>
      </a:folHlink>
    </a:clrScheme>
    <a:fontScheme name="Constellation Keyno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Lockheed Constellation — Making the long journey something to look forward to</dc:title>
  <dc:subject>Engineering, business and aviation history</dc:subject>
  <dc:creator>Constellation Visual Pitch</dc:creator>
  <cp:lastModifiedBy>Constellation Visual Pitch</cp:lastModifiedBy>
  <cp:revision>1</cp:revision>
  <dcterms:created xsi:type="dcterms:W3CDTF">2026-10-05T08:32:53Z</dcterms:created>
  <dcterms:modified xsi:type="dcterms:W3CDTF">2026-10-05T08:32:53Z</dcterms:modified>
</cp:coreProperties>
</file>